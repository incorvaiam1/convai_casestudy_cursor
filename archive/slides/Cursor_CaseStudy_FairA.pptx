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system and the thesis" id="{4E0DBCF8-72CA-0946-8AB8-E8F3FFF0C0F9}">
          <p14:sldIdLst>
            <p14:sldId id="256"/>
            <p14:sldId id="257"/>
          </p14:sldIdLst>
        </p14:section>
        <p14:section name="Box by box" id="{A49D8017-8406-E473-ABFE-73D003628D78}">
          <p14:sldIdLst>
            <p14:sldId id="258"/>
            <p14:sldId id="259"/>
            <p14:sldId id="260"/>
          </p14:sldIdLst>
        </p14:section>
        <p14:section name="Seams and cost" id="{46372528-7F9D-CACF-AC18-093A03FB18AA}">
          <p14:sldIdLst>
            <p14:sldId id="261"/>
          </p14:sldIdLst>
        </p14:section>
        <p14:section name="Measurements and verdict" id="{30EEC249-5AE5-60EE-E0E5-59AF30752CCB}">
          <p14:sldIdLst>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1030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[Greyson] Opener, about 30 seconds. Name the system and the standing question: which boxes of the classical decomposition are explicit in Cursor, which went latent inside a model, and which are missing. Then go to the map.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[Greyson] About 1 minute. Thesis from the brief: Cursor rents understanding and generation from other labs' models, but builds an explicit, heavily engineered belief state around them, and is pulling policy in-house by training its own models inside its own harness. The moat is the harness, not the model. Walk the table top to bottom, then go straight into the context slide.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[Greyson] About 2 minutes. Left box: what Cursor always puts in the window, which shrank over time to the system prompt and tools, OS, git status and current files [3]. Right box: everything else the agent fetches while it works, mostly through files: long tool output written to a file it can tail, the chat history file it can search after a summary drops details, terminal sessions synced to files, and MCP tool details loaded only when needed [2]. Understanding is both explicit and latent: Cursor trained its own embedding model on agent sessions, and semantic search plus grep grounds the request in code before the model reasons over it [1]. State is explicit plumbing plus a latent choice: the model decides what to pull in. That is belief-state construction (L13, L14) done with files. Hand to Michael.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[Michael] About 1 minute 20. In L3 the policy chooses ask, confirm or act. In Cursor the act is a tool call, and the model makes that choice, so the policy is latent. But Cursor works on that policy at three levels. Tab is the cleanest example: a two-action policy, accept +0.75, reject −0.25, silence 0. That is the L3 reward written down, and it learned to suggest 21% less with a 28% higher accept rate. Composer is Cursor training the policy inside its own harness, on the same tools you use. Composer 2 even learns to write its own summaries, so belief-state management becomes part of the policy; compaction error dropped 50%. For models Cursor rents, it uses controls instead: plan mode is a confirm-before-act switch, and Router is a learned policy that picks which model’s policy runs, about 60% savings at frontier quality in Cursor’s A/B tests. The catch: every one of these rewards is a proxy; none sees the user’s actual goal.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[Michael] About 1 minute 10. This is our real Grok 4.6 run of the shared task, recovered from Cursor's chat history: 24 tool calls, 19 if you drop the to-do updates and one tool lookup. Read it top to bottom. It searches before it reads (understanding), reads six files in one parallel batch, which is exactly what Cursor trains Composer toward, edits two files, then writes extra tests of its own; its reasoning summary even says a hidden test suite likely exists. Policy turns are the choices: what to read, when to test, when to stop. Row 19 is the interfaces box in action: the first pytest call came back as a typed error, 'Terminal unavailable', because the machine could not enforce the sandbox, and the message says it is not a permission denial. The agent read that and reran the tests outside the sandbox: 10 passed. Then the panel: each vendor gets its own edit format, tool errors come back typed, and switching models mid-chat is the seam, so Cursor's advice is one model per chat. Hand off to Heeba on economics.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[Heeba] About 2 minutes. Sam (Apr 2025): no layer checked generation against real policy. Pricing (Jun to Jul 2025): hard requests cost about 10x simple ones, so Pro moved to $20 of usage at API rates. Composer 2 (Mar 2026): base found via an intercepted model ID; about a quarter of compute from the base, three quarters Cursor’s own training. The last column is the $20 Pro allowance divided by the cost of one run of our task on each model, from our runs. Hand to Canting.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[Canting] About 2 minutes. Same fixed task across three frontier models plus Composer 2, logging tokens, latency, tool calls and how many of the 9 hidden tests the diff passes (our own Keep Rate). Call out the one result that most supports or breaks the thesis. Hand to the verdict.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[Canting] About 1 minute. The verdict: Cursor shows where the field is going for apps built on someone else’s model. Understanding and generation stay rented and latent; the product is the belief state and the interfaces around them, and the policy is being pulled in-house. The seams show wherever the harness stops: outside the repo, and at the boundary between vendors. Then open for questions.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10911535" cy="292608"/>
          </a:xfrm>
          <a:prstGeom prst="rect">
            <a:avLst/>
          </a:prstGeom>
          <a:noFill/>
          <a:ln/>
        </p:spPr>
        <p:txBody>
          <a:bodyPr wrap="square" rtlCol="0"/>
          <a:lstStyle>
            <a:lvl1pPr marL="0" indent="0" algn="l">
              <a:buNone/>
              <a:defRPr lang="en-US" sz="1200" b="1" kern="0" spc="200" dirty="0">
                <a:solidFill>
                  <a:schemeClr val="accent1"/>
                </a:solidFill>
              </a:defRPr>
            </a:lvl1pPr>
          </a:lstStyle>
          <a:p>
            <a:pPr marL="0" indent="0" algn="l">
              <a:buNone/>
            </a:pPr>
            <a:endParaRPr lang="en-US" sz="1200" dirty="0"/>
          </a:p>
        </p:txBody>
      </p:sp>
      <p:sp>
        <p:nvSpPr>
          <p:cNvPr id="3" name="Text 0"/>
          <p:cNvSpPr>
            <a:spLocks noGrp="1"/>
          </p:cNvSpPr>
          <p:nvPr>
            <p:ph type="title" idx="101" hasCustomPrompt="1"/>
          </p:nvPr>
        </p:nvSpPr>
        <p:spPr>
          <a:xfrm>
            <a:off x="640080" y="749808"/>
            <a:ext cx="10911535" cy="73152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4" name="Text 0"/>
          <p:cNvSpPr/>
          <p:nvPr/>
        </p:nvSpPr>
        <p:spPr>
          <a:xfrm>
            <a:off x="640080" y="6382512"/>
            <a:ext cx="2743200" cy="274320"/>
          </a:xfrm>
          <a:prstGeom prst="rect">
            <a:avLst/>
          </a:prstGeom>
          <a:noFill/>
          <a:ln/>
        </p:spPr>
        <p:txBody>
          <a:bodyPr wrap="square" lIns="0" tIns="0" rIns="0" bIns="0" rtlCol="0" anchor="ctr"/>
          <a:lstStyle/>
          <a:p>
            <a:pPr marL="0" indent="0">
              <a:buNone/>
            </a:pPr>
            <a:r>
              <a:rPr lang="en-US" sz="1000" dirty="0">
                <a:solidFill>
                  <a:schemeClr val="accent4"/>
                </a:solidFill>
              </a:rPr>
              <a:t>Cursor (A4) · Fair A</a:t>
            </a:r>
            <a:endParaRPr lang="en-US" sz="1000" dirty="0"/>
          </a:p>
        </p:txBody>
      </p:sp>
      <p:sp>
        <p:nvSpPr>
          <p:cNvPr id="25" name="Slide Number Placeholder 0"/>
          <p:cNvSpPr>
            <a:spLocks noGrp="1"/>
          </p:cNvSpPr>
          <p:nvPr>
            <p:ph type="sldNum" sz="quarter" idx="4294967295"/>
          </p:nvPr>
        </p:nvSpPr>
        <p:spPr>
          <a:xfrm>
            <a:off x="11109960" y="6382512"/>
            <a:ext cx="4389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61A22"/>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548640"/>
            <a:ext cx="10911535" cy="292608"/>
          </a:xfrm>
          <a:prstGeom prst="rect">
            <a:avLst/>
          </a:prstGeom>
          <a:noFill/>
          <a:ln/>
        </p:spPr>
        <p:txBody>
          <a:bodyPr wrap="square" rtlCol="0"/>
          <a:lstStyle>
            <a:lvl1pPr marL="0" indent="0" algn="l">
              <a:buNone/>
              <a:defRPr lang="en-US" sz="1200" b="1" kern="0" spc="200" dirty="0">
                <a:solidFill>
                  <a:schemeClr val="accent3"/>
                </a:solidFill>
              </a:defRPr>
            </a:lvl1pPr>
          </a:lstStyle>
          <a:p>
            <a:pPr marL="0" indent="0" algn="l">
              <a:buNone/>
            </a:pPr>
            <a:endParaRPr lang="en-US" sz="1200" dirty="0"/>
          </a:p>
        </p:txBody>
      </p:sp>
      <p:sp>
        <p:nvSpPr>
          <p:cNvPr id="3" name="Text 0"/>
          <p:cNvSpPr>
            <a:spLocks noGrp="1"/>
          </p:cNvSpPr>
          <p:nvPr>
            <p:ph type="title" idx="101" hasCustomPrompt="1"/>
          </p:nvPr>
        </p:nvSpPr>
        <p:spPr>
          <a:xfrm>
            <a:off x="640080" y="1737360"/>
            <a:ext cx="10911535" cy="1188720"/>
          </a:xfrm>
          <a:prstGeom prst="rect">
            <a:avLst/>
          </a:prstGeom>
          <a:noFill/>
          <a:ln/>
        </p:spPr>
        <p:txBody>
          <a:bodyPr wrap="square" rtlCol="0"/>
          <a:lstStyle>
            <a:lvl1pPr marL="0" indent="0" algn="l">
              <a:buNone/>
              <a:defRPr lang="en-US" sz="4000" b="1" dirty="0">
                <a:solidFill>
                  <a:schemeClr val="bg2"/>
                </a:solidFill>
              </a:defRPr>
            </a:lvl1pPr>
          </a:lstStyle>
          <a:p>
            <a:pPr marL="0" indent="0" algn="l">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82512"/>
            <a:ext cx="4389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548640"/>
            <a:ext cx="10911535" cy="292608"/>
          </a:xfrm>
          <a:prstGeom prst="rect">
            <a:avLst/>
          </a:prstGeom>
          <a:noFill/>
          <a:ln/>
        </p:spPr>
        <p:txBody>
          <a:bodyPr wrap="square" lIns="0" tIns="0" rIns="0" bIns="0" rtlCol="0" anchor="t"/>
          <a:lstStyle/>
          <a:p>
            <a:pPr marL="0" indent="0" algn="l">
              <a:buNone/>
            </a:pPr>
            <a:r>
              <a:rPr lang="en-US" sz="1200" b="1" kern="0" spc="200" dirty="0">
                <a:solidFill>
                  <a:schemeClr val="accent3"/>
                </a:solidFill>
              </a:rPr>
              <a:t>ECE 6256 / CS 6604 · CASE-STUDY FAIR A · SYSTEM A4</a:t>
            </a:r>
            <a:endParaRPr lang="en-US" sz="1200" dirty="0"/>
          </a:p>
        </p:txBody>
      </p:sp>
      <p:sp>
        <p:nvSpPr>
          <p:cNvPr id="3" name="Text 0"/>
          <p:cNvSpPr>
            <a:spLocks noGrp="1"/>
          </p:cNvSpPr>
          <p:nvPr>
            <p:ph type="title" idx="101" hasCustomPrompt="1"/>
          </p:nvPr>
        </p:nvSpPr>
        <p:spPr>
          <a:xfrm>
            <a:off x="640080" y="1737360"/>
            <a:ext cx="10911535" cy="1188720"/>
          </a:xfrm>
          <a:prstGeom prst="rect">
            <a:avLst/>
          </a:prstGeom>
          <a:noFill/>
          <a:ln/>
        </p:spPr>
        <p:txBody>
          <a:bodyPr wrap="square" lIns="0" tIns="0" rIns="0" bIns="0" rtlCol="0" anchor="t"/>
          <a:lstStyle/>
          <a:p>
            <a:pPr marL="0" indent="0" algn="l">
              <a:buNone/>
            </a:pPr>
            <a:r>
              <a:rPr lang="en-US" sz="4000" b="1" dirty="0">
                <a:solidFill>
                  <a:schemeClr val="bg2"/>
                </a:solidFill>
              </a:rPr>
              <a:t>Cursor</a:t>
            </a:r>
            <a:endParaRPr lang="en-US" sz="4000" dirty="0"/>
          </a:p>
        </p:txBody>
      </p:sp>
      <p:sp>
        <p:nvSpPr>
          <p:cNvPr id="4" name="Text 2"/>
          <p:cNvSpPr txBox="1"/>
          <p:nvPr/>
        </p:nvSpPr>
        <p:spPr>
          <a:xfrm>
            <a:off x="640080" y="2971800"/>
            <a:ext cx="8046720" cy="1097280"/>
          </a:xfrm>
          <a:prstGeom prst="rect">
            <a:avLst/>
          </a:prstGeom>
          <a:noFill/>
          <a:ln/>
        </p:spPr>
        <p:txBody>
          <a:bodyPr wrap="square" lIns="0" tIns="0" rIns="0" bIns="0" rtlCol="0" anchor="t"/>
          <a:lstStyle/>
          <a:p>
            <a:pPr marL="0" indent="0">
              <a:buNone/>
            </a:pPr>
            <a:r>
              <a:rPr lang="en-US" sz="2200" dirty="0">
                <a:solidFill>
                  <a:schemeClr val="accent6"/>
                </a:solidFill>
              </a:rPr>
              <a:t>An agent harness around rented models: what is explicit, what went latent, and where the seams show</a:t>
            </a:r>
            <a:endParaRPr lang="en-US" sz="2200" dirty="0"/>
          </a:p>
        </p:txBody>
      </p:sp>
      <p:sp>
        <p:nvSpPr>
          <p:cNvPr id="5" name="Text 3"/>
          <p:cNvSpPr txBox="1"/>
          <p:nvPr/>
        </p:nvSpPr>
        <p:spPr>
          <a:xfrm>
            <a:off x="640080" y="5852160"/>
            <a:ext cx="6400800" cy="365760"/>
          </a:xfrm>
          <a:prstGeom prst="rect">
            <a:avLst/>
          </a:prstGeom>
          <a:noFill/>
          <a:ln/>
        </p:spPr>
        <p:txBody>
          <a:bodyPr wrap="square" lIns="0" tIns="0" rIns="0" bIns="0" rtlCol="0" anchor="t"/>
          <a:lstStyle/>
          <a:p>
            <a:pPr marL="0" indent="0">
              <a:buNone/>
            </a:pPr>
            <a:r>
              <a:rPr lang="en-US" sz="1600" dirty="0">
                <a:solidFill>
                  <a:schemeClr val="bg2"/>
                </a:solidFill>
              </a:rPr>
              <a:t>Greyson · Michael · Heeba · Canting</a:t>
            </a:r>
            <a:endParaRPr lang="en-US" sz="1600" dirty="0"/>
          </a:p>
        </p:txBody>
      </p:sp>
      <p:sp>
        <p:nvSpPr>
          <p:cNvPr id="6" name="Text 4"/>
          <p:cNvSpPr txBox="1"/>
          <p:nvPr/>
        </p:nvSpPr>
        <p:spPr>
          <a:xfrm>
            <a:off x="8778240" y="5897880"/>
            <a:ext cx="2773375" cy="320040"/>
          </a:xfrm>
          <a:prstGeom prst="rect">
            <a:avLst/>
          </a:prstGeom>
          <a:noFill/>
          <a:ln/>
        </p:spPr>
        <p:txBody>
          <a:bodyPr wrap="square" lIns="0" tIns="0" rIns="0" bIns="0" rtlCol="0" anchor="t"/>
          <a:lstStyle/>
          <a:p>
            <a:pPr marL="0" indent="0" algn="r">
              <a:buNone/>
            </a:pPr>
            <a:r>
              <a:rPr lang="en-US" sz="1200" dirty="0">
                <a:solidFill>
                  <a:schemeClr val="accent4"/>
                </a:solidFill>
              </a:rPr>
              <a:t>Thu Oct 29,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10911535" cy="292608"/>
          </a:xfrm>
          <a:prstGeom prst="rect">
            <a:avLst/>
          </a:prstGeom>
          <a:noFill/>
          <a:ln/>
        </p:spPr>
        <p:txBody>
          <a:bodyPr wrap="square" lIns="0" tIns="0" rIns="0" bIns="0" rtlCol="0" anchor="t"/>
          <a:lstStyle/>
          <a:p>
            <a:pPr marL="0" indent="0" algn="l">
              <a:buNone/>
            </a:pPr>
            <a:r>
              <a:rPr lang="en-US" sz="1200" b="1" kern="0" spc="200" dirty="0">
                <a:solidFill>
                  <a:schemeClr val="accent1"/>
                </a:solidFill>
              </a:rPr>
              <a:t>THE MAP · GREYSON</a:t>
            </a:r>
            <a:endParaRPr lang="en-US" sz="1200" dirty="0"/>
          </a:p>
        </p:txBody>
      </p:sp>
      <p:sp>
        <p:nvSpPr>
          <p:cNvPr id="3" name="Text 0"/>
          <p:cNvSpPr>
            <a:spLocks noGrp="1"/>
          </p:cNvSpPr>
          <p:nvPr>
            <p:ph type="title" idx="101" hasCustomPrompt="1"/>
          </p:nvPr>
        </p:nvSpPr>
        <p:spPr>
          <a:xfrm>
            <a:off x="640080" y="749808"/>
            <a:ext cx="10911535" cy="731520"/>
          </a:xfrm>
          <a:prstGeom prst="rect">
            <a:avLst/>
          </a:prstGeom>
          <a:noFill/>
          <a:ln/>
        </p:spPr>
        <p:txBody>
          <a:bodyPr wrap="square" lIns="0" tIns="0" rIns="0" bIns="0" rtlCol="0" anchor="t"/>
          <a:lstStyle/>
          <a:p>
            <a:pPr marL="0" indent="0" algn="l">
              <a:buNone/>
            </a:pPr>
            <a:r>
              <a:rPr lang="en-US" sz="3200" b="1" dirty="0">
                <a:solidFill>
                  <a:schemeClr val="tx1"/>
                </a:solidFill>
              </a:rPr>
              <a:t>Cursor rents the model and builds the harness</a:t>
            </a:r>
            <a:endParaRPr lang="en-US" sz="3200" dirty="0"/>
          </a:p>
        </p:txBody>
      </p:sp>
      <p:graphicFrame>
        <p:nvGraphicFramePr>
          <p:cNvPr id="4" name="Decomposition map"/>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20116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5425135">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548640">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Box</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E6E3DC"/>
                    </a:solidFill>
                  </a:tcPr>
                </a:tc>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Status</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E6E3DC"/>
                    </a:solidFill>
                  </a:tcPr>
                </a:tc>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In Cursor</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E6E3DC"/>
                    </a:solidFill>
                  </a:tcPr>
                </a:tc>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Covered by</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E6E3DC"/>
                    </a:solidFill>
                  </a:tcPr>
                </a:tc>
                <a:extLst>
                  <a:ext uri="{0D108BD9-81ED-4DB2-BD59-A6C34878D82A}">
                    <a16:rowId xmlns:a16="http://schemas.microsoft.com/office/drawing/2014/main" val="10000"/>
                  </a:ext>
                </a:extLst>
              </a:tr>
              <a:tr h="548640">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Understanding</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Both</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Trained embedding model + fast index ground the request; the semantics stay latent</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Greyson</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extLst>
                  <a:ext uri="{0D108BD9-81ED-4DB2-BD59-A6C34878D82A}">
                    <a16:rowId xmlns:a16="http://schemas.microsoft.com/office/drawing/2014/main" val="10001"/>
                  </a:ext>
                </a:extLst>
              </a:tr>
              <a:tr h="548640">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State</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Both</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Fixed static context and file-based updates; the model picks what else to fetch</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Greyson</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extLst>
                  <a:ext uri="{0D108BD9-81ED-4DB2-BD59-A6C34878D82A}">
                    <a16:rowId xmlns:a16="http://schemas.microsoft.com/office/drawing/2014/main" val="10002"/>
                  </a:ext>
                </a:extLst>
              </a:tr>
              <a:tr h="548640">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Policy</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Split</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Model picks the next tool; Cursor trains it (Tab, Composer) and fences it</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Michael</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extLst>
                  <a:ext uri="{0D108BD9-81ED-4DB2-BD59-A6C34878D82A}">
                    <a16:rowId xmlns:a16="http://schemas.microsoft.com/office/drawing/2014/main" val="10003"/>
                  </a:ext>
                </a:extLst>
              </a:tr>
              <a:tr h="548640">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Generation</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Latent</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Output lands as diffs the user reviews</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Michael</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extLst>
                  <a:ext uri="{0D108BD9-81ED-4DB2-BD59-A6C34878D82A}">
                    <a16:rowId xmlns:a16="http://schemas.microsoft.com/office/drawing/2014/main" val="10004"/>
                  </a:ext>
                </a:extLst>
              </a:tr>
              <a:tr h="548640">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Interfaces</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Explicit, per vendor</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Edit format and prompts tuned per model; typed tool errors</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Michael</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extLst>
                  <a:ext uri="{0D108BD9-81ED-4DB2-BD59-A6C34878D82A}">
                    <a16:rowId xmlns:a16="http://schemas.microsoft.com/office/drawing/2014/main" val="10005"/>
                  </a:ext>
                </a:extLst>
              </a:tr>
              <a:tr h="548640">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Missing</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Missing</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Grounding outside the repo; a real measure of task success</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Heeba, Canting</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109960" y="6382512"/>
            <a:ext cx="4389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10911535" cy="292608"/>
          </a:xfrm>
          <a:prstGeom prst="rect">
            <a:avLst/>
          </a:prstGeom>
          <a:noFill/>
          <a:ln/>
        </p:spPr>
        <p:txBody>
          <a:bodyPr wrap="square" lIns="0" tIns="0" rIns="0" bIns="0" rtlCol="0" anchor="t"/>
          <a:lstStyle/>
          <a:p>
            <a:pPr marL="0" indent="0" algn="l">
              <a:buNone/>
            </a:pPr>
            <a:r>
              <a:rPr lang="en-US" sz="1200" b="1" kern="0" spc="200" dirty="0">
                <a:solidFill>
                  <a:schemeClr val="accent1"/>
                </a:solidFill>
              </a:rPr>
              <a:t>UNDERSTANDING + STATE · GREYSON</a:t>
            </a:r>
            <a:endParaRPr lang="en-US" sz="1200" dirty="0"/>
          </a:p>
        </p:txBody>
      </p:sp>
      <p:sp>
        <p:nvSpPr>
          <p:cNvPr id="3" name="Text 0"/>
          <p:cNvSpPr>
            <a:spLocks noGrp="1"/>
          </p:cNvSpPr>
          <p:nvPr>
            <p:ph type="title" idx="101" hasCustomPrompt="1"/>
          </p:nvPr>
        </p:nvSpPr>
        <p:spPr>
          <a:xfrm>
            <a:off x="640080" y="749808"/>
            <a:ext cx="10911535" cy="731520"/>
          </a:xfrm>
          <a:prstGeom prst="rect">
            <a:avLst/>
          </a:prstGeom>
          <a:noFill/>
          <a:ln/>
        </p:spPr>
        <p:txBody>
          <a:bodyPr wrap="square" lIns="0" tIns="0" rIns="0" bIns="0" rtlCol="0" anchor="t"/>
          <a:lstStyle/>
          <a:p>
            <a:pPr marL="0" indent="0" algn="l">
              <a:buNone/>
            </a:pPr>
            <a:r>
              <a:rPr lang="en-US" sz="3200" b="1" dirty="0">
                <a:solidFill>
                  <a:schemeClr val="tx1"/>
                </a:solidFill>
              </a:rPr>
              <a:t>What goes in the context window for one request</a:t>
            </a:r>
            <a:endParaRPr lang="en-US" sz="3200" dirty="0"/>
          </a:p>
        </p:txBody>
      </p:sp>
      <p:sp>
        <p:nvSpPr>
          <p:cNvPr id="4" name="Always sent"/>
          <p:cNvSpPr/>
          <p:nvPr/>
        </p:nvSpPr>
        <p:spPr>
          <a:xfrm>
            <a:off x="640080" y="1783080"/>
            <a:ext cx="3566160" cy="4069080"/>
          </a:xfrm>
          <a:prstGeom prst="roundRect">
            <a:avLst>
              <a:gd name="adj" fmla="val 3077"/>
            </a:avLst>
          </a:prstGeom>
          <a:solidFill>
            <a:schemeClr val="bg1"/>
          </a:solidFill>
          <a:ln w="9525">
            <a:solidFill>
              <a:srgbClr val="DDD8CE"/>
            </a:solidFill>
            <a:prstDash val="solid"/>
          </a:ln>
        </p:spPr>
        <p:txBody>
          <a:bodyPr/>
          <a:lstStyle/>
          <a:p>
            <a:endParaRPr lang="en-US"/>
          </a:p>
        </p:txBody>
      </p:sp>
      <p:sp>
        <p:nvSpPr>
          <p:cNvPr id="5" name="Text 3"/>
          <p:cNvSpPr txBox="1"/>
          <p:nvPr/>
        </p:nvSpPr>
        <p:spPr>
          <a:xfrm>
            <a:off x="914400" y="2011680"/>
            <a:ext cx="3017520" cy="365760"/>
          </a:xfrm>
          <a:prstGeom prst="rect">
            <a:avLst/>
          </a:prstGeom>
          <a:noFill/>
          <a:ln/>
        </p:spPr>
        <p:txBody>
          <a:bodyPr wrap="square" lIns="0" tIns="0" rIns="0" bIns="0" rtlCol="0" anchor="t"/>
          <a:lstStyle/>
          <a:p>
            <a:pPr marL="0" indent="0">
              <a:buNone/>
            </a:pPr>
            <a:r>
              <a:rPr lang="en-US" sz="1800" b="1" dirty="0">
                <a:solidFill>
                  <a:schemeClr val="tx1"/>
                </a:solidFill>
              </a:rPr>
              <a:t>Always sent</a:t>
            </a:r>
            <a:endParaRPr lang="en-US" sz="1800" dirty="0"/>
          </a:p>
        </p:txBody>
      </p:sp>
      <p:sp>
        <p:nvSpPr>
          <p:cNvPr id="6" name="Always sent chip 1"/>
          <p:cNvSpPr/>
          <p:nvPr/>
        </p:nvSpPr>
        <p:spPr>
          <a:xfrm>
            <a:off x="914400" y="2560320"/>
            <a:ext cx="3017520" cy="475488"/>
          </a:xfrm>
          <a:prstGeom prst="roundRect">
            <a:avLst>
              <a:gd name="adj" fmla="val 15385"/>
            </a:avLst>
          </a:prstGeom>
          <a:solidFill>
            <a:srgbClr val="E6E3DC"/>
          </a:solidFill>
          <a:ln w="12700">
            <a:solidFill>
              <a:srgbClr val="E6E3DC"/>
            </a:solidFill>
            <a:prstDash val="solid"/>
          </a:ln>
        </p:spPr>
        <p:txBody>
          <a:bodyPr/>
          <a:lstStyle/>
          <a:p>
            <a:endParaRPr lang="en-US"/>
          </a:p>
        </p:txBody>
      </p:sp>
      <p:sp>
        <p:nvSpPr>
          <p:cNvPr id="7" name="Text 5"/>
          <p:cNvSpPr txBox="1"/>
          <p:nvPr/>
        </p:nvSpPr>
        <p:spPr>
          <a:xfrm>
            <a:off x="1051560" y="2560320"/>
            <a:ext cx="2743200" cy="475488"/>
          </a:xfrm>
          <a:prstGeom prst="rect">
            <a:avLst/>
          </a:prstGeom>
          <a:noFill/>
          <a:ln/>
        </p:spPr>
        <p:txBody>
          <a:bodyPr wrap="square" lIns="0" tIns="0" rIns="0" bIns="0" rtlCol="0" anchor="ctr"/>
          <a:lstStyle/>
          <a:p>
            <a:pPr marL="0" indent="0">
              <a:buNone/>
            </a:pPr>
            <a:r>
              <a:rPr lang="en-US" sz="1400" dirty="0">
                <a:solidFill>
                  <a:srgbClr val="161A22"/>
                </a:solidFill>
              </a:rPr>
              <a:t>System prompt + tool list</a:t>
            </a:r>
            <a:endParaRPr lang="en-US" sz="1400" dirty="0"/>
          </a:p>
        </p:txBody>
      </p:sp>
      <p:sp>
        <p:nvSpPr>
          <p:cNvPr id="8" name="Always sent chip 2"/>
          <p:cNvSpPr/>
          <p:nvPr/>
        </p:nvSpPr>
        <p:spPr>
          <a:xfrm>
            <a:off x="914400" y="3182112"/>
            <a:ext cx="3017520" cy="475488"/>
          </a:xfrm>
          <a:prstGeom prst="roundRect">
            <a:avLst>
              <a:gd name="adj" fmla="val 15385"/>
            </a:avLst>
          </a:prstGeom>
          <a:solidFill>
            <a:srgbClr val="E6E3DC"/>
          </a:solidFill>
          <a:ln w="12700">
            <a:solidFill>
              <a:srgbClr val="E6E3DC"/>
            </a:solidFill>
            <a:prstDash val="solid"/>
          </a:ln>
        </p:spPr>
        <p:txBody>
          <a:bodyPr/>
          <a:lstStyle/>
          <a:p>
            <a:endParaRPr lang="en-US"/>
          </a:p>
        </p:txBody>
      </p:sp>
      <p:sp>
        <p:nvSpPr>
          <p:cNvPr id="9" name="Text 7"/>
          <p:cNvSpPr txBox="1"/>
          <p:nvPr/>
        </p:nvSpPr>
        <p:spPr>
          <a:xfrm>
            <a:off x="1051560" y="3182112"/>
            <a:ext cx="2743200" cy="475488"/>
          </a:xfrm>
          <a:prstGeom prst="rect">
            <a:avLst/>
          </a:prstGeom>
          <a:noFill/>
          <a:ln/>
        </p:spPr>
        <p:txBody>
          <a:bodyPr wrap="square" lIns="0" tIns="0" rIns="0" bIns="0" rtlCol="0" anchor="ctr"/>
          <a:lstStyle/>
          <a:p>
            <a:pPr marL="0" indent="0">
              <a:buNone/>
            </a:pPr>
            <a:r>
              <a:rPr lang="en-US" sz="1400" dirty="0">
                <a:solidFill>
                  <a:srgbClr val="161A22"/>
                </a:solidFill>
              </a:rPr>
              <a:t>OS and git status</a:t>
            </a:r>
            <a:endParaRPr lang="en-US" sz="1400" dirty="0"/>
          </a:p>
        </p:txBody>
      </p:sp>
      <p:sp>
        <p:nvSpPr>
          <p:cNvPr id="10" name="Always sent chip 3"/>
          <p:cNvSpPr/>
          <p:nvPr/>
        </p:nvSpPr>
        <p:spPr>
          <a:xfrm>
            <a:off x="914400" y="3803904"/>
            <a:ext cx="3017520" cy="475488"/>
          </a:xfrm>
          <a:prstGeom prst="roundRect">
            <a:avLst>
              <a:gd name="adj" fmla="val 15385"/>
            </a:avLst>
          </a:prstGeom>
          <a:solidFill>
            <a:srgbClr val="E6E3DC"/>
          </a:solidFill>
          <a:ln w="12700">
            <a:solidFill>
              <a:srgbClr val="E6E3DC"/>
            </a:solidFill>
            <a:prstDash val="solid"/>
          </a:ln>
        </p:spPr>
        <p:txBody>
          <a:bodyPr/>
          <a:lstStyle/>
          <a:p>
            <a:endParaRPr lang="en-US"/>
          </a:p>
        </p:txBody>
      </p:sp>
      <p:sp>
        <p:nvSpPr>
          <p:cNvPr id="11" name="Text 9"/>
          <p:cNvSpPr txBox="1"/>
          <p:nvPr/>
        </p:nvSpPr>
        <p:spPr>
          <a:xfrm>
            <a:off x="1051560" y="3803904"/>
            <a:ext cx="2743200" cy="475488"/>
          </a:xfrm>
          <a:prstGeom prst="rect">
            <a:avLst/>
          </a:prstGeom>
          <a:noFill/>
          <a:ln/>
        </p:spPr>
        <p:txBody>
          <a:bodyPr wrap="square" lIns="0" tIns="0" rIns="0" bIns="0" rtlCol="0" anchor="ctr"/>
          <a:lstStyle/>
          <a:p>
            <a:pPr marL="0" indent="0">
              <a:buNone/>
            </a:pPr>
            <a:r>
              <a:rPr lang="en-US" sz="1400" dirty="0">
                <a:solidFill>
                  <a:srgbClr val="161A22"/>
                </a:solidFill>
              </a:rPr>
              <a:t>Current and recent files</a:t>
            </a:r>
            <a:endParaRPr lang="en-US" sz="1400" dirty="0"/>
          </a:p>
        </p:txBody>
      </p:sp>
      <p:sp>
        <p:nvSpPr>
          <p:cNvPr id="12" name="Always sent chip 4"/>
          <p:cNvSpPr/>
          <p:nvPr/>
        </p:nvSpPr>
        <p:spPr>
          <a:xfrm>
            <a:off x="914400" y="4425696"/>
            <a:ext cx="3017520" cy="475488"/>
          </a:xfrm>
          <a:prstGeom prst="roundRect">
            <a:avLst>
              <a:gd name="adj" fmla="val 15385"/>
            </a:avLst>
          </a:prstGeom>
          <a:solidFill>
            <a:srgbClr val="E6E3DC"/>
          </a:solidFill>
          <a:ln w="12700">
            <a:solidFill>
              <a:srgbClr val="E6E3DC"/>
            </a:solidFill>
            <a:prstDash val="solid"/>
          </a:ln>
        </p:spPr>
        <p:txBody>
          <a:bodyPr/>
          <a:lstStyle/>
          <a:p>
            <a:endParaRPr lang="en-US"/>
          </a:p>
        </p:txBody>
      </p:sp>
      <p:sp>
        <p:nvSpPr>
          <p:cNvPr id="13" name="Text 11"/>
          <p:cNvSpPr txBox="1"/>
          <p:nvPr/>
        </p:nvSpPr>
        <p:spPr>
          <a:xfrm>
            <a:off x="1051560" y="4425696"/>
            <a:ext cx="2743200" cy="475488"/>
          </a:xfrm>
          <a:prstGeom prst="rect">
            <a:avLst/>
          </a:prstGeom>
          <a:noFill/>
          <a:ln/>
        </p:spPr>
        <p:txBody>
          <a:bodyPr wrap="square" lIns="0" tIns="0" rIns="0" bIns="0" rtlCol="0" anchor="ctr"/>
          <a:lstStyle/>
          <a:p>
            <a:pPr marL="0" indent="0">
              <a:buNone/>
            </a:pPr>
            <a:r>
              <a:rPr lang="en-US" sz="1400" dirty="0">
                <a:solidFill>
                  <a:srgbClr val="161A22"/>
                </a:solidFill>
              </a:rPr>
              <a:t>Skill names, MCP tool names</a:t>
            </a:r>
            <a:endParaRPr lang="en-US" sz="1400" dirty="0"/>
          </a:p>
        </p:txBody>
      </p:sp>
      <p:sp>
        <p:nvSpPr>
          <p:cNvPr id="14" name="Fetched"/>
          <p:cNvSpPr/>
          <p:nvPr/>
        </p:nvSpPr>
        <p:spPr>
          <a:xfrm>
            <a:off x="4434840" y="1783080"/>
            <a:ext cx="3566160" cy="4069080"/>
          </a:xfrm>
          <a:prstGeom prst="roundRect">
            <a:avLst>
              <a:gd name="adj" fmla="val 3077"/>
            </a:avLst>
          </a:prstGeom>
          <a:solidFill>
            <a:schemeClr val="bg1"/>
          </a:solidFill>
          <a:ln w="19050">
            <a:solidFill>
              <a:srgbClr val="2C64A8"/>
            </a:solidFill>
            <a:prstDash val="solid"/>
          </a:ln>
        </p:spPr>
        <p:txBody>
          <a:bodyPr/>
          <a:lstStyle/>
          <a:p>
            <a:endParaRPr lang="en-US"/>
          </a:p>
        </p:txBody>
      </p:sp>
      <p:sp>
        <p:nvSpPr>
          <p:cNvPr id="15" name="Text 13"/>
          <p:cNvSpPr txBox="1"/>
          <p:nvPr/>
        </p:nvSpPr>
        <p:spPr>
          <a:xfrm>
            <a:off x="4709160" y="2011680"/>
            <a:ext cx="3017520" cy="365760"/>
          </a:xfrm>
          <a:prstGeom prst="rect">
            <a:avLst/>
          </a:prstGeom>
          <a:noFill/>
          <a:ln/>
        </p:spPr>
        <p:txBody>
          <a:bodyPr wrap="square" lIns="0" tIns="0" rIns="0" bIns="0" rtlCol="0" anchor="t"/>
          <a:lstStyle/>
          <a:p>
            <a:pPr marL="0" indent="0">
              <a:buNone/>
            </a:pPr>
            <a:r>
              <a:rPr lang="en-US" sz="1800" b="1" dirty="0">
                <a:solidFill>
                  <a:schemeClr val="tx1"/>
                </a:solidFill>
              </a:rPr>
              <a:t>Fetched when needed</a:t>
            </a:r>
            <a:endParaRPr lang="en-US" sz="1800" dirty="0"/>
          </a:p>
        </p:txBody>
      </p:sp>
      <p:sp>
        <p:nvSpPr>
          <p:cNvPr id="16" name="Fetched chip 1"/>
          <p:cNvSpPr/>
          <p:nvPr/>
        </p:nvSpPr>
        <p:spPr>
          <a:xfrm>
            <a:off x="4709160" y="2560320"/>
            <a:ext cx="3017520" cy="475488"/>
          </a:xfrm>
          <a:prstGeom prst="roundRect">
            <a:avLst>
              <a:gd name="adj" fmla="val 15385"/>
            </a:avLst>
          </a:prstGeom>
          <a:solidFill>
            <a:srgbClr val="DCE7F5"/>
          </a:solidFill>
          <a:ln w="12700">
            <a:solidFill>
              <a:srgbClr val="DCE7F5"/>
            </a:solidFill>
            <a:prstDash val="solid"/>
          </a:ln>
        </p:spPr>
        <p:txBody>
          <a:bodyPr/>
          <a:lstStyle/>
          <a:p>
            <a:endParaRPr lang="en-US"/>
          </a:p>
        </p:txBody>
      </p:sp>
      <p:sp>
        <p:nvSpPr>
          <p:cNvPr id="17" name="Text 15"/>
          <p:cNvSpPr txBox="1"/>
          <p:nvPr/>
        </p:nvSpPr>
        <p:spPr>
          <a:xfrm>
            <a:off x="4846320" y="2560320"/>
            <a:ext cx="2743200" cy="475488"/>
          </a:xfrm>
          <a:prstGeom prst="rect">
            <a:avLst/>
          </a:prstGeom>
          <a:noFill/>
          <a:ln/>
        </p:spPr>
        <p:txBody>
          <a:bodyPr wrap="square" lIns="0" tIns="0" rIns="0" bIns="0" rtlCol="0" anchor="ctr"/>
          <a:lstStyle/>
          <a:p>
            <a:pPr marL="0" indent="0">
              <a:buNone/>
            </a:pPr>
            <a:r>
              <a:rPr lang="en-US" sz="1400" dirty="0">
                <a:solidFill>
                  <a:srgbClr val="1E4A80"/>
                </a:solidFill>
              </a:rPr>
              <a:t>Semantic search + grep hits</a:t>
            </a:r>
            <a:endParaRPr lang="en-US" sz="1400" dirty="0"/>
          </a:p>
        </p:txBody>
      </p:sp>
      <p:sp>
        <p:nvSpPr>
          <p:cNvPr id="18" name="Fetched chip 2"/>
          <p:cNvSpPr/>
          <p:nvPr/>
        </p:nvSpPr>
        <p:spPr>
          <a:xfrm>
            <a:off x="4709160" y="3182112"/>
            <a:ext cx="3017520" cy="475488"/>
          </a:xfrm>
          <a:prstGeom prst="roundRect">
            <a:avLst>
              <a:gd name="adj" fmla="val 15385"/>
            </a:avLst>
          </a:prstGeom>
          <a:solidFill>
            <a:srgbClr val="DCE7F5"/>
          </a:solidFill>
          <a:ln w="12700">
            <a:solidFill>
              <a:srgbClr val="DCE7F5"/>
            </a:solidFill>
            <a:prstDash val="solid"/>
          </a:ln>
        </p:spPr>
        <p:txBody>
          <a:bodyPr/>
          <a:lstStyle/>
          <a:p>
            <a:endParaRPr lang="en-US"/>
          </a:p>
        </p:txBody>
      </p:sp>
      <p:sp>
        <p:nvSpPr>
          <p:cNvPr id="19" name="Text 17"/>
          <p:cNvSpPr txBox="1"/>
          <p:nvPr/>
        </p:nvSpPr>
        <p:spPr>
          <a:xfrm>
            <a:off x="4846320" y="3182112"/>
            <a:ext cx="2743200" cy="475488"/>
          </a:xfrm>
          <a:prstGeom prst="rect">
            <a:avLst/>
          </a:prstGeom>
          <a:noFill/>
          <a:ln/>
        </p:spPr>
        <p:txBody>
          <a:bodyPr wrap="square" lIns="0" tIns="0" rIns="0" bIns="0" rtlCol="0" anchor="ctr"/>
          <a:lstStyle/>
          <a:p>
            <a:pPr marL="0" indent="0">
              <a:buNone/>
            </a:pPr>
            <a:r>
              <a:rPr lang="en-US" sz="1400" dirty="0">
                <a:solidFill>
                  <a:srgbClr val="1E4A80"/>
                </a:solidFill>
              </a:rPr>
              <a:t>Long tool output, as a file</a:t>
            </a:r>
            <a:endParaRPr lang="en-US" sz="1400" dirty="0"/>
          </a:p>
        </p:txBody>
      </p:sp>
      <p:sp>
        <p:nvSpPr>
          <p:cNvPr id="20" name="Fetched chip 3"/>
          <p:cNvSpPr/>
          <p:nvPr/>
        </p:nvSpPr>
        <p:spPr>
          <a:xfrm>
            <a:off x="4709160" y="3803904"/>
            <a:ext cx="3017520" cy="475488"/>
          </a:xfrm>
          <a:prstGeom prst="roundRect">
            <a:avLst>
              <a:gd name="adj" fmla="val 15385"/>
            </a:avLst>
          </a:prstGeom>
          <a:solidFill>
            <a:srgbClr val="DCE7F5"/>
          </a:solidFill>
          <a:ln w="12700">
            <a:solidFill>
              <a:srgbClr val="DCE7F5"/>
            </a:solidFill>
            <a:prstDash val="solid"/>
          </a:ln>
        </p:spPr>
        <p:txBody>
          <a:bodyPr/>
          <a:lstStyle/>
          <a:p>
            <a:endParaRPr lang="en-US"/>
          </a:p>
        </p:txBody>
      </p:sp>
      <p:sp>
        <p:nvSpPr>
          <p:cNvPr id="21" name="Text 19"/>
          <p:cNvSpPr txBox="1"/>
          <p:nvPr/>
        </p:nvSpPr>
        <p:spPr>
          <a:xfrm>
            <a:off x="4846320" y="3803904"/>
            <a:ext cx="2743200" cy="475488"/>
          </a:xfrm>
          <a:prstGeom prst="rect">
            <a:avLst/>
          </a:prstGeom>
          <a:noFill/>
          <a:ln/>
        </p:spPr>
        <p:txBody>
          <a:bodyPr wrap="square" lIns="0" tIns="0" rIns="0" bIns="0" rtlCol="0" anchor="ctr"/>
          <a:lstStyle/>
          <a:p>
            <a:pPr marL="0" indent="0">
              <a:buNone/>
            </a:pPr>
            <a:r>
              <a:rPr lang="en-US" sz="1400" dirty="0">
                <a:solidFill>
                  <a:srgbClr val="1E4A80"/>
                </a:solidFill>
              </a:rPr>
              <a:t>Chat history file after a summary</a:t>
            </a:r>
            <a:endParaRPr lang="en-US" sz="1400" dirty="0"/>
          </a:p>
        </p:txBody>
      </p:sp>
      <p:sp>
        <p:nvSpPr>
          <p:cNvPr id="22" name="Fetched chip 4"/>
          <p:cNvSpPr/>
          <p:nvPr/>
        </p:nvSpPr>
        <p:spPr>
          <a:xfrm>
            <a:off x="4709160" y="4425696"/>
            <a:ext cx="3017520" cy="475488"/>
          </a:xfrm>
          <a:prstGeom prst="roundRect">
            <a:avLst>
              <a:gd name="adj" fmla="val 15385"/>
            </a:avLst>
          </a:prstGeom>
          <a:solidFill>
            <a:srgbClr val="DCE7F5"/>
          </a:solidFill>
          <a:ln w="12700">
            <a:solidFill>
              <a:srgbClr val="DCE7F5"/>
            </a:solidFill>
            <a:prstDash val="solid"/>
          </a:ln>
        </p:spPr>
        <p:txBody>
          <a:bodyPr/>
          <a:lstStyle/>
          <a:p>
            <a:endParaRPr lang="en-US"/>
          </a:p>
        </p:txBody>
      </p:sp>
      <p:sp>
        <p:nvSpPr>
          <p:cNvPr id="23" name="Text 21"/>
          <p:cNvSpPr txBox="1"/>
          <p:nvPr/>
        </p:nvSpPr>
        <p:spPr>
          <a:xfrm>
            <a:off x="4846320" y="4425696"/>
            <a:ext cx="2743200" cy="475488"/>
          </a:xfrm>
          <a:prstGeom prst="rect">
            <a:avLst/>
          </a:prstGeom>
          <a:noFill/>
          <a:ln/>
        </p:spPr>
        <p:txBody>
          <a:bodyPr wrap="square" lIns="0" tIns="0" rIns="0" bIns="0" rtlCol="0" anchor="ctr"/>
          <a:lstStyle/>
          <a:p>
            <a:pPr marL="0" indent="0">
              <a:buNone/>
            </a:pPr>
            <a:r>
              <a:rPr lang="en-US" sz="1400" dirty="0">
                <a:solidFill>
                  <a:srgbClr val="1E4A80"/>
                </a:solidFill>
              </a:rPr>
              <a:t>Terminal sessions, as files</a:t>
            </a:r>
            <a:endParaRPr lang="en-US" sz="1400" dirty="0"/>
          </a:p>
        </p:txBody>
      </p:sp>
      <p:sp>
        <p:nvSpPr>
          <p:cNvPr id="24" name="Fetched chip 5"/>
          <p:cNvSpPr/>
          <p:nvPr/>
        </p:nvSpPr>
        <p:spPr>
          <a:xfrm>
            <a:off x="4709160" y="5047488"/>
            <a:ext cx="3017520" cy="475488"/>
          </a:xfrm>
          <a:prstGeom prst="roundRect">
            <a:avLst>
              <a:gd name="adj" fmla="val 15385"/>
            </a:avLst>
          </a:prstGeom>
          <a:solidFill>
            <a:srgbClr val="DCE7F5"/>
          </a:solidFill>
          <a:ln w="12700">
            <a:solidFill>
              <a:srgbClr val="DCE7F5"/>
            </a:solidFill>
            <a:prstDash val="solid"/>
          </a:ln>
        </p:spPr>
        <p:txBody>
          <a:bodyPr/>
          <a:lstStyle/>
          <a:p>
            <a:endParaRPr lang="en-US"/>
          </a:p>
        </p:txBody>
      </p:sp>
      <p:sp>
        <p:nvSpPr>
          <p:cNvPr id="25" name="Text 23"/>
          <p:cNvSpPr txBox="1"/>
          <p:nvPr/>
        </p:nvSpPr>
        <p:spPr>
          <a:xfrm>
            <a:off x="4846320" y="5047488"/>
            <a:ext cx="2743200" cy="475488"/>
          </a:xfrm>
          <a:prstGeom prst="rect">
            <a:avLst/>
          </a:prstGeom>
          <a:noFill/>
          <a:ln/>
        </p:spPr>
        <p:txBody>
          <a:bodyPr wrap="square" lIns="0" tIns="0" rIns="0" bIns="0" rtlCol="0" anchor="ctr"/>
          <a:lstStyle/>
          <a:p>
            <a:pPr marL="0" indent="0">
              <a:buNone/>
            </a:pPr>
            <a:r>
              <a:rPr lang="en-US" sz="1400" dirty="0">
                <a:solidFill>
                  <a:srgbClr val="1E4A80"/>
                </a:solidFill>
              </a:rPr>
              <a:t>Full skill files, MCP tool details</a:t>
            </a:r>
            <a:endParaRPr lang="en-US" sz="1400" dirty="0"/>
          </a:p>
        </p:txBody>
      </p:sp>
      <p:sp>
        <p:nvSpPr>
          <p:cNvPr id="26" name="Text 24"/>
          <p:cNvSpPr txBox="1"/>
          <p:nvPr/>
        </p:nvSpPr>
        <p:spPr>
          <a:xfrm>
            <a:off x="8412480" y="2103120"/>
            <a:ext cx="3139135" cy="685800"/>
          </a:xfrm>
          <a:prstGeom prst="rect">
            <a:avLst/>
          </a:prstGeom>
          <a:noFill/>
          <a:ln/>
        </p:spPr>
        <p:txBody>
          <a:bodyPr wrap="square" lIns="0" tIns="0" rIns="0" bIns="0" rtlCol="0" anchor="t"/>
          <a:lstStyle/>
          <a:p>
            <a:pPr marL="0" indent="0">
              <a:buNone/>
            </a:pPr>
            <a:r>
              <a:rPr lang="en-US" sz="4000" b="1" dirty="0">
                <a:solidFill>
                  <a:schemeClr val="tx1"/>
                </a:solidFill>
              </a:rPr>
              <a:t>+12.5%</a:t>
            </a:r>
            <a:endParaRPr lang="en-US" sz="4000" dirty="0"/>
          </a:p>
        </p:txBody>
      </p:sp>
      <p:sp>
        <p:nvSpPr>
          <p:cNvPr id="27" name="Text 25"/>
          <p:cNvSpPr txBox="1"/>
          <p:nvPr/>
        </p:nvSpPr>
        <p:spPr>
          <a:xfrm>
            <a:off x="8412480" y="2834640"/>
            <a:ext cx="3139135" cy="685800"/>
          </a:xfrm>
          <a:prstGeom prst="rect">
            <a:avLst/>
          </a:prstGeom>
          <a:noFill/>
          <a:ln/>
        </p:spPr>
        <p:txBody>
          <a:bodyPr wrap="square" lIns="0" tIns="0" rIns="0" bIns="0" rtlCol="0" anchor="t"/>
          <a:lstStyle/>
          <a:p>
            <a:pPr marL="0" indent="0">
              <a:buNone/>
            </a:pPr>
            <a:r>
              <a:rPr lang="en-US" sz="1300" dirty="0">
                <a:solidFill>
                  <a:schemeClr val="tx2"/>
                </a:solidFill>
              </a:rPr>
              <a:t>answer accuracy with semantic search, average across models (6.5–23.5%) [1]</a:t>
            </a:r>
            <a:endParaRPr lang="en-US" sz="1300" dirty="0"/>
          </a:p>
        </p:txBody>
      </p:sp>
      <p:sp>
        <p:nvSpPr>
          <p:cNvPr id="28" name="Text 26"/>
          <p:cNvSpPr txBox="1"/>
          <p:nvPr/>
        </p:nvSpPr>
        <p:spPr>
          <a:xfrm>
            <a:off x="8412480" y="3886200"/>
            <a:ext cx="3139135" cy="685800"/>
          </a:xfrm>
          <a:prstGeom prst="rect">
            <a:avLst/>
          </a:prstGeom>
          <a:noFill/>
          <a:ln/>
        </p:spPr>
        <p:txBody>
          <a:bodyPr wrap="square" lIns="0" tIns="0" rIns="0" bIns="0" rtlCol="0" anchor="t"/>
          <a:lstStyle/>
          <a:p>
            <a:pPr marL="0" indent="0">
              <a:buNone/>
            </a:pPr>
            <a:r>
              <a:rPr lang="en-US" sz="4000" b="1" dirty="0">
                <a:solidFill>
                  <a:schemeClr val="tx1"/>
                </a:solidFill>
              </a:rPr>
              <a:t>−46.9%</a:t>
            </a:r>
            <a:endParaRPr lang="en-US" sz="4000" dirty="0"/>
          </a:p>
        </p:txBody>
      </p:sp>
      <p:sp>
        <p:nvSpPr>
          <p:cNvPr id="29" name="Text 27"/>
          <p:cNvSpPr txBox="1"/>
          <p:nvPr/>
        </p:nvSpPr>
        <p:spPr>
          <a:xfrm>
            <a:off x="8412480" y="4617720"/>
            <a:ext cx="3139135" cy="685800"/>
          </a:xfrm>
          <a:prstGeom prst="rect">
            <a:avLst/>
          </a:prstGeom>
          <a:noFill/>
          <a:ln/>
        </p:spPr>
        <p:txBody>
          <a:bodyPr wrap="square" lIns="0" tIns="0" rIns="0" bIns="0" rtlCol="0" anchor="t"/>
          <a:lstStyle/>
          <a:p>
            <a:pPr marL="0" indent="0">
              <a:buNone/>
            </a:pPr>
            <a:r>
              <a:rPr lang="en-US" sz="1300" dirty="0">
                <a:solidFill>
                  <a:schemeClr val="tx2"/>
                </a:solidFill>
              </a:rPr>
              <a:t>total agent tokens on MCP runs, with tools loaded on demand [2]</a:t>
            </a:r>
            <a:endParaRPr lang="en-US" sz="1300" dirty="0"/>
          </a:p>
        </p:txBody>
      </p:sp>
      <p:sp>
        <p:nvSpPr>
          <p:cNvPr id="30" name="Text 28"/>
          <p:cNvSpPr txBox="1"/>
          <p:nvPr/>
        </p:nvSpPr>
        <p:spPr>
          <a:xfrm>
            <a:off x="3474720" y="6382512"/>
            <a:ext cx="7498080" cy="274320"/>
          </a:xfrm>
          <a:prstGeom prst="rect">
            <a:avLst/>
          </a:prstGeom>
          <a:noFill/>
          <a:ln/>
        </p:spPr>
        <p:txBody>
          <a:bodyPr wrap="square" lIns="0" tIns="0" rIns="0" bIns="0" rtlCol="0" anchor="t"/>
          <a:lstStyle/>
          <a:p>
            <a:pPr marL="0" indent="0" algn="r">
              <a:buNone/>
            </a:pPr>
            <a:r>
              <a:rPr lang="en-US" sz="1000" dirty="0">
                <a:solidFill>
                  <a:schemeClr val="accent4"/>
                </a:solidFill>
              </a:rPr>
              <a:t>[1] Semantic search (Nov 2025) · [2] Dynamic context discovery (Jan 2026) · [3] Agent harness (Apr 2026)</a:t>
            </a:r>
            <a:endParaRPr lang="en-US" sz="1000" dirty="0"/>
          </a:p>
        </p:txBody>
      </p:sp>
      <p:sp>
        <p:nvSpPr>
          <p:cNvPr id="31" name="Slide Number Placeholder 0"/>
          <p:cNvSpPr>
            <a:spLocks noGrp="1"/>
          </p:cNvSpPr>
          <p:nvPr>
            <p:ph type="sldNum" sz="quarter" idx="4294967295"/>
          </p:nvPr>
        </p:nvSpPr>
        <p:spPr>
          <a:xfrm>
            <a:off x="11109960" y="6382512"/>
            <a:ext cx="4389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10911535" cy="292608"/>
          </a:xfrm>
          <a:prstGeom prst="rect">
            <a:avLst/>
          </a:prstGeom>
          <a:noFill/>
          <a:ln/>
        </p:spPr>
        <p:txBody>
          <a:bodyPr wrap="square" lIns="0" tIns="0" rIns="0" bIns="0" rtlCol="0" anchor="t"/>
          <a:lstStyle/>
          <a:p>
            <a:pPr marL="0" indent="0" algn="l">
              <a:buNone/>
            </a:pPr>
            <a:r>
              <a:rPr lang="en-US" sz="1200" b="1" kern="0" spc="200" dirty="0">
                <a:solidFill>
                  <a:schemeClr val="accent1"/>
                </a:solidFill>
              </a:rPr>
              <a:t>POLICY · MICHAEL</a:t>
            </a:r>
            <a:endParaRPr lang="en-US" sz="1200" dirty="0"/>
          </a:p>
        </p:txBody>
      </p:sp>
      <p:sp>
        <p:nvSpPr>
          <p:cNvPr id="3" name="Text 0"/>
          <p:cNvSpPr>
            <a:spLocks noGrp="1"/>
          </p:cNvSpPr>
          <p:nvPr>
            <p:ph type="title" idx="101" hasCustomPrompt="1"/>
          </p:nvPr>
        </p:nvSpPr>
        <p:spPr>
          <a:xfrm>
            <a:off x="640080" y="749808"/>
            <a:ext cx="10911535" cy="731520"/>
          </a:xfrm>
          <a:prstGeom prst="rect">
            <a:avLst/>
          </a:prstGeom>
          <a:noFill/>
          <a:ln/>
        </p:spPr>
        <p:txBody>
          <a:bodyPr wrap="square" lIns="0" tIns="0" rIns="0" bIns="0" rtlCol="0" anchor="t"/>
          <a:lstStyle/>
          <a:p>
            <a:pPr marL="0" indent="0" algn="l">
              <a:buNone/>
            </a:pPr>
            <a:r>
              <a:rPr lang="en-US" sz="3200" b="1" dirty="0">
                <a:solidFill>
                  <a:schemeClr val="tx1"/>
                </a:solidFill>
              </a:rPr>
              <a:t>Policy: latent, but trained and fenced</a:t>
            </a:r>
            <a:endParaRPr lang="en-US" sz="3200" dirty="0"/>
          </a:p>
        </p:txBody>
      </p:sp>
      <p:sp>
        <p:nvSpPr>
          <p:cNvPr id="4" name="Policy row Tab"/>
          <p:cNvSpPr/>
          <p:nvPr/>
        </p:nvSpPr>
        <p:spPr>
          <a:xfrm>
            <a:off x="640080" y="1783080"/>
            <a:ext cx="10911535" cy="1115568"/>
          </a:xfrm>
          <a:prstGeom prst="roundRect">
            <a:avLst>
              <a:gd name="adj" fmla="val 9836"/>
            </a:avLst>
          </a:prstGeom>
          <a:solidFill>
            <a:schemeClr val="bg1"/>
          </a:solidFill>
          <a:ln w="9525">
            <a:solidFill>
              <a:schemeClr val="accent5"/>
            </a:solidFill>
            <a:prstDash val="solid"/>
          </a:ln>
        </p:spPr>
        <p:txBody>
          <a:bodyPr/>
          <a:lstStyle/>
          <a:p>
            <a:endParaRPr lang="en-US"/>
          </a:p>
        </p:txBody>
      </p:sp>
      <p:sp>
        <p:nvSpPr>
          <p:cNvPr id="5" name="Text 3"/>
          <p:cNvSpPr txBox="1"/>
          <p:nvPr/>
        </p:nvSpPr>
        <p:spPr>
          <a:xfrm>
            <a:off x="914400" y="2011680"/>
            <a:ext cx="2103120" cy="411480"/>
          </a:xfrm>
          <a:prstGeom prst="rect">
            <a:avLst/>
          </a:prstGeom>
          <a:noFill/>
          <a:ln/>
        </p:spPr>
        <p:txBody>
          <a:bodyPr wrap="square" lIns="0" tIns="0" rIns="0" bIns="0" rtlCol="0" anchor="t"/>
          <a:lstStyle/>
          <a:p>
            <a:pPr marL="0" indent="0">
              <a:buNone/>
            </a:pPr>
            <a:r>
              <a:rPr lang="en-US" sz="2200" b="1" dirty="0">
                <a:solidFill>
                  <a:schemeClr val="tx1"/>
                </a:solidFill>
              </a:rPr>
              <a:t>Tab</a:t>
            </a:r>
            <a:endParaRPr lang="en-US" sz="2200" dirty="0"/>
          </a:p>
        </p:txBody>
      </p:sp>
      <p:sp>
        <p:nvSpPr>
          <p:cNvPr id="6" name="Text 4"/>
          <p:cNvSpPr txBox="1"/>
          <p:nvPr/>
        </p:nvSpPr>
        <p:spPr>
          <a:xfrm>
            <a:off x="914400" y="2441448"/>
            <a:ext cx="2103120" cy="320040"/>
          </a:xfrm>
          <a:prstGeom prst="rect">
            <a:avLst/>
          </a:prstGeom>
          <a:noFill/>
          <a:ln/>
        </p:spPr>
        <p:txBody>
          <a:bodyPr wrap="square" lIns="0" tIns="0" rIns="0" bIns="0" rtlCol="0" anchor="t"/>
          <a:lstStyle/>
          <a:p>
            <a:pPr marL="0" indent="0">
              <a:buNone/>
            </a:pPr>
            <a:r>
              <a:rPr lang="en-US" sz="1200" dirty="0">
                <a:solidFill>
                  <a:schemeClr val="accent2"/>
                </a:solidFill>
              </a:rPr>
              <a:t>Hand-written reward</a:t>
            </a:r>
            <a:endParaRPr lang="en-US" sz="1200" dirty="0"/>
          </a:p>
        </p:txBody>
      </p:sp>
      <p:sp>
        <p:nvSpPr>
          <p:cNvPr id="7" name="Text 5"/>
          <p:cNvSpPr txBox="1"/>
          <p:nvPr/>
        </p:nvSpPr>
        <p:spPr>
          <a:xfrm>
            <a:off x="3154680" y="1965960"/>
            <a:ext cx="5257800" cy="777240"/>
          </a:xfrm>
          <a:prstGeom prst="rect">
            <a:avLst/>
          </a:prstGeom>
          <a:noFill/>
          <a:ln/>
        </p:spPr>
        <p:txBody>
          <a:bodyPr wrap="square" lIns="0" tIns="0" rIns="0" bIns="0" rtlCol="0" anchor="ctr"/>
          <a:lstStyle/>
          <a:p>
            <a:pPr marL="0" indent="0">
              <a:buNone/>
            </a:pPr>
            <a:r>
              <a:rPr lang="en-US" sz="1500" dirty="0">
                <a:solidFill>
                  <a:schemeClr val="tx2"/>
                </a:solidFill>
              </a:rPr>
              <a:t>Two actions, suggest or stay silent: +0.75 accept, −0.25 reject, 0 silence. L3’s r(s,a) written down.</a:t>
            </a:r>
            <a:endParaRPr lang="en-US" sz="1500" dirty="0"/>
          </a:p>
        </p:txBody>
      </p:sp>
      <p:sp>
        <p:nvSpPr>
          <p:cNvPr id="8" name="Text 6"/>
          <p:cNvSpPr txBox="1"/>
          <p:nvPr/>
        </p:nvSpPr>
        <p:spPr>
          <a:xfrm>
            <a:off x="8732520" y="1947672"/>
            <a:ext cx="2743200" cy="548640"/>
          </a:xfrm>
          <a:prstGeom prst="rect">
            <a:avLst/>
          </a:prstGeom>
          <a:noFill/>
          <a:ln/>
        </p:spPr>
        <p:txBody>
          <a:bodyPr wrap="square" lIns="0" tIns="0" rIns="0" bIns="0" rtlCol="0" anchor="t"/>
          <a:lstStyle/>
          <a:p>
            <a:pPr marL="0" indent="0">
              <a:buNone/>
            </a:pPr>
            <a:r>
              <a:rPr lang="en-US" sz="3000" b="1" dirty="0">
                <a:solidFill>
                  <a:schemeClr val="tx1"/>
                </a:solidFill>
              </a:rPr>
              <a:t>28% ↑</a:t>
            </a:r>
            <a:endParaRPr lang="en-US" sz="3000" dirty="0"/>
          </a:p>
        </p:txBody>
      </p:sp>
      <p:sp>
        <p:nvSpPr>
          <p:cNvPr id="9" name="Text 7"/>
          <p:cNvSpPr txBox="1"/>
          <p:nvPr/>
        </p:nvSpPr>
        <p:spPr>
          <a:xfrm>
            <a:off x="8732520" y="2478024"/>
            <a:ext cx="2743200" cy="320040"/>
          </a:xfrm>
          <a:prstGeom prst="rect">
            <a:avLst/>
          </a:prstGeom>
          <a:noFill/>
          <a:ln/>
        </p:spPr>
        <p:txBody>
          <a:bodyPr wrap="square" lIns="0" tIns="0" rIns="0" bIns="0" rtlCol="0" anchor="t"/>
          <a:lstStyle/>
          <a:p>
            <a:pPr marL="0" indent="0">
              <a:buNone/>
            </a:pPr>
            <a:r>
              <a:rPr lang="en-US" sz="1100" dirty="0">
                <a:solidFill>
                  <a:schemeClr val="accent4"/>
                </a:solidFill>
              </a:rPr>
              <a:t>accept rate; 21% fewer suggestions shown</a:t>
            </a:r>
            <a:endParaRPr lang="en-US" sz="1100" dirty="0"/>
          </a:p>
        </p:txBody>
      </p:sp>
      <p:sp>
        <p:nvSpPr>
          <p:cNvPr id="10" name="Policy row Composer"/>
          <p:cNvSpPr/>
          <p:nvPr/>
        </p:nvSpPr>
        <p:spPr>
          <a:xfrm>
            <a:off x="640080" y="3063240"/>
            <a:ext cx="10911535" cy="1115568"/>
          </a:xfrm>
          <a:prstGeom prst="roundRect">
            <a:avLst>
              <a:gd name="adj" fmla="val 9836"/>
            </a:avLst>
          </a:prstGeom>
          <a:solidFill>
            <a:schemeClr val="bg1"/>
          </a:solidFill>
          <a:ln w="9525">
            <a:solidFill>
              <a:schemeClr val="accent5"/>
            </a:solidFill>
            <a:prstDash val="solid"/>
          </a:ln>
        </p:spPr>
        <p:txBody>
          <a:bodyPr/>
          <a:lstStyle/>
          <a:p>
            <a:endParaRPr lang="en-US"/>
          </a:p>
        </p:txBody>
      </p:sp>
      <p:sp>
        <p:nvSpPr>
          <p:cNvPr id="11" name="Text 9"/>
          <p:cNvSpPr txBox="1"/>
          <p:nvPr/>
        </p:nvSpPr>
        <p:spPr>
          <a:xfrm>
            <a:off x="914400" y="3291840"/>
            <a:ext cx="2103120" cy="411480"/>
          </a:xfrm>
          <a:prstGeom prst="rect">
            <a:avLst/>
          </a:prstGeom>
          <a:noFill/>
          <a:ln/>
        </p:spPr>
        <p:txBody>
          <a:bodyPr wrap="square" lIns="0" tIns="0" rIns="0" bIns="0" rtlCol="0" anchor="t"/>
          <a:lstStyle/>
          <a:p>
            <a:pPr marL="0" indent="0">
              <a:buNone/>
            </a:pPr>
            <a:r>
              <a:rPr lang="en-US" sz="2200" b="1" dirty="0">
                <a:solidFill>
                  <a:schemeClr val="tx1"/>
                </a:solidFill>
              </a:rPr>
              <a:t>Composer</a:t>
            </a:r>
            <a:endParaRPr lang="en-US" sz="2200" dirty="0"/>
          </a:p>
        </p:txBody>
      </p:sp>
      <p:sp>
        <p:nvSpPr>
          <p:cNvPr id="12" name="Text 10"/>
          <p:cNvSpPr txBox="1"/>
          <p:nvPr/>
        </p:nvSpPr>
        <p:spPr>
          <a:xfrm>
            <a:off x="914400" y="3721608"/>
            <a:ext cx="2103120" cy="320040"/>
          </a:xfrm>
          <a:prstGeom prst="rect">
            <a:avLst/>
          </a:prstGeom>
          <a:noFill/>
          <a:ln/>
        </p:spPr>
        <p:txBody>
          <a:bodyPr wrap="square" lIns="0" tIns="0" rIns="0" bIns="0" rtlCol="0" anchor="t"/>
          <a:lstStyle/>
          <a:p>
            <a:pPr marL="0" indent="0">
              <a:buNone/>
            </a:pPr>
            <a:r>
              <a:rPr lang="en-US" sz="1200" dirty="0">
                <a:solidFill>
                  <a:schemeClr val="accent2"/>
                </a:solidFill>
              </a:rPr>
              <a:t>RL in Cursor’s harness</a:t>
            </a:r>
            <a:endParaRPr lang="en-US" sz="1200" dirty="0"/>
          </a:p>
        </p:txBody>
      </p:sp>
      <p:sp>
        <p:nvSpPr>
          <p:cNvPr id="13" name="Text 11"/>
          <p:cNvSpPr txBox="1"/>
          <p:nvPr/>
        </p:nvSpPr>
        <p:spPr>
          <a:xfrm>
            <a:off x="3154680" y="3246120"/>
            <a:ext cx="5257800" cy="777240"/>
          </a:xfrm>
          <a:prstGeom prst="rect">
            <a:avLst/>
          </a:prstGeom>
          <a:noFill/>
          <a:ln/>
        </p:spPr>
        <p:txBody>
          <a:bodyPr wrap="square" lIns="0" tIns="0" rIns="0" bIns="0" rtlCol="0" anchor="ctr"/>
          <a:lstStyle/>
          <a:p>
            <a:pPr marL="0" indent="0">
              <a:buNone/>
            </a:pPr>
            <a:r>
              <a:rPr lang="en-US" sz="1500" dirty="0">
                <a:solidFill>
                  <a:schemeClr val="tx2"/>
                </a:solidFill>
              </a:rPr>
              <a:t>Trained on the product’s own tools in sandboxes. Composer 2 also learns to write its own summaries.</a:t>
            </a:r>
            <a:endParaRPr lang="en-US" sz="1500" dirty="0"/>
          </a:p>
        </p:txBody>
      </p:sp>
      <p:sp>
        <p:nvSpPr>
          <p:cNvPr id="14" name="Text 12"/>
          <p:cNvSpPr txBox="1"/>
          <p:nvPr/>
        </p:nvSpPr>
        <p:spPr>
          <a:xfrm>
            <a:off x="8732520" y="3227832"/>
            <a:ext cx="2743200" cy="548640"/>
          </a:xfrm>
          <a:prstGeom prst="rect">
            <a:avLst/>
          </a:prstGeom>
          <a:noFill/>
          <a:ln/>
        </p:spPr>
        <p:txBody>
          <a:bodyPr wrap="square" lIns="0" tIns="0" rIns="0" bIns="0" rtlCol="0" anchor="t"/>
          <a:lstStyle/>
          <a:p>
            <a:pPr marL="0" indent="0">
              <a:buNone/>
            </a:pPr>
            <a:r>
              <a:rPr lang="en-US" sz="3000" b="1" dirty="0">
                <a:solidFill>
                  <a:schemeClr val="tx1"/>
                </a:solidFill>
              </a:rPr>
              <a:t>50% ↓</a:t>
            </a:r>
            <a:endParaRPr lang="en-US" sz="3000" dirty="0"/>
          </a:p>
        </p:txBody>
      </p:sp>
      <p:sp>
        <p:nvSpPr>
          <p:cNvPr id="15" name="Text 13"/>
          <p:cNvSpPr txBox="1"/>
          <p:nvPr/>
        </p:nvSpPr>
        <p:spPr>
          <a:xfrm>
            <a:off x="8732520" y="3758184"/>
            <a:ext cx="2743200" cy="320040"/>
          </a:xfrm>
          <a:prstGeom prst="rect">
            <a:avLst/>
          </a:prstGeom>
          <a:noFill/>
          <a:ln/>
        </p:spPr>
        <p:txBody>
          <a:bodyPr wrap="square" lIns="0" tIns="0" rIns="0" bIns="0" rtlCol="0" anchor="t"/>
          <a:lstStyle/>
          <a:p>
            <a:pPr marL="0" indent="0">
              <a:buNone/>
            </a:pPr>
            <a:r>
              <a:rPr lang="en-US" sz="1100" dirty="0">
                <a:solidFill>
                  <a:schemeClr val="accent4"/>
                </a:solidFill>
              </a:rPr>
              <a:t>compaction error, at one fifth the tokens</a:t>
            </a:r>
            <a:endParaRPr lang="en-US" sz="1100" dirty="0"/>
          </a:p>
        </p:txBody>
      </p:sp>
      <p:sp>
        <p:nvSpPr>
          <p:cNvPr id="16" name="Policy row Controls"/>
          <p:cNvSpPr/>
          <p:nvPr/>
        </p:nvSpPr>
        <p:spPr>
          <a:xfrm>
            <a:off x="640080" y="4343400"/>
            <a:ext cx="10911535" cy="1115568"/>
          </a:xfrm>
          <a:prstGeom prst="roundRect">
            <a:avLst>
              <a:gd name="adj" fmla="val 9836"/>
            </a:avLst>
          </a:prstGeom>
          <a:solidFill>
            <a:schemeClr val="bg1"/>
          </a:solidFill>
          <a:ln w="9525">
            <a:solidFill>
              <a:schemeClr val="accent5"/>
            </a:solidFill>
            <a:prstDash val="solid"/>
          </a:ln>
        </p:spPr>
        <p:txBody>
          <a:bodyPr/>
          <a:lstStyle/>
          <a:p>
            <a:endParaRPr lang="en-US"/>
          </a:p>
        </p:txBody>
      </p:sp>
      <p:sp>
        <p:nvSpPr>
          <p:cNvPr id="17" name="Text 15"/>
          <p:cNvSpPr txBox="1"/>
          <p:nvPr/>
        </p:nvSpPr>
        <p:spPr>
          <a:xfrm>
            <a:off x="914400" y="4572000"/>
            <a:ext cx="2103120" cy="411480"/>
          </a:xfrm>
          <a:prstGeom prst="rect">
            <a:avLst/>
          </a:prstGeom>
          <a:noFill/>
          <a:ln/>
        </p:spPr>
        <p:txBody>
          <a:bodyPr wrap="square" lIns="0" tIns="0" rIns="0" bIns="0" rtlCol="0" anchor="t"/>
          <a:lstStyle/>
          <a:p>
            <a:pPr marL="0" indent="0">
              <a:buNone/>
            </a:pPr>
            <a:r>
              <a:rPr lang="en-US" sz="2200" b="1" dirty="0">
                <a:solidFill>
                  <a:schemeClr val="tx1"/>
                </a:solidFill>
              </a:rPr>
              <a:t>Controls</a:t>
            </a:r>
            <a:endParaRPr lang="en-US" sz="2200" dirty="0"/>
          </a:p>
        </p:txBody>
      </p:sp>
      <p:sp>
        <p:nvSpPr>
          <p:cNvPr id="18" name="Text 16"/>
          <p:cNvSpPr txBox="1"/>
          <p:nvPr/>
        </p:nvSpPr>
        <p:spPr>
          <a:xfrm>
            <a:off x="914400" y="5001768"/>
            <a:ext cx="2103120" cy="320040"/>
          </a:xfrm>
          <a:prstGeom prst="rect">
            <a:avLst/>
          </a:prstGeom>
          <a:noFill/>
          <a:ln/>
        </p:spPr>
        <p:txBody>
          <a:bodyPr wrap="square" lIns="0" tIns="0" rIns="0" bIns="0" rtlCol="0" anchor="t"/>
          <a:lstStyle/>
          <a:p>
            <a:pPr marL="0" indent="0">
              <a:buNone/>
            </a:pPr>
            <a:r>
              <a:rPr lang="en-US" sz="1200" dirty="0">
                <a:solidFill>
                  <a:schemeClr val="accent2"/>
                </a:solidFill>
              </a:rPr>
              <a:t>Fences on rented models</a:t>
            </a:r>
            <a:endParaRPr lang="en-US" sz="1200" dirty="0"/>
          </a:p>
        </p:txBody>
      </p:sp>
      <p:sp>
        <p:nvSpPr>
          <p:cNvPr id="19" name="Text 17"/>
          <p:cNvSpPr txBox="1"/>
          <p:nvPr/>
        </p:nvSpPr>
        <p:spPr>
          <a:xfrm>
            <a:off x="3154680" y="4526280"/>
            <a:ext cx="5257800" cy="777240"/>
          </a:xfrm>
          <a:prstGeom prst="rect">
            <a:avLst/>
          </a:prstGeom>
          <a:noFill/>
          <a:ln/>
        </p:spPr>
        <p:txBody>
          <a:bodyPr wrap="square" lIns="0" tIns="0" rIns="0" bIns="0" rtlCol="0" anchor="ctr"/>
          <a:lstStyle/>
          <a:p>
            <a:pPr marL="0" indent="0">
              <a:buNone/>
            </a:pPr>
            <a:r>
              <a:rPr lang="en-US" sz="1500" dirty="0">
                <a:solidFill>
                  <a:schemeClr val="tx2"/>
                </a:solidFill>
              </a:rPr>
              <a:t>Plan mode: ask and plan before acting. Router: a learned classifier picks the model per request.</a:t>
            </a:r>
            <a:endParaRPr lang="en-US" sz="1500" dirty="0"/>
          </a:p>
        </p:txBody>
      </p:sp>
      <p:sp>
        <p:nvSpPr>
          <p:cNvPr id="20" name="Text 18"/>
          <p:cNvSpPr txBox="1"/>
          <p:nvPr/>
        </p:nvSpPr>
        <p:spPr>
          <a:xfrm>
            <a:off x="8732520" y="4507992"/>
            <a:ext cx="2743200" cy="548640"/>
          </a:xfrm>
          <a:prstGeom prst="rect">
            <a:avLst/>
          </a:prstGeom>
          <a:noFill/>
          <a:ln/>
        </p:spPr>
        <p:txBody>
          <a:bodyPr wrap="square" lIns="0" tIns="0" rIns="0" bIns="0" rtlCol="0" anchor="t"/>
          <a:lstStyle/>
          <a:p>
            <a:pPr marL="0" indent="0">
              <a:buNone/>
            </a:pPr>
            <a:r>
              <a:rPr lang="en-US" sz="3000" b="1" dirty="0">
                <a:solidFill>
                  <a:schemeClr val="tx1"/>
                </a:solidFill>
              </a:rPr>
              <a:t>~60% ↓</a:t>
            </a:r>
            <a:endParaRPr lang="en-US" sz="3000" dirty="0"/>
          </a:p>
        </p:txBody>
      </p:sp>
      <p:sp>
        <p:nvSpPr>
          <p:cNvPr id="21" name="Text 19"/>
          <p:cNvSpPr txBox="1"/>
          <p:nvPr/>
        </p:nvSpPr>
        <p:spPr>
          <a:xfrm>
            <a:off x="8732520" y="5038344"/>
            <a:ext cx="2743200" cy="320040"/>
          </a:xfrm>
          <a:prstGeom prst="rect">
            <a:avLst/>
          </a:prstGeom>
          <a:noFill/>
          <a:ln/>
        </p:spPr>
        <p:txBody>
          <a:bodyPr wrap="square" lIns="0" tIns="0" rIns="0" bIns="0" rtlCol="0" anchor="t"/>
          <a:lstStyle/>
          <a:p>
            <a:pPr marL="0" indent="0">
              <a:buNone/>
            </a:pPr>
            <a:r>
              <a:rPr lang="en-US" sz="1100" dirty="0">
                <a:solidFill>
                  <a:schemeClr val="accent4"/>
                </a:solidFill>
              </a:rPr>
              <a:t>cost at frontier quality (Router A/B)</a:t>
            </a:r>
            <a:endParaRPr lang="en-US" sz="1100" dirty="0"/>
          </a:p>
        </p:txBody>
      </p:sp>
      <p:sp>
        <p:nvSpPr>
          <p:cNvPr id="22" name="Text 20"/>
          <p:cNvSpPr txBox="1"/>
          <p:nvPr/>
        </p:nvSpPr>
        <p:spPr>
          <a:xfrm>
            <a:off x="640080" y="5715000"/>
            <a:ext cx="10911535" cy="365760"/>
          </a:xfrm>
          <a:prstGeom prst="rect">
            <a:avLst/>
          </a:prstGeom>
          <a:noFill/>
          <a:ln/>
        </p:spPr>
        <p:txBody>
          <a:bodyPr wrap="square" lIns="0" tIns="0" rIns="0" bIns="0" rtlCol="0" anchor="t"/>
          <a:lstStyle/>
          <a:p>
            <a:pPr marL="0" indent="0">
              <a:buNone/>
            </a:pPr>
            <a:r>
              <a:rPr lang="en-US" sz="1500" b="1" dirty="0">
                <a:solidFill>
                  <a:schemeClr val="tx1"/>
                </a:solidFill>
              </a:rPr>
              <a:t>The arc: </a:t>
            </a:r>
            <a:r>
              <a:rPr lang="en-US" sz="1500" dirty="0">
                <a:solidFill>
                  <a:schemeClr val="tx2"/>
                </a:solidFill>
              </a:rPr>
              <a:t>hand-written reward (L3) → task reward in a sandbox → learned satisfaction proxy (L10)</a:t>
            </a:r>
            <a:endParaRPr lang="en-US" sz="1500" dirty="0"/>
          </a:p>
        </p:txBody>
      </p:sp>
      <p:sp>
        <p:nvSpPr>
          <p:cNvPr id="23" name="Text 21"/>
          <p:cNvSpPr txBox="1"/>
          <p:nvPr/>
        </p:nvSpPr>
        <p:spPr>
          <a:xfrm>
            <a:off x="3474720" y="6382512"/>
            <a:ext cx="7498080" cy="274320"/>
          </a:xfrm>
          <a:prstGeom prst="rect">
            <a:avLst/>
          </a:prstGeom>
          <a:noFill/>
          <a:ln/>
        </p:spPr>
        <p:txBody>
          <a:bodyPr wrap="square" lIns="0" tIns="0" rIns="0" bIns="0" rtlCol="0" anchor="t"/>
          <a:lstStyle/>
          <a:p>
            <a:pPr marL="0" indent="0" algn="r">
              <a:buNone/>
            </a:pPr>
            <a:r>
              <a:rPr lang="en-US" sz="1000" dirty="0">
                <a:solidFill>
                  <a:schemeClr val="accent4"/>
                </a:solidFill>
              </a:rPr>
              <a:t>Cursor blog: Tab RL (Sep 2025), Composer (Oct 2025), self-summarization (Mar 2026), Plan Mode (Oct 2025), Router (Jul 2026)</a:t>
            </a:r>
            <a:endParaRPr lang="en-US" sz="1000" dirty="0"/>
          </a:p>
        </p:txBody>
      </p:sp>
      <p:sp>
        <p:nvSpPr>
          <p:cNvPr id="25" name="Slide Number Placeholder 0"/>
          <p:cNvSpPr>
            <a:spLocks noGrp="1"/>
          </p:cNvSpPr>
          <p:nvPr>
            <p:ph type="sldNum" sz="quarter" idx="4294967295"/>
          </p:nvPr>
        </p:nvSpPr>
        <p:spPr>
          <a:xfrm>
            <a:off x="11109960" y="6382512"/>
            <a:ext cx="4389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10911535" cy="292608"/>
          </a:xfrm>
          <a:prstGeom prst="rect">
            <a:avLst/>
          </a:prstGeom>
          <a:noFill/>
          <a:ln/>
        </p:spPr>
        <p:txBody>
          <a:bodyPr wrap="square" lIns="0" tIns="0" rIns="0" bIns="0" rtlCol="0" anchor="t"/>
          <a:lstStyle/>
          <a:p>
            <a:pPr marL="0" indent="0" algn="l">
              <a:buNone/>
            </a:pPr>
            <a:r>
              <a:rPr lang="en-US" sz="1200" b="1" kern="0" spc="200" dirty="0">
                <a:solidFill>
                  <a:schemeClr val="accent1"/>
                </a:solidFill>
              </a:rPr>
              <a:t>EXHIBIT + INTERFACES · MICHAEL</a:t>
            </a:r>
            <a:endParaRPr lang="en-US" sz="1200" dirty="0"/>
          </a:p>
        </p:txBody>
      </p:sp>
      <p:sp>
        <p:nvSpPr>
          <p:cNvPr id="3" name="Text 0"/>
          <p:cNvSpPr>
            <a:spLocks noGrp="1"/>
          </p:cNvSpPr>
          <p:nvPr>
            <p:ph type="title" idx="101" hasCustomPrompt="1"/>
          </p:nvPr>
        </p:nvSpPr>
        <p:spPr>
          <a:xfrm>
            <a:off x="640080" y="749808"/>
            <a:ext cx="10911535" cy="731520"/>
          </a:xfrm>
          <a:prstGeom prst="rect">
            <a:avLst/>
          </a:prstGeom>
          <a:noFill/>
          <a:ln/>
        </p:spPr>
        <p:txBody>
          <a:bodyPr wrap="square" lIns="0" tIns="0" rIns="0" bIns="0" rtlCol="0" anchor="t"/>
          <a:lstStyle/>
          <a:p>
            <a:pPr marL="0" indent="0" algn="l">
              <a:buNone/>
            </a:pPr>
            <a:r>
              <a:rPr lang="en-US" sz="3200" b="1" dirty="0">
                <a:solidFill>
                  <a:schemeClr val="tx1"/>
                </a:solidFill>
              </a:rPr>
              <a:t>One real run, every step labeled</a:t>
            </a:r>
            <a:endParaRPr lang="en-US" sz="3200" dirty="0"/>
          </a:p>
        </p:txBody>
      </p:sp>
      <p:sp>
        <p:nvSpPr>
          <p:cNvPr id="7" name="Tag U · understanding"/>
          <p:cNvSpPr/>
          <p:nvPr/>
        </p:nvSpPr>
        <p:spPr>
          <a:xfrm>
            <a:off x="640080" y="5303520"/>
            <a:ext cx="1600200" cy="384048"/>
          </a:xfrm>
          <a:prstGeom prst="roundRect">
            <a:avLst>
              <a:gd name="adj" fmla="val 19048"/>
            </a:avLst>
          </a:prstGeom>
          <a:solidFill>
            <a:srgbClr val="DCE7F5"/>
          </a:solidFill>
          <a:ln w="12700">
            <a:solidFill>
              <a:srgbClr val="DCE7F5"/>
            </a:solidFill>
            <a:prstDash val="solid"/>
          </a:ln>
        </p:spPr>
        <p:txBody>
          <a:bodyPr/>
          <a:lstStyle/>
          <a:p>
            <a:endParaRPr lang="en-US"/>
          </a:p>
        </p:txBody>
      </p:sp>
      <p:sp>
        <p:nvSpPr>
          <p:cNvPr id="8" name="Text 6"/>
          <p:cNvSpPr txBox="1"/>
          <p:nvPr/>
        </p:nvSpPr>
        <p:spPr>
          <a:xfrm>
            <a:off x="640080" y="5303520"/>
            <a:ext cx="1600200" cy="384048"/>
          </a:xfrm>
          <a:prstGeom prst="rect">
            <a:avLst/>
          </a:prstGeom>
          <a:noFill/>
          <a:ln/>
        </p:spPr>
        <p:txBody>
          <a:bodyPr wrap="square" lIns="0" tIns="0" rIns="0" bIns="0" rtlCol="0" anchor="ctr"/>
          <a:lstStyle/>
          <a:p>
            <a:pPr marL="0" indent="0" algn="ctr">
              <a:buNone/>
            </a:pPr>
            <a:r>
              <a:rPr lang="en-US" sz="1200" b="1" dirty="0">
                <a:solidFill>
                  <a:srgbClr val="1E4A80"/>
                </a:solidFill>
              </a:rPr>
              <a:t>U · understanding</a:t>
            </a:r>
            <a:endParaRPr lang="en-US" sz="1200" dirty="0"/>
          </a:p>
        </p:txBody>
      </p:sp>
      <p:sp>
        <p:nvSpPr>
          <p:cNvPr id="9" name="Tag S · state"/>
          <p:cNvSpPr/>
          <p:nvPr/>
        </p:nvSpPr>
        <p:spPr>
          <a:xfrm>
            <a:off x="2377440" y="5303520"/>
            <a:ext cx="960120" cy="384048"/>
          </a:xfrm>
          <a:prstGeom prst="roundRect">
            <a:avLst>
              <a:gd name="adj" fmla="val 19048"/>
            </a:avLst>
          </a:prstGeom>
          <a:solidFill>
            <a:srgbClr val="E3EEDF"/>
          </a:solidFill>
          <a:ln w="12700">
            <a:solidFill>
              <a:srgbClr val="E3EEDF"/>
            </a:solidFill>
            <a:prstDash val="solid"/>
          </a:ln>
        </p:spPr>
        <p:txBody>
          <a:bodyPr/>
          <a:lstStyle/>
          <a:p>
            <a:endParaRPr lang="en-US"/>
          </a:p>
        </p:txBody>
      </p:sp>
      <p:sp>
        <p:nvSpPr>
          <p:cNvPr id="10" name="Text 8"/>
          <p:cNvSpPr txBox="1"/>
          <p:nvPr/>
        </p:nvSpPr>
        <p:spPr>
          <a:xfrm>
            <a:off x="2377440" y="5303520"/>
            <a:ext cx="960120" cy="384048"/>
          </a:xfrm>
          <a:prstGeom prst="rect">
            <a:avLst/>
          </a:prstGeom>
          <a:noFill/>
          <a:ln/>
        </p:spPr>
        <p:txBody>
          <a:bodyPr wrap="square" lIns="0" tIns="0" rIns="0" bIns="0" rtlCol="0" anchor="ctr"/>
          <a:lstStyle/>
          <a:p>
            <a:pPr marL="0" indent="0" algn="ctr">
              <a:buNone/>
            </a:pPr>
            <a:r>
              <a:rPr lang="en-US" sz="1200" b="1" dirty="0">
                <a:solidFill>
                  <a:srgbClr val="2F5A23"/>
                </a:solidFill>
              </a:rPr>
              <a:t>S · state</a:t>
            </a:r>
            <a:endParaRPr lang="en-US" sz="1200" dirty="0"/>
          </a:p>
        </p:txBody>
      </p:sp>
      <p:sp>
        <p:nvSpPr>
          <p:cNvPr id="11" name="Tag P · policy"/>
          <p:cNvSpPr/>
          <p:nvPr/>
        </p:nvSpPr>
        <p:spPr>
          <a:xfrm>
            <a:off x="3474720" y="5303520"/>
            <a:ext cx="1051560" cy="384048"/>
          </a:xfrm>
          <a:prstGeom prst="roundRect">
            <a:avLst>
              <a:gd name="adj" fmla="val 19048"/>
            </a:avLst>
          </a:prstGeom>
          <a:solidFill>
            <a:srgbClr val="F6DFCB"/>
          </a:solidFill>
          <a:ln w="12700">
            <a:solidFill>
              <a:srgbClr val="F6DFCB"/>
            </a:solidFill>
            <a:prstDash val="solid"/>
          </a:ln>
        </p:spPr>
        <p:txBody>
          <a:bodyPr/>
          <a:lstStyle/>
          <a:p>
            <a:endParaRPr lang="en-US"/>
          </a:p>
        </p:txBody>
      </p:sp>
      <p:sp>
        <p:nvSpPr>
          <p:cNvPr id="12" name="Text 10"/>
          <p:cNvSpPr txBox="1"/>
          <p:nvPr/>
        </p:nvSpPr>
        <p:spPr>
          <a:xfrm>
            <a:off x="3474720" y="5303520"/>
            <a:ext cx="1051560" cy="384048"/>
          </a:xfrm>
          <a:prstGeom prst="rect">
            <a:avLst/>
          </a:prstGeom>
          <a:noFill/>
          <a:ln/>
        </p:spPr>
        <p:txBody>
          <a:bodyPr wrap="square" lIns="0" tIns="0" rIns="0" bIns="0" rtlCol="0" anchor="ctr"/>
          <a:lstStyle/>
          <a:p>
            <a:pPr marL="0" indent="0" algn="ctr">
              <a:buNone/>
            </a:pPr>
            <a:r>
              <a:rPr lang="en-US" sz="1200" b="1" dirty="0">
                <a:solidFill>
                  <a:srgbClr val="8A3D0C"/>
                </a:solidFill>
              </a:rPr>
              <a:t>P · policy</a:t>
            </a:r>
            <a:endParaRPr lang="en-US" sz="1200" dirty="0"/>
          </a:p>
        </p:txBody>
      </p:sp>
      <p:sp>
        <p:nvSpPr>
          <p:cNvPr id="13" name="Tag G · generation"/>
          <p:cNvSpPr/>
          <p:nvPr/>
        </p:nvSpPr>
        <p:spPr>
          <a:xfrm>
            <a:off x="4663440" y="5303520"/>
            <a:ext cx="1463040" cy="384048"/>
          </a:xfrm>
          <a:prstGeom prst="roundRect">
            <a:avLst>
              <a:gd name="adj" fmla="val 19048"/>
            </a:avLst>
          </a:prstGeom>
          <a:solidFill>
            <a:srgbClr val="E7E3F3"/>
          </a:solidFill>
          <a:ln w="12700">
            <a:solidFill>
              <a:srgbClr val="E7E3F3"/>
            </a:solidFill>
            <a:prstDash val="solid"/>
          </a:ln>
        </p:spPr>
        <p:txBody>
          <a:bodyPr/>
          <a:lstStyle/>
          <a:p>
            <a:endParaRPr lang="en-US"/>
          </a:p>
        </p:txBody>
      </p:sp>
      <p:sp>
        <p:nvSpPr>
          <p:cNvPr id="14" name="Text 12"/>
          <p:cNvSpPr txBox="1"/>
          <p:nvPr/>
        </p:nvSpPr>
        <p:spPr>
          <a:xfrm>
            <a:off x="4663440" y="5303520"/>
            <a:ext cx="1463040" cy="384048"/>
          </a:xfrm>
          <a:prstGeom prst="rect">
            <a:avLst/>
          </a:prstGeom>
          <a:noFill/>
          <a:ln/>
        </p:spPr>
        <p:txBody>
          <a:bodyPr wrap="square" lIns="0" tIns="0" rIns="0" bIns="0" rtlCol="0" anchor="ctr"/>
          <a:lstStyle/>
          <a:p>
            <a:pPr marL="0" indent="0" algn="ctr">
              <a:buNone/>
            </a:pPr>
            <a:r>
              <a:rPr lang="en-US" sz="1200" b="1" dirty="0">
                <a:solidFill>
                  <a:srgbClr val="4A3B85"/>
                </a:solidFill>
              </a:rPr>
              <a:t>G · generation</a:t>
            </a:r>
            <a:endParaRPr lang="en-US" sz="1200" dirty="0"/>
          </a:p>
        </p:txBody>
      </p:sp>
      <p:sp>
        <p:nvSpPr>
          <p:cNvPr id="15" name="Tag I · interface"/>
          <p:cNvSpPr/>
          <p:nvPr/>
        </p:nvSpPr>
        <p:spPr>
          <a:xfrm>
            <a:off x="6263640" y="5303520"/>
            <a:ext cx="1280160" cy="384048"/>
          </a:xfrm>
          <a:prstGeom prst="roundRect">
            <a:avLst>
              <a:gd name="adj" fmla="val 19048"/>
            </a:avLst>
          </a:prstGeom>
          <a:solidFill>
            <a:srgbClr val="E6E3DC"/>
          </a:solidFill>
          <a:ln w="12700">
            <a:solidFill>
              <a:srgbClr val="E6E3DC"/>
            </a:solidFill>
            <a:prstDash val="solid"/>
          </a:ln>
        </p:spPr>
        <p:txBody>
          <a:bodyPr/>
          <a:lstStyle/>
          <a:p>
            <a:endParaRPr lang="en-US"/>
          </a:p>
        </p:txBody>
      </p:sp>
      <p:sp>
        <p:nvSpPr>
          <p:cNvPr id="16" name="Text 14"/>
          <p:cNvSpPr txBox="1"/>
          <p:nvPr/>
        </p:nvSpPr>
        <p:spPr>
          <a:xfrm>
            <a:off x="6263640" y="5303520"/>
            <a:ext cx="1280160" cy="384048"/>
          </a:xfrm>
          <a:prstGeom prst="rect">
            <a:avLst/>
          </a:prstGeom>
          <a:noFill/>
          <a:ln/>
        </p:spPr>
        <p:txBody>
          <a:bodyPr wrap="square" lIns="0" tIns="0" rIns="0" bIns="0" rtlCol="0" anchor="ctr"/>
          <a:lstStyle/>
          <a:p>
            <a:pPr marL="0" indent="0" algn="ctr">
              <a:buNone/>
            </a:pPr>
            <a:r>
              <a:rPr lang="en-US" sz="1200" b="1" dirty="0">
                <a:solidFill>
                  <a:srgbClr val="3D4452"/>
                </a:solidFill>
              </a:rPr>
              <a:t>I · interface</a:t>
            </a:r>
            <a:endParaRPr lang="en-US" sz="1200" dirty="0"/>
          </a:p>
        </p:txBody>
      </p:sp>
      <p:sp>
        <p:nvSpPr>
          <p:cNvPr id="17" name="Interfaces panel"/>
          <p:cNvSpPr/>
          <p:nvPr/>
        </p:nvSpPr>
        <p:spPr>
          <a:xfrm>
            <a:off x="7818120" y="1783080"/>
            <a:ext cx="3733495" cy="3904488"/>
          </a:xfrm>
          <a:prstGeom prst="roundRect">
            <a:avLst>
              <a:gd name="adj" fmla="val 2939"/>
            </a:avLst>
          </a:prstGeom>
          <a:solidFill>
            <a:schemeClr val="tx1"/>
          </a:solidFill>
          <a:ln w="12700">
            <a:solidFill>
              <a:srgbClr val="161A22"/>
            </a:solidFill>
            <a:prstDash val="solid"/>
          </a:ln>
        </p:spPr>
        <p:txBody>
          <a:bodyPr/>
          <a:lstStyle/>
          <a:p>
            <a:endParaRPr lang="en-US"/>
          </a:p>
        </p:txBody>
      </p:sp>
      <p:sp>
        <p:nvSpPr>
          <p:cNvPr id="18" name="Text 16"/>
          <p:cNvSpPr txBox="1"/>
          <p:nvPr/>
        </p:nvSpPr>
        <p:spPr>
          <a:xfrm>
            <a:off x="8092440" y="1965960"/>
            <a:ext cx="3200400" cy="685800"/>
          </a:xfrm>
          <a:prstGeom prst="rect">
            <a:avLst/>
          </a:prstGeom>
          <a:noFill/>
          <a:ln/>
        </p:spPr>
        <p:txBody>
          <a:bodyPr wrap="square" lIns="0" tIns="0" rIns="0" bIns="0" rtlCol="0" anchor="t"/>
          <a:lstStyle/>
          <a:p>
            <a:pPr marL="0" indent="0">
              <a:buNone/>
            </a:pPr>
            <a:r>
              <a:rPr lang="en-US" sz="1800" b="1" dirty="0">
                <a:solidFill>
                  <a:schemeClr val="bg2"/>
                </a:solidFill>
              </a:rPr>
              <a:t>Interfaces are written per vendor</a:t>
            </a:r>
            <a:endParaRPr lang="en-US" sz="1800" dirty="0"/>
          </a:p>
        </p:txBody>
      </p:sp>
      <p:sp>
        <p:nvSpPr>
          <p:cNvPr id="19" name="Text 17"/>
          <p:cNvSpPr txBox="1"/>
          <p:nvPr/>
        </p:nvSpPr>
        <p:spPr>
          <a:xfrm>
            <a:off x="8092440" y="2743200"/>
            <a:ext cx="3200400" cy="256032"/>
          </a:xfrm>
          <a:prstGeom prst="rect">
            <a:avLst/>
          </a:prstGeom>
          <a:noFill/>
          <a:ln/>
        </p:spPr>
        <p:txBody>
          <a:bodyPr wrap="square" lIns="0" tIns="0" rIns="0" bIns="0" rtlCol="0" anchor="t"/>
          <a:lstStyle/>
          <a:p>
            <a:pPr marL="0" indent="0">
              <a:buNone/>
            </a:pPr>
            <a:r>
              <a:rPr lang="en-US" sz="1100" b="1" dirty="0">
                <a:solidFill>
                  <a:schemeClr val="accent3"/>
                </a:solidFill>
              </a:rPr>
              <a:t>EDIT FORMAT</a:t>
            </a:r>
            <a:endParaRPr lang="en-US" sz="1100" dirty="0"/>
          </a:p>
        </p:txBody>
      </p:sp>
      <p:sp>
        <p:nvSpPr>
          <p:cNvPr id="20" name="Text 18"/>
          <p:cNvSpPr txBox="1"/>
          <p:nvPr/>
        </p:nvSpPr>
        <p:spPr>
          <a:xfrm>
            <a:off x="8092440" y="3017520"/>
            <a:ext cx="3200400" cy="658368"/>
          </a:xfrm>
          <a:prstGeom prst="rect">
            <a:avLst/>
          </a:prstGeom>
          <a:noFill/>
          <a:ln/>
        </p:spPr>
        <p:txBody>
          <a:bodyPr wrap="square" lIns="0" tIns="0" rIns="0" bIns="0" rtlCol="0" anchor="t"/>
          <a:lstStyle/>
          <a:p>
            <a:pPr marL="0" indent="0">
              <a:buNone/>
            </a:pPr>
            <a:r>
              <a:rPr lang="en-US" sz="1300" dirty="0">
                <a:solidFill>
                  <a:schemeClr val="accent6"/>
                </a:solidFill>
              </a:rPr>
              <a:t>Patch format for OpenAI models, string replace for Anthropic models</a:t>
            </a:r>
            <a:endParaRPr lang="en-US" sz="1300" dirty="0"/>
          </a:p>
        </p:txBody>
      </p:sp>
      <p:sp>
        <p:nvSpPr>
          <p:cNvPr id="21" name="Text 19"/>
          <p:cNvSpPr txBox="1"/>
          <p:nvPr/>
        </p:nvSpPr>
        <p:spPr>
          <a:xfrm>
            <a:off x="8092440" y="3703320"/>
            <a:ext cx="3200400" cy="256032"/>
          </a:xfrm>
          <a:prstGeom prst="rect">
            <a:avLst/>
          </a:prstGeom>
          <a:noFill/>
          <a:ln/>
        </p:spPr>
        <p:txBody>
          <a:bodyPr wrap="square" lIns="0" tIns="0" rIns="0" bIns="0" rtlCol="0" anchor="t"/>
          <a:lstStyle/>
          <a:p>
            <a:pPr marL="0" indent="0">
              <a:buNone/>
            </a:pPr>
            <a:r>
              <a:rPr lang="en-US" sz="1100" b="1" dirty="0">
                <a:solidFill>
                  <a:schemeClr val="accent3"/>
                </a:solidFill>
              </a:rPr>
              <a:t>TOOL ERRORS</a:t>
            </a:r>
            <a:endParaRPr lang="en-US" sz="1100" dirty="0"/>
          </a:p>
        </p:txBody>
      </p:sp>
      <p:sp>
        <p:nvSpPr>
          <p:cNvPr id="22" name="Text 20"/>
          <p:cNvSpPr txBox="1"/>
          <p:nvPr/>
        </p:nvSpPr>
        <p:spPr>
          <a:xfrm>
            <a:off x="8092440" y="3977640"/>
            <a:ext cx="3200400" cy="658368"/>
          </a:xfrm>
          <a:prstGeom prst="rect">
            <a:avLst/>
          </a:prstGeom>
          <a:noFill/>
          <a:ln/>
        </p:spPr>
        <p:txBody>
          <a:bodyPr wrap="square" lIns="0" tIns="0" rIns="0" bIns="0" rtlCol="0" anchor="t"/>
          <a:lstStyle/>
          <a:p>
            <a:pPr marL="0" indent="0">
              <a:buNone/>
            </a:pPr>
            <a:r>
              <a:rPr lang="en-US" sz="1300" dirty="0">
                <a:solidFill>
                  <a:schemeClr val="accent6"/>
                </a:solidFill>
              </a:rPr>
              <a:t>Typed: InvalidArguments, Timeout, ProviderError, …; anything else is a harness bug</a:t>
            </a:r>
            <a:endParaRPr lang="en-US" sz="1300" dirty="0"/>
          </a:p>
        </p:txBody>
      </p:sp>
      <p:sp>
        <p:nvSpPr>
          <p:cNvPr id="23" name="Text 21"/>
          <p:cNvSpPr txBox="1"/>
          <p:nvPr/>
        </p:nvSpPr>
        <p:spPr>
          <a:xfrm>
            <a:off x="8092440" y="4663440"/>
            <a:ext cx="3200400" cy="256032"/>
          </a:xfrm>
          <a:prstGeom prst="rect">
            <a:avLst/>
          </a:prstGeom>
          <a:noFill/>
          <a:ln/>
        </p:spPr>
        <p:txBody>
          <a:bodyPr wrap="square" lIns="0" tIns="0" rIns="0" bIns="0" rtlCol="0" anchor="t"/>
          <a:lstStyle/>
          <a:p>
            <a:pPr marL="0" indent="0">
              <a:buNone/>
            </a:pPr>
            <a:r>
              <a:rPr lang="en-US" sz="1100" b="1" dirty="0">
                <a:solidFill>
                  <a:schemeClr val="accent3"/>
                </a:solidFill>
              </a:rPr>
              <a:t>THE SEAM</a:t>
            </a:r>
            <a:endParaRPr lang="en-US" sz="1100" dirty="0"/>
          </a:p>
        </p:txBody>
      </p:sp>
      <p:sp>
        <p:nvSpPr>
          <p:cNvPr id="24" name="Text 22"/>
          <p:cNvSpPr txBox="1"/>
          <p:nvPr/>
        </p:nvSpPr>
        <p:spPr>
          <a:xfrm>
            <a:off x="8092440" y="4937760"/>
            <a:ext cx="3200400" cy="658368"/>
          </a:xfrm>
          <a:prstGeom prst="rect">
            <a:avLst/>
          </a:prstGeom>
          <a:noFill/>
          <a:ln/>
        </p:spPr>
        <p:txBody>
          <a:bodyPr wrap="square" lIns="0" tIns="0" rIns="0" bIns="0" rtlCol="0" anchor="t"/>
          <a:lstStyle/>
          <a:p>
            <a:pPr marL="0" indent="0">
              <a:buNone/>
            </a:pPr>
            <a:r>
              <a:rPr lang="en-US" sz="1300" dirty="0">
                <a:solidFill>
                  <a:schemeClr val="accent6"/>
                </a:solidFill>
              </a:rPr>
              <a:t>Switch models mid-chat and the new one reads foreign history and misses the cache. Cursor’s advice: one model per chat.</a:t>
            </a:r>
            <a:endParaRPr lang="en-US" sz="1300" dirty="0"/>
          </a:p>
        </p:txBody>
      </p:sp>
      <p:sp>
        <p:nvSpPr>
          <p:cNvPr id="25" name="Text 23"/>
          <p:cNvSpPr txBox="1"/>
          <p:nvPr/>
        </p:nvSpPr>
        <p:spPr>
          <a:xfrm>
            <a:off x="3474720" y="6382512"/>
            <a:ext cx="7498080" cy="274320"/>
          </a:xfrm>
          <a:prstGeom prst="rect">
            <a:avLst/>
          </a:prstGeom>
          <a:noFill/>
          <a:ln/>
        </p:spPr>
        <p:txBody>
          <a:bodyPr wrap="square" lIns="0" tIns="0" rIns="0" bIns="0" rtlCol="0" anchor="t"/>
          <a:lstStyle/>
          <a:p>
            <a:pPr marL="0" indent="0" algn="r">
              <a:buNone/>
            </a:pPr>
            <a:r>
              <a:rPr lang="en-US" sz="1000" dirty="0">
                <a:solidFill>
                  <a:schemeClr val="accent4"/>
                </a:solidFill>
              </a:rPr>
              <a:t>Exhibit: our Grok 4.6 High Fast run, Oct 26, 2026 (Cursor chat history) · Interfaces: Cursor, “Continually improving our agent harness” (Apr 2026)</a:t>
            </a:r>
            <a:endParaRPr lang="en-US" sz="1000" dirty="0"/>
          </a:p>
        </p:txBody>
      </p:sp>
      <p:sp>
        <p:nvSpPr>
          <p:cNvPr id="26" name="Slide Number Placeholder 0"/>
          <p:cNvSpPr>
            <a:spLocks noGrp="1"/>
          </p:cNvSpPr>
          <p:nvPr>
            <p:ph type="sldNum" sz="quarter" idx="4294967295"/>
          </p:nvPr>
        </p:nvSpPr>
        <p:spPr>
          <a:xfrm>
            <a:off x="11109960" y="6382512"/>
            <a:ext cx="4389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5</a:t>
            </a:fld>
            <a:endParaRPr lang="en-US"/>
          </a:p>
        </p:txBody>
      </p:sp>
      <p:graphicFrame>
        <p:nvGraphicFramePr>
          <p:cNvPr id="27" name="Grok run excerpt"/>
          <p:cNvGraphicFramePr>
            <a:graphicFrameLocks noGrp="1"/>
          </p:cNvGraphicFramePr>
          <p:nvPr/>
        </p:nvGraphicFramePr>
        <p:xfrm>
          <a:off x="640080" y="1783080"/>
          <a:ext cx="6903720" cy="3291840"/>
        </p:xfrm>
        <a:graphic>
          <a:graphicData uri="http://schemas.openxmlformats.org/drawingml/2006/table">
            <a:tbl>
              <a:tblPr firstRow="1" bandRow="0">
                <a:tableStyleId>{5C22544A-7EE6-4342-B048-85BDC9FD1C3A}</a:tableStyleId>
              </a:tblPr>
              <a:tblGrid>
                <a:gridCol w="777240"/>
                <a:gridCol w="685800"/>
                <a:gridCol w="5440680"/>
              </a:tblGrid>
              <a:tr h="365760">
                <a:tc>
                  <a:txBody>
                    <a:bodyPr wrap="square"/>
                    <a:lstStyle/>
                    <a:p>
                      <a:r>
                        <a:rPr sz="1200" b="1">
                          <a:solidFill>
                            <a:srgbClr val="161A22"/>
                          </a:solidFill>
                          <a:latin typeface="Calibri"/>
                        </a:rPr>
                        <a:t>Calls</a:t>
                      </a:r>
                    </a:p>
                  </a:txBody>
                  <a:tcPr marL="73152" marR="73152" marT="27432" marB="27432" anchor="ctr">
                    <a:solidFill>
                      <a:srgbClr val="E6E3DC"/>
                    </a:solidFill>
                  </a:tcPr>
                </a:tc>
                <a:tc>
                  <a:txBody>
                    <a:bodyPr wrap="square"/>
                    <a:lstStyle/>
                    <a:p>
                      <a:r>
                        <a:rPr sz="1200" b="1">
                          <a:solidFill>
                            <a:srgbClr val="161A22"/>
                          </a:solidFill>
                          <a:latin typeface="Calibri"/>
                        </a:rPr>
                        <a:t>Box</a:t>
                      </a:r>
                    </a:p>
                  </a:txBody>
                  <a:tcPr marL="73152" marR="73152" marT="27432" marB="27432" anchor="ctr">
                    <a:solidFill>
                      <a:srgbClr val="E6E3DC"/>
                    </a:solidFill>
                  </a:tcPr>
                </a:tc>
                <a:tc>
                  <a:txBody>
                    <a:bodyPr wrap="square"/>
                    <a:lstStyle/>
                    <a:p>
                      <a:r>
                        <a:rPr sz="1200" b="1">
                          <a:solidFill>
                            <a:srgbClr val="161A22"/>
                          </a:solidFill>
                          <a:latin typeface="Calibri"/>
                        </a:rPr>
                        <a:t>What the agent did</a:t>
                      </a:r>
                    </a:p>
                  </a:txBody>
                  <a:tcPr marL="73152" marR="73152" marT="27432" marB="27432" anchor="ctr">
                    <a:solidFill>
                      <a:srgbClr val="E6E3DC"/>
                    </a:solidFill>
                  </a:tcPr>
                </a:tc>
              </a:tr>
              <a:tr h="365760">
                <a:tc>
                  <a:txBody>
                    <a:bodyPr wrap="square"/>
                    <a:lstStyle/>
                    <a:p>
                      <a:r>
                        <a:rPr sz="1200">
                          <a:solidFill>
                            <a:srgbClr val="3D4452"/>
                          </a:solidFill>
                          <a:latin typeface="Calibri"/>
                        </a:rPr>
                        <a:t>2–3</a:t>
                      </a:r>
                    </a:p>
                  </a:txBody>
                  <a:tcPr marL="73152" marR="73152" marT="27432" marB="27432" anchor="ctr">
                    <a:solidFill>
                      <a:srgbClr val="FCFBF8"/>
                    </a:solidFill>
                  </a:tcPr>
                </a:tc>
                <a:tc>
                  <a:txBody>
                    <a:bodyPr wrap="square"/>
                    <a:lstStyle/>
                    <a:p>
                      <a:pPr algn="ctr"/>
                      <a:r>
                        <a:rPr sz="1200" b="1">
                          <a:solidFill>
                            <a:srgbClr val="1E4A80"/>
                          </a:solidFill>
                          <a:latin typeface="Calibri"/>
                        </a:rPr>
                        <a:t>U</a:t>
                      </a:r>
                    </a:p>
                  </a:txBody>
                  <a:tcPr marL="73152" marR="73152" marT="27432" marB="27432" anchor="ctr">
                    <a:solidFill>
                      <a:srgbClr val="DCE7F5"/>
                    </a:solidFill>
                  </a:tcPr>
                </a:tc>
                <a:tc>
                  <a:txBody>
                    <a:bodyPr wrap="square"/>
                    <a:lstStyle/>
                    <a:p>
                      <a:r>
                        <a:rPr sz="1200">
                          <a:solidFill>
                            <a:srgbClr val="3D4452"/>
                          </a:solidFill>
                          <a:latin typeface="Calibri"/>
                        </a:rPr>
                        <a:t>Globs the repo and ripgreps for class Library | fees_owed | def report</a:t>
                      </a:r>
                    </a:p>
                  </a:txBody>
                  <a:tcPr marL="73152" marR="73152" marT="27432" marB="27432" anchor="ctr">
                    <a:solidFill>
                      <a:srgbClr val="FCFBF8"/>
                    </a:solidFill>
                  </a:tcPr>
                </a:tc>
              </a:tr>
              <a:tr h="365760">
                <a:tc>
                  <a:txBody>
                    <a:bodyPr wrap="square"/>
                    <a:lstStyle/>
                    <a:p>
                      <a:r>
                        <a:rPr sz="1200">
                          <a:solidFill>
                            <a:srgbClr val="3D4452"/>
                          </a:solidFill>
                          <a:latin typeface="Calibri"/>
                        </a:rPr>
                        <a:t>4</a:t>
                      </a:r>
                    </a:p>
                  </a:txBody>
                  <a:tcPr marL="73152" marR="73152" marT="27432" marB="27432" anchor="ctr">
                    <a:solidFill>
                      <a:srgbClr val="FCFBF8"/>
                    </a:solidFill>
                  </a:tcPr>
                </a:tc>
                <a:tc>
                  <a:txBody>
                    <a:bodyPr wrap="square"/>
                    <a:lstStyle/>
                    <a:p>
                      <a:pPr algn="ctr"/>
                      <a:r>
                        <a:rPr sz="1200" b="1">
                          <a:solidFill>
                            <a:srgbClr val="2F5A23"/>
                          </a:solidFill>
                          <a:latin typeface="Calibri"/>
                        </a:rPr>
                        <a:t>S</a:t>
                      </a:r>
                    </a:p>
                  </a:txBody>
                  <a:tcPr marL="73152" marR="73152" marT="27432" marB="27432" anchor="ctr">
                    <a:solidFill>
                      <a:srgbClr val="E3EEDF"/>
                    </a:solidFill>
                  </a:tcPr>
                </a:tc>
                <a:tc>
                  <a:txBody>
                    <a:bodyPr wrap="square"/>
                    <a:lstStyle/>
                    <a:p>
                      <a:r>
                        <a:rPr sz="1200">
                          <a:solidFill>
                            <a:srgbClr val="3D4452"/>
                          </a:solidFill>
                          <a:latin typeface="Calibri"/>
                        </a:rPr>
                        <a:t>Writes a to-do plan</a:t>
                      </a:r>
                    </a:p>
                  </a:txBody>
                  <a:tcPr marL="73152" marR="73152" marT="27432" marB="27432" anchor="ctr">
                    <a:solidFill>
                      <a:srgbClr val="FCFBF8"/>
                    </a:solidFill>
                  </a:tcPr>
                </a:tc>
              </a:tr>
              <a:tr h="365760">
                <a:tc>
                  <a:txBody>
                    <a:bodyPr wrap="square"/>
                    <a:lstStyle/>
                    <a:p>
                      <a:r>
                        <a:rPr sz="1200">
                          <a:solidFill>
                            <a:srgbClr val="3D4452"/>
                          </a:solidFill>
                          <a:latin typeface="Calibri"/>
                        </a:rPr>
                        <a:t>5–10</a:t>
                      </a:r>
                    </a:p>
                  </a:txBody>
                  <a:tcPr marL="73152" marR="73152" marT="27432" marB="27432" anchor="ctr">
                    <a:solidFill>
                      <a:srgbClr val="FCFBF8"/>
                    </a:solidFill>
                  </a:tcPr>
                </a:tc>
                <a:tc>
                  <a:txBody>
                    <a:bodyPr wrap="square"/>
                    <a:lstStyle/>
                    <a:p>
                      <a:pPr algn="ctr"/>
                      <a:r>
                        <a:rPr sz="1200" b="1">
                          <a:solidFill>
                            <a:srgbClr val="2F5A23"/>
                          </a:solidFill>
                          <a:latin typeface="Calibri"/>
                        </a:rPr>
                        <a:t>S·P</a:t>
                      </a:r>
                    </a:p>
                  </a:txBody>
                  <a:tcPr marL="73152" marR="73152" marT="27432" marB="27432" anchor="ctr">
                    <a:solidFill>
                      <a:srgbClr val="E3EEDF"/>
                    </a:solidFill>
                  </a:tcPr>
                </a:tc>
                <a:tc>
                  <a:txBody>
                    <a:bodyPr wrap="square"/>
                    <a:lstStyle/>
                    <a:p>
                      <a:r>
                        <a:rPr sz="1200">
                          <a:solidFill>
                            <a:srgbClr val="3D4452"/>
                          </a:solidFill>
                          <a:latin typeface="Calibri"/>
                        </a:rPr>
                        <a:t>Reads six files in one parallel batch</a:t>
                      </a:r>
                    </a:p>
                  </a:txBody>
                  <a:tcPr marL="73152" marR="73152" marT="27432" marB="27432" anchor="ctr">
                    <a:solidFill>
                      <a:srgbClr val="FCFBF8"/>
                    </a:solidFill>
                  </a:tcPr>
                </a:tc>
              </a:tr>
              <a:tr h="365760">
                <a:tc>
                  <a:txBody>
                    <a:bodyPr wrap="square"/>
                    <a:lstStyle/>
                    <a:p>
                      <a:r>
                        <a:rPr sz="1200">
                          <a:solidFill>
                            <a:srgbClr val="3D4452"/>
                          </a:solidFill>
                          <a:latin typeface="Calibri"/>
                        </a:rPr>
                        <a:t>14–16</a:t>
                      </a:r>
                    </a:p>
                  </a:txBody>
                  <a:tcPr marL="73152" marR="73152" marT="27432" marB="27432" anchor="ctr">
                    <a:solidFill>
                      <a:srgbClr val="FCFBF8"/>
                    </a:solidFill>
                  </a:tcPr>
                </a:tc>
                <a:tc>
                  <a:txBody>
                    <a:bodyPr wrap="square"/>
                    <a:lstStyle/>
                    <a:p>
                      <a:pPr algn="ctr"/>
                      <a:r>
                        <a:rPr sz="1200" b="1">
                          <a:solidFill>
                            <a:srgbClr val="4A3B85"/>
                          </a:solidFill>
                          <a:latin typeface="Calibri"/>
                        </a:rPr>
                        <a:t>G</a:t>
                      </a:r>
                    </a:p>
                  </a:txBody>
                  <a:tcPr marL="73152" marR="73152" marT="27432" marB="27432" anchor="ctr">
                    <a:solidFill>
                      <a:srgbClr val="E7E3F3"/>
                    </a:solidFill>
                  </a:tcPr>
                </a:tc>
                <a:tc>
                  <a:txBody>
                    <a:bodyPr wrap="square"/>
                    <a:lstStyle/>
                    <a:p>
                      <a:r>
                        <a:rPr sz="1200">
                          <a:solidFill>
                            <a:srgbClr val="3D4452"/>
                          </a:solidFill>
                          <a:latin typeface="Calibri"/>
                        </a:rPr>
                        <a:t>Edits library.py (twice) and cli.py</a:t>
                      </a:r>
                    </a:p>
                  </a:txBody>
                  <a:tcPr marL="73152" marR="73152" marT="27432" marB="27432" anchor="ctr">
                    <a:solidFill>
                      <a:srgbClr val="FCFBF8"/>
                    </a:solidFill>
                  </a:tcPr>
                </a:tc>
              </a:tr>
              <a:tr h="365760">
                <a:tc>
                  <a:txBody>
                    <a:bodyPr wrap="square"/>
                    <a:lstStyle/>
                    <a:p>
                      <a:r>
                        <a:rPr sz="1200">
                          <a:solidFill>
                            <a:srgbClr val="3D4452"/>
                          </a:solidFill>
                          <a:latin typeface="Calibri"/>
                        </a:rPr>
                        <a:t>17</a:t>
                      </a:r>
                    </a:p>
                  </a:txBody>
                  <a:tcPr marL="73152" marR="73152" marT="27432" marB="27432" anchor="ctr">
                    <a:solidFill>
                      <a:srgbClr val="FCFBF8"/>
                    </a:solidFill>
                  </a:tcPr>
                </a:tc>
                <a:tc>
                  <a:txBody>
                    <a:bodyPr wrap="square"/>
                    <a:lstStyle/>
                    <a:p>
                      <a:pPr algn="ctr"/>
                      <a:r>
                        <a:rPr sz="1200" b="1">
                          <a:solidFill>
                            <a:srgbClr val="4A3B85"/>
                          </a:solidFill>
                          <a:latin typeface="Calibri"/>
                        </a:rPr>
                        <a:t>G</a:t>
                      </a:r>
                    </a:p>
                  </a:txBody>
                  <a:tcPr marL="73152" marR="73152" marT="27432" marB="27432" anchor="ctr">
                    <a:solidFill>
                      <a:srgbClr val="E7E3F3"/>
                    </a:solidFill>
                  </a:tcPr>
                </a:tc>
                <a:tc>
                  <a:txBody>
                    <a:bodyPr wrap="square"/>
                    <a:lstStyle/>
                    <a:p>
                      <a:r>
                        <a:rPr sz="1200">
                          <a:solidFill>
                            <a:srgbClr val="3D4452"/>
                          </a:solidFill>
                          <a:latin typeface="Calibri"/>
                        </a:rPr>
                        <a:t>Writes its own tests: premium grace, $10 cap, still-out loans, report line</a:t>
                      </a:r>
                    </a:p>
                  </a:txBody>
                  <a:tcPr marL="73152" marR="73152" marT="27432" marB="27432" anchor="ctr">
                    <a:solidFill>
                      <a:srgbClr val="FCFBF8"/>
                    </a:solidFill>
                  </a:tcPr>
                </a:tc>
              </a:tr>
              <a:tr h="365760">
                <a:tc>
                  <a:txBody>
                    <a:bodyPr wrap="square"/>
                    <a:lstStyle/>
                    <a:p>
                      <a:r>
                        <a:rPr sz="1200">
                          <a:solidFill>
                            <a:srgbClr val="3D4452"/>
                          </a:solidFill>
                          <a:latin typeface="Calibri"/>
                        </a:rPr>
                        <a:t>19</a:t>
                      </a:r>
                    </a:p>
                  </a:txBody>
                  <a:tcPr marL="73152" marR="73152" marT="27432" marB="27432" anchor="ctr">
                    <a:solidFill>
                      <a:srgbClr val="FCFBF8"/>
                    </a:solidFill>
                  </a:tcPr>
                </a:tc>
                <a:tc>
                  <a:txBody>
                    <a:bodyPr wrap="square"/>
                    <a:lstStyle/>
                    <a:p>
                      <a:pPr algn="ctr"/>
                      <a:r>
                        <a:rPr sz="1200" b="1">
                          <a:solidFill>
                            <a:srgbClr val="3D4452"/>
                          </a:solidFill>
                          <a:latin typeface="Calibri"/>
                        </a:rPr>
                        <a:t>I</a:t>
                      </a:r>
                    </a:p>
                  </a:txBody>
                  <a:tcPr marL="73152" marR="73152" marT="27432" marB="27432" anchor="ctr">
                    <a:solidFill>
                      <a:srgbClr val="E6E3DC"/>
                    </a:solidFill>
                  </a:tcPr>
                </a:tc>
                <a:tc>
                  <a:txBody>
                    <a:bodyPr wrap="square"/>
                    <a:lstStyle/>
                    <a:p>
                      <a:r>
                        <a:rPr sz="1200">
                          <a:solidFill>
                            <a:srgbClr val="3D4452"/>
                          </a:solidFill>
                          <a:latin typeface="Calibri"/>
                        </a:rPr>
                        <a:t>pytest blocked: “Terminal unavailable … sandbox policy” (t = 48 s)</a:t>
                      </a:r>
                    </a:p>
                  </a:txBody>
                  <a:tcPr marL="73152" marR="73152" marT="27432" marB="27432" anchor="ctr">
                    <a:solidFill>
                      <a:srgbClr val="FCFBF8"/>
                    </a:solidFill>
                  </a:tcPr>
                </a:tc>
              </a:tr>
              <a:tr h="365760">
                <a:tc>
                  <a:txBody>
                    <a:bodyPr wrap="square"/>
                    <a:lstStyle/>
                    <a:p>
                      <a:r>
                        <a:rPr sz="1200">
                          <a:solidFill>
                            <a:srgbClr val="3D4452"/>
                          </a:solidFill>
                          <a:latin typeface="Calibri"/>
                        </a:rPr>
                        <a:t>22</a:t>
                      </a:r>
                    </a:p>
                  </a:txBody>
                  <a:tcPr marL="73152" marR="73152" marT="27432" marB="27432" anchor="ctr">
                    <a:solidFill>
                      <a:srgbClr val="FCFBF8"/>
                    </a:solidFill>
                  </a:tcPr>
                </a:tc>
                <a:tc>
                  <a:txBody>
                    <a:bodyPr wrap="square"/>
                    <a:lstStyle/>
                    <a:p>
                      <a:pPr algn="ctr"/>
                      <a:r>
                        <a:rPr sz="1200" b="1">
                          <a:solidFill>
                            <a:srgbClr val="8A3D0C"/>
                          </a:solidFill>
                          <a:latin typeface="Calibri"/>
                        </a:rPr>
                        <a:t>P</a:t>
                      </a:r>
                    </a:p>
                  </a:txBody>
                  <a:tcPr marL="73152" marR="73152" marT="27432" marB="27432" anchor="ctr">
                    <a:solidFill>
                      <a:srgbClr val="F6DFCB"/>
                    </a:solidFill>
                  </a:tcPr>
                </a:tc>
                <a:tc>
                  <a:txBody>
                    <a:bodyPr wrap="square"/>
                    <a:lstStyle/>
                    <a:p>
                      <a:r>
                        <a:rPr sz="1200">
                          <a:solidFill>
                            <a:srgbClr val="3D4452"/>
                          </a:solidFill>
                          <a:latin typeface="Calibri"/>
                        </a:rPr>
                        <a:t>Reruns outside the sandbox: 10 passed (t = 50 s)</a:t>
                      </a:r>
                    </a:p>
                  </a:txBody>
                  <a:tcPr marL="73152" marR="73152" marT="27432" marB="27432" anchor="ctr">
                    <a:solidFill>
                      <a:srgbClr val="FCFBF8"/>
                    </a:solidFill>
                  </a:tcPr>
                </a:tc>
              </a:tr>
              <a:tr h="365760">
                <a:tc>
                  <a:txBody>
                    <a:bodyPr wrap="square"/>
                    <a:lstStyle/>
                    <a:p>
                      <a:r>
                        <a:rPr sz="1200">
                          <a:solidFill>
                            <a:srgbClr val="3D4452"/>
                          </a:solidFill>
                          <a:latin typeface="Calibri"/>
                        </a:rPr>
                        <a:t>23</a:t>
                      </a:r>
                    </a:p>
                  </a:txBody>
                  <a:tcPr marL="73152" marR="73152" marT="27432" marB="27432" anchor="ctr">
                    <a:solidFill>
                      <a:srgbClr val="FCFBF8"/>
                    </a:solidFill>
                  </a:tcPr>
                </a:tc>
                <a:tc>
                  <a:txBody>
                    <a:bodyPr wrap="square"/>
                    <a:lstStyle/>
                    <a:p>
                      <a:pPr algn="ctr"/>
                      <a:r>
                        <a:rPr sz="1200" b="1">
                          <a:solidFill>
                            <a:srgbClr val="8A3D0C"/>
                          </a:solidFill>
                          <a:latin typeface="Calibri"/>
                        </a:rPr>
                        <a:t>P</a:t>
                      </a:r>
                    </a:p>
                  </a:txBody>
                  <a:tcPr marL="73152" marR="73152" marT="27432" marB="27432" anchor="ctr">
                    <a:solidFill>
                      <a:srgbClr val="F6DFCB"/>
                    </a:solidFill>
                  </a:tcPr>
                </a:tc>
                <a:tc>
                  <a:txBody>
                    <a:bodyPr wrap="square"/>
                    <a:lstStyle/>
                    <a:p>
                      <a:r>
                        <a:rPr sz="1200">
                          <a:solidFill>
                            <a:srgbClr val="3D4452"/>
                          </a:solidFill>
                          <a:latin typeface="Calibri"/>
                        </a:rPr>
                        <a:t>Runs the CLI on sample data to check the report (t = 64 s), then stops</a:t>
                      </a:r>
                    </a:p>
                  </a:txBody>
                  <a:tcPr marL="73152" marR="73152" marT="27432" marB="27432" anchor="ctr">
                    <a:solidFill>
                      <a:srgbClr val="FCFBF8"/>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10911535" cy="292608"/>
          </a:xfrm>
          <a:prstGeom prst="rect">
            <a:avLst/>
          </a:prstGeom>
          <a:noFill/>
          <a:ln/>
        </p:spPr>
        <p:txBody>
          <a:bodyPr wrap="square" lIns="0" tIns="0" rIns="0" bIns="0" rtlCol="0" anchor="t"/>
          <a:lstStyle/>
          <a:p>
            <a:pPr marL="0" indent="0" algn="l">
              <a:buNone/>
            </a:pPr>
            <a:r>
              <a:rPr lang="en-US" sz="1200" b="1" kern="0" spc="200" dirty="0">
                <a:solidFill>
                  <a:schemeClr val="accent1"/>
                </a:solidFill>
              </a:rPr>
              <a:t>SEAMS + ECONOMICS · HEEBA</a:t>
            </a:r>
            <a:endParaRPr lang="en-US" sz="1200" dirty="0"/>
          </a:p>
        </p:txBody>
      </p:sp>
      <p:sp>
        <p:nvSpPr>
          <p:cNvPr id="3" name="Text 0"/>
          <p:cNvSpPr>
            <a:spLocks noGrp="1"/>
          </p:cNvSpPr>
          <p:nvPr>
            <p:ph type="title" idx="101" hasCustomPrompt="1"/>
          </p:nvPr>
        </p:nvSpPr>
        <p:spPr>
          <a:xfrm>
            <a:off x="640080" y="749808"/>
            <a:ext cx="10911535" cy="731520"/>
          </a:xfrm>
          <a:prstGeom prst="rect">
            <a:avLst/>
          </a:prstGeom>
          <a:noFill/>
          <a:ln/>
        </p:spPr>
        <p:txBody>
          <a:bodyPr wrap="square" lIns="0" tIns="0" rIns="0" bIns="0" rtlCol="0" anchor="t"/>
          <a:lstStyle/>
          <a:p>
            <a:pPr marL="0" indent="0" algn="l">
              <a:buNone/>
            </a:pPr>
            <a:r>
              <a:rPr lang="en-US" sz="3200" b="1" dirty="0">
                <a:solidFill>
                  <a:schemeClr val="tx1"/>
                </a:solidFill>
              </a:rPr>
              <a:t>Where the seams show, and what they cost</a:t>
            </a:r>
            <a:endParaRPr lang="en-US" sz="3200" dirty="0"/>
          </a:p>
        </p:txBody>
      </p:sp>
      <p:sp>
        <p:nvSpPr>
          <p:cNvPr id="4" name="Seam Ungrounded support bot"/>
          <p:cNvSpPr/>
          <p:nvPr/>
        </p:nvSpPr>
        <p:spPr>
          <a:xfrm>
            <a:off x="640080" y="1783080"/>
            <a:ext cx="3484778" cy="1783080"/>
          </a:xfrm>
          <a:prstGeom prst="roundRect">
            <a:avLst>
              <a:gd name="adj" fmla="val 6154"/>
            </a:avLst>
          </a:prstGeom>
          <a:solidFill>
            <a:schemeClr val="bg1"/>
          </a:solidFill>
          <a:ln w="9525">
            <a:solidFill>
              <a:schemeClr val="accent5"/>
            </a:solidFill>
            <a:prstDash val="solid"/>
          </a:ln>
        </p:spPr>
        <p:txBody>
          <a:bodyPr/>
          <a:lstStyle/>
          <a:p>
            <a:endParaRPr lang="en-US"/>
          </a:p>
        </p:txBody>
      </p:sp>
      <p:sp>
        <p:nvSpPr>
          <p:cNvPr id="5" name="Text 3"/>
          <p:cNvSpPr txBox="1"/>
          <p:nvPr/>
        </p:nvSpPr>
        <p:spPr>
          <a:xfrm>
            <a:off x="868680" y="1965960"/>
            <a:ext cx="3027578" cy="274320"/>
          </a:xfrm>
          <a:prstGeom prst="rect">
            <a:avLst/>
          </a:prstGeom>
          <a:noFill/>
          <a:ln/>
        </p:spPr>
        <p:txBody>
          <a:bodyPr wrap="square" lIns="0" tIns="0" rIns="0" bIns="0" rtlCol="0" anchor="t"/>
          <a:lstStyle/>
          <a:p>
            <a:pPr marL="0" indent="0">
              <a:buNone/>
            </a:pPr>
            <a:r>
              <a:rPr lang="en-US" sz="1200" b="1" dirty="0">
                <a:solidFill>
                  <a:schemeClr val="accent2"/>
                </a:solidFill>
              </a:rPr>
              <a:t>APR 2025</a:t>
            </a:r>
            <a:endParaRPr lang="en-US" sz="1200" dirty="0"/>
          </a:p>
        </p:txBody>
      </p:sp>
      <p:sp>
        <p:nvSpPr>
          <p:cNvPr id="6" name="Text 4"/>
          <p:cNvSpPr txBox="1"/>
          <p:nvPr/>
        </p:nvSpPr>
        <p:spPr>
          <a:xfrm>
            <a:off x="868680" y="2258568"/>
            <a:ext cx="3027578" cy="365760"/>
          </a:xfrm>
          <a:prstGeom prst="rect">
            <a:avLst/>
          </a:prstGeom>
          <a:noFill/>
          <a:ln/>
        </p:spPr>
        <p:txBody>
          <a:bodyPr wrap="square" lIns="0" tIns="0" rIns="0" bIns="0" rtlCol="0" anchor="t"/>
          <a:lstStyle/>
          <a:p>
            <a:pPr marL="0" indent="0">
              <a:buNone/>
            </a:pPr>
            <a:r>
              <a:rPr lang="en-US" sz="1800" b="1" dirty="0">
                <a:solidFill>
                  <a:schemeClr val="tx1"/>
                </a:solidFill>
              </a:rPr>
              <a:t>Ungrounded support bot</a:t>
            </a:r>
            <a:endParaRPr lang="en-US" sz="1800" dirty="0"/>
          </a:p>
        </p:txBody>
      </p:sp>
      <p:sp>
        <p:nvSpPr>
          <p:cNvPr id="7" name="Text 5"/>
          <p:cNvSpPr txBox="1"/>
          <p:nvPr/>
        </p:nvSpPr>
        <p:spPr>
          <a:xfrm>
            <a:off x="868680" y="2670048"/>
            <a:ext cx="3027578" cy="822960"/>
          </a:xfrm>
          <a:prstGeom prst="rect">
            <a:avLst/>
          </a:prstGeom>
          <a:noFill/>
          <a:ln/>
        </p:spPr>
        <p:txBody>
          <a:bodyPr wrap="square" lIns="0" tIns="0" rIns="0" bIns="0" rtlCol="0" anchor="t"/>
          <a:lstStyle/>
          <a:p>
            <a:pPr marL="0" indent="0">
              <a:buNone/>
            </a:pPr>
            <a:r>
              <a:rPr lang="en-US" sz="1400" dirty="0">
                <a:solidFill>
                  <a:schemeClr val="tx2"/>
                </a:solidFill>
              </a:rPr>
              <a:t>“Sam” invented a one-device policy to explain a logout bug; users cancelled</a:t>
            </a:r>
            <a:endParaRPr lang="en-US" sz="1400" dirty="0"/>
          </a:p>
        </p:txBody>
      </p:sp>
      <p:sp>
        <p:nvSpPr>
          <p:cNvPr id="8" name="Seam Renting the model"/>
          <p:cNvSpPr/>
          <p:nvPr/>
        </p:nvSpPr>
        <p:spPr>
          <a:xfrm>
            <a:off x="4353458" y="1783080"/>
            <a:ext cx="3484778" cy="1783080"/>
          </a:xfrm>
          <a:prstGeom prst="roundRect">
            <a:avLst>
              <a:gd name="adj" fmla="val 6154"/>
            </a:avLst>
          </a:prstGeom>
          <a:solidFill>
            <a:schemeClr val="bg1"/>
          </a:solidFill>
          <a:ln w="9525">
            <a:solidFill>
              <a:schemeClr val="accent5"/>
            </a:solidFill>
            <a:prstDash val="solid"/>
          </a:ln>
        </p:spPr>
        <p:txBody>
          <a:bodyPr/>
          <a:lstStyle/>
          <a:p>
            <a:endParaRPr lang="en-US"/>
          </a:p>
        </p:txBody>
      </p:sp>
      <p:sp>
        <p:nvSpPr>
          <p:cNvPr id="9" name="Text 7"/>
          <p:cNvSpPr txBox="1"/>
          <p:nvPr/>
        </p:nvSpPr>
        <p:spPr>
          <a:xfrm>
            <a:off x="4582058" y="1965960"/>
            <a:ext cx="3027578" cy="274320"/>
          </a:xfrm>
          <a:prstGeom prst="rect">
            <a:avLst/>
          </a:prstGeom>
          <a:noFill/>
          <a:ln/>
        </p:spPr>
        <p:txBody>
          <a:bodyPr wrap="square" lIns="0" tIns="0" rIns="0" bIns="0" rtlCol="0" anchor="t"/>
          <a:lstStyle/>
          <a:p>
            <a:pPr marL="0" indent="0">
              <a:buNone/>
            </a:pPr>
            <a:r>
              <a:rPr lang="en-US" sz="1200" b="1" dirty="0">
                <a:solidFill>
                  <a:schemeClr val="accent2"/>
                </a:solidFill>
              </a:rPr>
              <a:t>JUN–JUL 2025</a:t>
            </a:r>
            <a:endParaRPr lang="en-US" sz="1200" dirty="0"/>
          </a:p>
        </p:txBody>
      </p:sp>
      <p:sp>
        <p:nvSpPr>
          <p:cNvPr id="10" name="Text 8"/>
          <p:cNvSpPr txBox="1"/>
          <p:nvPr/>
        </p:nvSpPr>
        <p:spPr>
          <a:xfrm>
            <a:off x="4582058" y="2258568"/>
            <a:ext cx="3027578" cy="365760"/>
          </a:xfrm>
          <a:prstGeom prst="rect">
            <a:avLst/>
          </a:prstGeom>
          <a:noFill/>
          <a:ln/>
        </p:spPr>
        <p:txBody>
          <a:bodyPr wrap="square" lIns="0" tIns="0" rIns="0" bIns="0" rtlCol="0" anchor="t"/>
          <a:lstStyle/>
          <a:p>
            <a:pPr marL="0" indent="0">
              <a:buNone/>
            </a:pPr>
            <a:r>
              <a:rPr lang="en-US" sz="1800" b="1" dirty="0">
                <a:solidFill>
                  <a:schemeClr val="tx1"/>
                </a:solidFill>
              </a:rPr>
              <a:t>Renting the model</a:t>
            </a:r>
            <a:endParaRPr lang="en-US" sz="1800" dirty="0"/>
          </a:p>
        </p:txBody>
      </p:sp>
      <p:sp>
        <p:nvSpPr>
          <p:cNvPr id="11" name="Text 9"/>
          <p:cNvSpPr txBox="1"/>
          <p:nvPr/>
        </p:nvSpPr>
        <p:spPr>
          <a:xfrm>
            <a:off x="4582058" y="2670048"/>
            <a:ext cx="3027578" cy="822960"/>
          </a:xfrm>
          <a:prstGeom prst="rect">
            <a:avLst/>
          </a:prstGeom>
          <a:noFill/>
          <a:ln/>
        </p:spPr>
        <p:txBody>
          <a:bodyPr wrap="square" lIns="0" tIns="0" rIns="0" bIns="0" rtlCol="0" anchor="t"/>
          <a:lstStyle/>
          <a:p>
            <a:pPr marL="0" indent="0">
              <a:buNone/>
            </a:pPr>
            <a:r>
              <a:rPr lang="en-US" sz="1400" dirty="0">
                <a:solidFill>
                  <a:schemeClr val="tx2"/>
                </a:solidFill>
              </a:rPr>
              <a:t>Pro moved from 500 requests to $20 of usage at API rates; surprise bills, refunds</a:t>
            </a:r>
            <a:endParaRPr lang="en-US" sz="1400" dirty="0"/>
          </a:p>
        </p:txBody>
      </p:sp>
      <p:sp>
        <p:nvSpPr>
          <p:cNvPr id="12" name="Seam Owning the model"/>
          <p:cNvSpPr/>
          <p:nvPr/>
        </p:nvSpPr>
        <p:spPr>
          <a:xfrm>
            <a:off x="8066837" y="1783080"/>
            <a:ext cx="3484778" cy="1783080"/>
          </a:xfrm>
          <a:prstGeom prst="roundRect">
            <a:avLst>
              <a:gd name="adj" fmla="val 6154"/>
            </a:avLst>
          </a:prstGeom>
          <a:solidFill>
            <a:schemeClr val="bg1"/>
          </a:solidFill>
          <a:ln w="9525">
            <a:solidFill>
              <a:schemeClr val="accent5"/>
            </a:solidFill>
            <a:prstDash val="solid"/>
          </a:ln>
        </p:spPr>
        <p:txBody>
          <a:bodyPr/>
          <a:lstStyle/>
          <a:p>
            <a:endParaRPr lang="en-US"/>
          </a:p>
        </p:txBody>
      </p:sp>
      <p:sp>
        <p:nvSpPr>
          <p:cNvPr id="13" name="Text 11"/>
          <p:cNvSpPr txBox="1"/>
          <p:nvPr/>
        </p:nvSpPr>
        <p:spPr>
          <a:xfrm>
            <a:off x="8295437" y="1965960"/>
            <a:ext cx="3027578" cy="274320"/>
          </a:xfrm>
          <a:prstGeom prst="rect">
            <a:avLst/>
          </a:prstGeom>
          <a:noFill/>
          <a:ln/>
        </p:spPr>
        <p:txBody>
          <a:bodyPr wrap="square" lIns="0" tIns="0" rIns="0" bIns="0" rtlCol="0" anchor="t"/>
          <a:lstStyle/>
          <a:p>
            <a:pPr marL="0" indent="0">
              <a:buNone/>
            </a:pPr>
            <a:r>
              <a:rPr lang="en-US" sz="1200" b="1" dirty="0">
                <a:solidFill>
                  <a:schemeClr val="accent2"/>
                </a:solidFill>
              </a:rPr>
              <a:t>MAR 2026</a:t>
            </a:r>
            <a:endParaRPr lang="en-US" sz="1200" dirty="0"/>
          </a:p>
        </p:txBody>
      </p:sp>
      <p:sp>
        <p:nvSpPr>
          <p:cNvPr id="14" name="Text 12"/>
          <p:cNvSpPr txBox="1"/>
          <p:nvPr/>
        </p:nvSpPr>
        <p:spPr>
          <a:xfrm>
            <a:off x="8295437" y="2258568"/>
            <a:ext cx="3027578" cy="365760"/>
          </a:xfrm>
          <a:prstGeom prst="rect">
            <a:avLst/>
          </a:prstGeom>
          <a:noFill/>
          <a:ln/>
        </p:spPr>
        <p:txBody>
          <a:bodyPr wrap="square" lIns="0" tIns="0" rIns="0" bIns="0" rtlCol="0" anchor="t"/>
          <a:lstStyle/>
          <a:p>
            <a:pPr marL="0" indent="0">
              <a:buNone/>
            </a:pPr>
            <a:r>
              <a:rPr lang="en-US" sz="1800" b="1" dirty="0">
                <a:solidFill>
                  <a:schemeClr val="tx1"/>
                </a:solidFill>
              </a:rPr>
              <a:t>Owning the model</a:t>
            </a:r>
            <a:endParaRPr lang="en-US" sz="1800" dirty="0"/>
          </a:p>
        </p:txBody>
      </p:sp>
      <p:sp>
        <p:nvSpPr>
          <p:cNvPr id="15" name="Text 13"/>
          <p:cNvSpPr txBox="1"/>
          <p:nvPr/>
        </p:nvSpPr>
        <p:spPr>
          <a:xfrm>
            <a:off x="8295437" y="2670048"/>
            <a:ext cx="3027578" cy="822960"/>
          </a:xfrm>
          <a:prstGeom prst="rect">
            <a:avLst/>
          </a:prstGeom>
          <a:noFill/>
          <a:ln/>
        </p:spPr>
        <p:txBody>
          <a:bodyPr wrap="square" lIns="0" tIns="0" rIns="0" bIns="0" rtlCol="0" anchor="t"/>
          <a:lstStyle/>
          <a:p>
            <a:pPr marL="0" indent="0">
              <a:buNone/>
            </a:pPr>
            <a:r>
              <a:rPr lang="en-US" sz="1400" dirty="0">
                <a:solidFill>
                  <a:schemeClr val="tx2"/>
                </a:solidFill>
              </a:rPr>
              <a:t>Composer 2’s Kimi K2.5 base was not disclosed at launch; Cursor called it “a miss”</a:t>
            </a:r>
            <a:endParaRPr lang="en-US" sz="1400" dirty="0"/>
          </a:p>
        </p:txBody>
      </p:sp>
      <p:graphicFrame>
        <p:nvGraphicFramePr>
          <p:cNvPr id="16" name="Pricing table"/>
          <p:cNvGraphicFramePr>
            <a:graphicFrameLocks noGrp="1"/>
          </p:cNvGraphicFramePr>
          <p:nvPr>
            <p:extLst>
              <p:ext uri="{D42A27DB-BD31-4B8C-83A1-F6EECF244321}">
                <p14:modId xmlns:p14="http://schemas.microsoft.com/office/powerpoint/2010/main" val="1579011935"/>
              </p:ext>
            </p:extLst>
          </p:nvPr>
        </p:nvGraphicFramePr>
        <p:xfrm>
          <a:off x="640080" y="3840480"/>
          <a:ext cx="10911535" cy="914400"/>
        </p:xfrm>
        <a:graphic>
          <a:graphicData uri="http://schemas.openxmlformats.org/drawingml/2006/table">
            <a:tbl>
              <a:tblPr/>
              <a:tblGrid>
                <a:gridCol w="4327855">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384048">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Model ($ per 1M tokens)</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E6E3DC"/>
                    </a:solidFill>
                  </a:tcPr>
                </a:tc>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E6E3DC"/>
                    </a:solidFill>
                  </a:tcPr>
                </a:tc>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Output</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E6E3DC"/>
                    </a:solidFill>
                  </a:tcPr>
                </a:tc>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$20 Pro buys</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E6E3DC"/>
                    </a:solidFill>
                  </a:tcPr>
                </a:tc>
                <a:extLst>
                  <a:ext uri="{0D108BD9-81ED-4DB2-BD59-A6C34878D82A}">
                    <a16:rowId xmlns:a16="http://schemas.microsoft.com/office/drawing/2014/main" val="10000"/>
                  </a:ext>
                </a:extLst>
              </a:tr>
              <a:tr h="384048">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Composer 2 (Standard)</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$0.50</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$2.50</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[from runs]</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extLst>
                  <a:ext uri="{0D108BD9-81ED-4DB2-BD59-A6C34878D82A}">
                    <a16:rowId xmlns:a16="http://schemas.microsoft.com/office/drawing/2014/main" val="10001"/>
                  </a:ext>
                </a:extLst>
              </a:tr>
              <a:tr h="384048">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Claude Opus 4.6</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$5.00</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$25.00</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[from runs]</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extLst>
                  <a:ext uri="{0D108BD9-81ED-4DB2-BD59-A6C34878D82A}">
                    <a16:rowId xmlns:a16="http://schemas.microsoft.com/office/drawing/2014/main" val="10002"/>
                  </a:ext>
                </a:extLst>
              </a:tr>
              <a:tr h="384048">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GPT-5.4</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$2.50</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$15.00</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[from runs]</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extLst>
                  <a:ext uri="{0D108BD9-81ED-4DB2-BD59-A6C34878D82A}">
                    <a16:rowId xmlns:a16="http://schemas.microsoft.com/office/drawing/2014/main" val="10003"/>
                  </a:ext>
                </a:extLst>
              </a:tr>
            </a:tbl>
          </a:graphicData>
        </a:graphic>
      </p:graphicFrame>
      <p:sp>
        <p:nvSpPr>
          <p:cNvPr id="17" name="Text 14"/>
          <p:cNvSpPr txBox="1"/>
          <p:nvPr/>
        </p:nvSpPr>
        <p:spPr>
          <a:xfrm>
            <a:off x="3474720" y="6382512"/>
            <a:ext cx="7498080" cy="274320"/>
          </a:xfrm>
          <a:prstGeom prst="rect">
            <a:avLst/>
          </a:prstGeom>
          <a:noFill/>
          <a:ln/>
        </p:spPr>
        <p:txBody>
          <a:bodyPr wrap="square" lIns="0" tIns="0" rIns="0" bIns="0" rtlCol="0" anchor="t"/>
          <a:lstStyle/>
          <a:p>
            <a:pPr marL="0" indent="0" algn="r">
              <a:buNone/>
            </a:pPr>
            <a:r>
              <a:rPr lang="en-US" sz="1000" dirty="0">
                <a:solidFill>
                  <a:schemeClr val="accent4"/>
                </a:solidFill>
              </a:rPr>
              <a:t>[6] Clarifying our pricing (Jul 2025) · [7] Fortune (Apr 2025) · [8] DataCamp (Mar 2026), list prices at launch</a:t>
            </a:r>
            <a:endParaRPr lang="en-US" sz="1000" dirty="0"/>
          </a:p>
        </p:txBody>
      </p:sp>
      <p:sp>
        <p:nvSpPr>
          <p:cNvPr id="25" name="Slide Number Placeholder 0"/>
          <p:cNvSpPr>
            <a:spLocks noGrp="1"/>
          </p:cNvSpPr>
          <p:nvPr>
            <p:ph type="sldNum" sz="quarter" idx="4294967295"/>
          </p:nvPr>
        </p:nvSpPr>
        <p:spPr>
          <a:xfrm>
            <a:off x="11109960" y="6382512"/>
            <a:ext cx="4389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10911535" cy="292608"/>
          </a:xfrm>
          <a:prstGeom prst="rect">
            <a:avLst/>
          </a:prstGeom>
          <a:noFill/>
          <a:ln/>
        </p:spPr>
        <p:txBody>
          <a:bodyPr wrap="square" lIns="0" tIns="0" rIns="0" bIns="0" rtlCol="0" anchor="t"/>
          <a:lstStyle/>
          <a:p>
            <a:pPr marL="0" indent="0" algn="l">
              <a:buNone/>
            </a:pPr>
            <a:r>
              <a:rPr lang="en-US" sz="1200" b="1" kern="0" spc="200" dirty="0">
                <a:solidFill>
                  <a:schemeClr val="accent1"/>
                </a:solidFill>
              </a:rPr>
              <a:t>MEASURED BEHAVIOR · CANTING</a:t>
            </a:r>
            <a:endParaRPr lang="en-US" sz="1200" dirty="0"/>
          </a:p>
        </p:txBody>
      </p:sp>
      <p:sp>
        <p:nvSpPr>
          <p:cNvPr id="3" name="Text 0"/>
          <p:cNvSpPr>
            <a:spLocks noGrp="1"/>
          </p:cNvSpPr>
          <p:nvPr>
            <p:ph type="title" idx="101" hasCustomPrompt="1"/>
          </p:nvPr>
        </p:nvSpPr>
        <p:spPr>
          <a:xfrm>
            <a:off x="640080" y="749808"/>
            <a:ext cx="10911535" cy="731520"/>
          </a:xfrm>
          <a:prstGeom prst="rect">
            <a:avLst/>
          </a:prstGeom>
          <a:noFill/>
          <a:ln/>
        </p:spPr>
        <p:txBody>
          <a:bodyPr wrap="square" lIns="0" tIns="0" rIns="0" bIns="0" rtlCol="0" anchor="t"/>
          <a:lstStyle/>
          <a:p>
            <a:pPr marL="0" indent="0" algn="l">
              <a:buNone/>
            </a:pPr>
            <a:r>
              <a:rPr lang="en-US" sz="3200" b="1" dirty="0">
                <a:solidFill>
                  <a:schemeClr val="tx1"/>
                </a:solidFill>
              </a:rPr>
              <a:t>One task, four models: what we measured</a:t>
            </a:r>
            <a:endParaRPr lang="en-US" sz="3200" dirty="0"/>
          </a:p>
        </p:txBody>
      </p:sp>
      <p:sp>
        <p:nvSpPr>
          <p:cNvPr id="4" name="Text 2"/>
          <p:cNvSpPr txBox="1"/>
          <p:nvPr/>
        </p:nvSpPr>
        <p:spPr>
          <a:xfrm>
            <a:off x="640080" y="1737360"/>
            <a:ext cx="10911535" cy="365760"/>
          </a:xfrm>
          <a:prstGeom prst="rect">
            <a:avLst/>
          </a:prstGeom>
          <a:noFill/>
          <a:ln/>
        </p:spPr>
        <p:txBody>
          <a:bodyPr wrap="square" lIns="0" tIns="0" rIns="0" bIns="0" rtlCol="0" anchor="t"/>
          <a:lstStyle/>
          <a:p>
            <a:pPr marL="0" indent="0">
              <a:buNone/>
            </a:pPr>
            <a:r>
              <a:rPr lang="en-US" sz="1600" b="1" dirty="0">
                <a:solidFill>
                  <a:schemeClr val="tx1"/>
                </a:solidFill>
              </a:rPr>
              <a:t>Task: </a:t>
            </a:r>
            <a:r>
              <a:rPr lang="en-US" sz="1600" dirty="0">
                <a:solidFill>
                  <a:schemeClr val="tx2"/>
                </a:solidFill>
              </a:rPr>
              <a:t>add late fees to a small Python library repo; 6 visible tests, 9 hidden tests the agent never sees</a:t>
            </a:r>
            <a:endParaRPr lang="en-US" sz="1600" dirty="0"/>
          </a:p>
        </p:txBody>
      </p:sp>
      <p:graphicFrame>
        <p:nvGraphicFramePr>
          <p:cNvPr id="8" name="Results table"/>
          <p:cNvGraphicFramePr>
            <a:graphicFrameLocks noGrp="1"/>
          </p:cNvGraphicFramePr>
          <p:nvPr>
            <p:extLst>
              <p:ext uri="{D42A27DB-BD31-4B8C-83A1-F6EECF244321}">
                <p14:modId xmlns:p14="http://schemas.microsoft.com/office/powerpoint/2010/main" val="1579011935"/>
              </p:ext>
            </p:extLst>
          </p:nvPr>
        </p:nvGraphicFramePr>
        <p:xfrm>
          <a:off x="640080" y="2240280"/>
          <a:ext cx="10911535" cy="914400"/>
        </p:xfrm>
        <a:graphic>
          <a:graphicData uri="http://schemas.openxmlformats.org/drawingml/2006/table">
            <a:tbl>
              <a:tblPr/>
              <a:tblGrid>
                <a:gridCol w="3047695">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2651760">
                  <a:extLst>
                    <a:ext uri="{9D8B030D-6E8A-4147-A177-3AD203B41FA5}">
                      <a16:colId xmlns:a16="http://schemas.microsoft.com/office/drawing/2014/main" val="20004"/>
                    </a:ext>
                  </a:extLst>
                </a:gridCol>
              </a:tblGrid>
              <a:tr h="384048">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Model</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E6E3DC"/>
                    </a:solidFill>
                  </a:tcPr>
                </a:tc>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Tokens</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E6E3DC"/>
                    </a:solidFill>
                  </a:tcPr>
                </a:tc>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Latency (s)</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E6E3DC"/>
                    </a:solidFill>
                  </a:tcPr>
                </a:tc>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Tool calls</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E6E3DC"/>
                    </a:solidFill>
                  </a:tcPr>
                </a:tc>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Hidden tests (our Keep Rate)</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E6E3DC"/>
                    </a:solidFill>
                  </a:tcPr>
                </a:tc>
                <a:extLst>
                  <a:ext uri="{0D108BD9-81ED-4DB2-BD59-A6C34878D82A}">
                    <a16:rowId xmlns:a16="http://schemas.microsoft.com/office/drawing/2014/main" val="10000"/>
                  </a:ext>
                </a:extLst>
              </a:tr>
              <a:tr h="384048">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Grok 4.6 High Fast</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27.8k</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74</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19</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9 / 9</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extLst>
                  <a:ext uri="{0D108BD9-81ED-4DB2-BD59-A6C34878D82A}">
                    <a16:rowId xmlns:a16="http://schemas.microsoft.com/office/drawing/2014/main" val="10001"/>
                  </a:ext>
                </a:extLst>
              </a:tr>
              <a:tr h="384048">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[Frontier model 2]</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[__]</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[__]</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[__]</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[__]</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extLst>
                  <a:ext uri="{0D108BD9-81ED-4DB2-BD59-A6C34878D82A}">
                    <a16:rowId xmlns:a16="http://schemas.microsoft.com/office/drawing/2014/main" val="10002"/>
                  </a:ext>
                </a:extLst>
              </a:tr>
              <a:tr h="384048">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[Frontier model 3]</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[__]</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[__]</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[__]</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[__]</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extLst>
                  <a:ext uri="{0D108BD9-81ED-4DB2-BD59-A6C34878D82A}">
                    <a16:rowId xmlns:a16="http://schemas.microsoft.com/office/drawing/2014/main" val="10003"/>
                  </a:ext>
                </a:extLst>
              </a:tr>
              <a:tr h="384048">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Composer 2</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[__]</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[__]</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[__]</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[__]</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extLst>
                  <a:ext uri="{0D108BD9-81ED-4DB2-BD59-A6C34878D82A}">
                    <a16:rowId xmlns:a16="http://schemas.microsoft.com/office/drawing/2014/main" val="10004"/>
                  </a:ext>
                </a:extLst>
              </a:tr>
            </a:tbl>
          </a:graphicData>
        </a:graphic>
      </p:graphicFrame>
      <p:sp>
        <p:nvSpPr>
          <p:cNvPr id="6" name="Screenshot placeholder"/>
          <p:cNvSpPr/>
          <p:nvPr/>
        </p:nvSpPr>
        <p:spPr>
          <a:xfrm>
            <a:off x="640080" y="4343400"/>
            <a:ext cx="10911535" cy="1600200"/>
          </a:xfrm>
          <a:prstGeom prst="roundRect">
            <a:avLst>
              <a:gd name="adj" fmla="val 6857"/>
            </a:avLst>
          </a:prstGeom>
          <a:solidFill>
            <a:schemeClr val="bg1"/>
          </a:solidFill>
          <a:ln w="19050">
            <a:solidFill>
              <a:srgbClr val="B9B2A5"/>
            </a:solidFill>
            <a:prstDash val="dash"/>
          </a:ln>
        </p:spPr>
        <p:txBody>
          <a:bodyPr/>
          <a:lstStyle/>
          <a:p>
            <a:endParaRPr lang="en-US"/>
          </a:p>
        </p:txBody>
      </p:sp>
      <p:sp>
        <p:nvSpPr>
          <p:cNvPr id="7" name="Text 4"/>
          <p:cNvSpPr txBox="1"/>
          <p:nvPr/>
        </p:nvSpPr>
        <p:spPr>
          <a:xfrm>
            <a:off x="914400" y="4846320"/>
            <a:ext cx="10362895" cy="548640"/>
          </a:xfrm>
          <a:prstGeom prst="rect">
            <a:avLst/>
          </a:prstGeom>
          <a:noFill/>
          <a:ln/>
        </p:spPr>
        <p:txBody>
          <a:bodyPr wrap="square" lIns="0" tIns="0" rIns="0" bIns="0" rtlCol="0" anchor="ctr"/>
          <a:lstStyle/>
          <a:p>
            <a:pPr marL="0" indent="0" algn="ctr">
              <a:buNone/>
            </a:pPr>
            <a:r>
              <a:rPr lang="en-US" sz="1600" dirty="0">
                <a:solidFill>
                  <a:schemeClr val="accent4"/>
                </a:solidFill>
              </a:rPr>
              <a:t>[Screenshot sequence of one run: prompt sent · tool calls · diff review · tests passing]</a:t>
            </a:r>
            <a:endParaRPr lang="en-US" sz="1600" dirty="0"/>
          </a:p>
        </p:txBody>
      </p:sp>
      <p:sp>
        <p:nvSpPr>
          <p:cNvPr id="5" name="Text 5"/>
          <p:cNvSpPr txBox="1"/>
          <p:nvPr/>
        </p:nvSpPr>
        <p:spPr>
          <a:xfrm>
            <a:off x="3474720" y="6382512"/>
            <a:ext cx="7498080" cy="274320"/>
          </a:xfrm>
          <a:prstGeom prst="rect">
            <a:avLst/>
          </a:prstGeom>
          <a:noFill/>
          <a:ln/>
        </p:spPr>
        <p:txBody>
          <a:bodyPr wrap="square" lIns="0" tIns="0" rIns="0" bIns="0" rtlCol="0" anchor="t"/>
          <a:lstStyle/>
          <a:p>
            <a:pPr marL="0" indent="0" algn="r">
              <a:buNone/>
            </a:pPr>
            <a:r>
              <a:rPr lang="en-US" sz="1000" dirty="0">
                <a:solidFill>
                  <a:schemeClr val="accent4"/>
                </a:solidFill>
              </a:rPr>
              <a:t>Source: our own runs, Oct 2026</a:t>
            </a:r>
            <a:endParaRPr lang="en-US" sz="1000" dirty="0"/>
          </a:p>
        </p:txBody>
      </p:sp>
      <p:sp>
        <p:nvSpPr>
          <p:cNvPr id="25" name="Slide Number Placeholder 0"/>
          <p:cNvSpPr>
            <a:spLocks noGrp="1"/>
          </p:cNvSpPr>
          <p:nvPr>
            <p:ph type="sldNum" sz="quarter" idx="4294967295"/>
          </p:nvPr>
        </p:nvSpPr>
        <p:spPr>
          <a:xfrm>
            <a:off x="11109960" y="6382512"/>
            <a:ext cx="4389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548640"/>
            <a:ext cx="10911535" cy="292608"/>
          </a:xfrm>
          <a:prstGeom prst="rect">
            <a:avLst/>
          </a:prstGeom>
          <a:noFill/>
          <a:ln/>
        </p:spPr>
        <p:txBody>
          <a:bodyPr wrap="square" lIns="0" tIns="0" rIns="0" bIns="0" rtlCol="0" anchor="t"/>
          <a:lstStyle/>
          <a:p>
            <a:pPr marL="0" indent="0" algn="l">
              <a:buNone/>
            </a:pPr>
            <a:r>
              <a:rPr lang="en-US" sz="1200" b="1" kern="0" spc="200" dirty="0">
                <a:solidFill>
                  <a:schemeClr val="accent3"/>
                </a:solidFill>
              </a:rPr>
              <a:t>VERDICT · CANTING</a:t>
            </a:r>
            <a:endParaRPr lang="en-US" sz="1200" dirty="0"/>
          </a:p>
        </p:txBody>
      </p:sp>
      <p:sp>
        <p:nvSpPr>
          <p:cNvPr id="3" name="Text 0"/>
          <p:cNvSpPr>
            <a:spLocks noGrp="1"/>
          </p:cNvSpPr>
          <p:nvPr>
            <p:ph type="title" idx="101" hasCustomPrompt="1"/>
          </p:nvPr>
        </p:nvSpPr>
        <p:spPr>
          <a:xfrm>
            <a:off x="640080" y="1737360"/>
            <a:ext cx="10911535" cy="1188720"/>
          </a:xfrm>
          <a:prstGeom prst="rect">
            <a:avLst/>
          </a:prstGeom>
          <a:noFill/>
          <a:ln/>
        </p:spPr>
        <p:txBody>
          <a:bodyPr wrap="square" lIns="0" tIns="0" rIns="0" bIns="0" rtlCol="0" anchor="t"/>
          <a:lstStyle/>
          <a:p>
            <a:pPr marL="0" indent="0" algn="l">
              <a:buNone/>
            </a:pPr>
            <a:r>
              <a:rPr lang="en-US" sz="4000" b="1" dirty="0">
                <a:solidFill>
                  <a:schemeClr val="bg2"/>
                </a:solidFill>
              </a:rPr>
              <a:t>The moat is the harness, not the model</a:t>
            </a:r>
            <a:endParaRPr lang="en-US" sz="4000" dirty="0"/>
          </a:p>
        </p:txBody>
      </p:sp>
      <p:sp>
        <p:nvSpPr>
          <p:cNvPr id="4" name="Verdict Explicit"/>
          <p:cNvSpPr/>
          <p:nvPr/>
        </p:nvSpPr>
        <p:spPr>
          <a:xfrm>
            <a:off x="640080" y="3246120"/>
            <a:ext cx="3484778" cy="1508760"/>
          </a:xfrm>
          <a:prstGeom prst="roundRect">
            <a:avLst>
              <a:gd name="adj" fmla="val 7273"/>
            </a:avLst>
          </a:prstGeom>
          <a:solidFill>
            <a:srgbClr val="232833"/>
          </a:solidFill>
          <a:ln w="12700">
            <a:solidFill>
              <a:srgbClr val="232833"/>
            </a:solidFill>
            <a:prstDash val="solid"/>
          </a:ln>
        </p:spPr>
        <p:txBody>
          <a:bodyPr/>
          <a:lstStyle/>
          <a:p>
            <a:endParaRPr lang="en-US"/>
          </a:p>
        </p:txBody>
      </p:sp>
      <p:sp>
        <p:nvSpPr>
          <p:cNvPr id="5" name="Text 3"/>
          <p:cNvSpPr txBox="1"/>
          <p:nvPr/>
        </p:nvSpPr>
        <p:spPr>
          <a:xfrm>
            <a:off x="914400" y="3429000"/>
            <a:ext cx="2936138" cy="411480"/>
          </a:xfrm>
          <a:prstGeom prst="rect">
            <a:avLst/>
          </a:prstGeom>
          <a:noFill/>
          <a:ln/>
        </p:spPr>
        <p:txBody>
          <a:bodyPr wrap="square" lIns="0" tIns="0" rIns="0" bIns="0" rtlCol="0" anchor="t"/>
          <a:lstStyle/>
          <a:p>
            <a:pPr marL="0" indent="0">
              <a:buNone/>
            </a:pPr>
            <a:r>
              <a:rPr lang="en-US" sz="2000" b="1" dirty="0">
                <a:solidFill>
                  <a:schemeClr val="accent3"/>
                </a:solidFill>
              </a:rPr>
              <a:t>Explicit</a:t>
            </a:r>
            <a:endParaRPr lang="en-US" sz="2000" dirty="0"/>
          </a:p>
        </p:txBody>
      </p:sp>
      <p:sp>
        <p:nvSpPr>
          <p:cNvPr id="6" name="Text 4"/>
          <p:cNvSpPr txBox="1"/>
          <p:nvPr/>
        </p:nvSpPr>
        <p:spPr>
          <a:xfrm>
            <a:off x="914400" y="3886200"/>
            <a:ext cx="2936138" cy="777240"/>
          </a:xfrm>
          <a:prstGeom prst="rect">
            <a:avLst/>
          </a:prstGeom>
          <a:noFill/>
          <a:ln/>
        </p:spPr>
        <p:txBody>
          <a:bodyPr wrap="square" lIns="0" tIns="0" rIns="0" bIns="0" rtlCol="0" anchor="t"/>
          <a:lstStyle/>
          <a:p>
            <a:pPr marL="0" indent="0">
              <a:buNone/>
            </a:pPr>
            <a:r>
              <a:rPr lang="en-US" sz="1500" dirty="0">
                <a:solidFill>
                  <a:schemeClr val="accent6"/>
                </a:solidFill>
              </a:rPr>
              <a:t>State and interfaces, engineered per vendor</a:t>
            </a:r>
            <a:endParaRPr lang="en-US" sz="1500" dirty="0"/>
          </a:p>
        </p:txBody>
      </p:sp>
      <p:sp>
        <p:nvSpPr>
          <p:cNvPr id="7" name="Verdict Latent but owned"/>
          <p:cNvSpPr/>
          <p:nvPr/>
        </p:nvSpPr>
        <p:spPr>
          <a:xfrm>
            <a:off x="4353458" y="3246120"/>
            <a:ext cx="3484778" cy="1508760"/>
          </a:xfrm>
          <a:prstGeom prst="roundRect">
            <a:avLst>
              <a:gd name="adj" fmla="val 7273"/>
            </a:avLst>
          </a:prstGeom>
          <a:solidFill>
            <a:srgbClr val="232833"/>
          </a:solidFill>
          <a:ln w="12700">
            <a:solidFill>
              <a:srgbClr val="232833"/>
            </a:solidFill>
            <a:prstDash val="solid"/>
          </a:ln>
        </p:spPr>
        <p:txBody>
          <a:bodyPr/>
          <a:lstStyle/>
          <a:p>
            <a:endParaRPr lang="en-US"/>
          </a:p>
        </p:txBody>
      </p:sp>
      <p:sp>
        <p:nvSpPr>
          <p:cNvPr id="8" name="Text 6"/>
          <p:cNvSpPr txBox="1"/>
          <p:nvPr/>
        </p:nvSpPr>
        <p:spPr>
          <a:xfrm>
            <a:off x="4627778" y="3429000"/>
            <a:ext cx="2936138" cy="411480"/>
          </a:xfrm>
          <a:prstGeom prst="rect">
            <a:avLst/>
          </a:prstGeom>
          <a:noFill/>
          <a:ln/>
        </p:spPr>
        <p:txBody>
          <a:bodyPr wrap="square" lIns="0" tIns="0" rIns="0" bIns="0" rtlCol="0" anchor="t"/>
          <a:lstStyle/>
          <a:p>
            <a:pPr marL="0" indent="0">
              <a:buNone/>
            </a:pPr>
            <a:r>
              <a:rPr lang="en-US" sz="2000" b="1" dirty="0">
                <a:solidFill>
                  <a:schemeClr val="accent3"/>
                </a:solidFill>
              </a:rPr>
              <a:t>Latent but owned</a:t>
            </a:r>
            <a:endParaRPr lang="en-US" sz="2000" dirty="0"/>
          </a:p>
        </p:txBody>
      </p:sp>
      <p:sp>
        <p:nvSpPr>
          <p:cNvPr id="9" name="Text 7"/>
          <p:cNvSpPr txBox="1"/>
          <p:nvPr/>
        </p:nvSpPr>
        <p:spPr>
          <a:xfrm>
            <a:off x="4627778" y="3886200"/>
            <a:ext cx="2936138" cy="777240"/>
          </a:xfrm>
          <a:prstGeom prst="rect">
            <a:avLst/>
          </a:prstGeom>
          <a:noFill/>
          <a:ln/>
        </p:spPr>
        <p:txBody>
          <a:bodyPr wrap="square" lIns="0" tIns="0" rIns="0" bIns="0" rtlCol="0" anchor="t"/>
          <a:lstStyle/>
          <a:p>
            <a:pPr marL="0" indent="0">
              <a:buNone/>
            </a:pPr>
            <a:r>
              <a:rPr lang="en-US" sz="1500" dirty="0">
                <a:solidFill>
                  <a:schemeClr val="accent6"/>
                </a:solidFill>
              </a:rPr>
              <a:t>Policy, trained inside Cursor’s own harness</a:t>
            </a:r>
            <a:endParaRPr lang="en-US" sz="1500" dirty="0"/>
          </a:p>
        </p:txBody>
      </p:sp>
      <p:sp>
        <p:nvSpPr>
          <p:cNvPr id="10" name="Verdict Missing"/>
          <p:cNvSpPr/>
          <p:nvPr/>
        </p:nvSpPr>
        <p:spPr>
          <a:xfrm>
            <a:off x="8066837" y="3246120"/>
            <a:ext cx="3484778" cy="1508760"/>
          </a:xfrm>
          <a:prstGeom prst="roundRect">
            <a:avLst>
              <a:gd name="adj" fmla="val 7273"/>
            </a:avLst>
          </a:prstGeom>
          <a:solidFill>
            <a:srgbClr val="232833"/>
          </a:solidFill>
          <a:ln w="12700">
            <a:solidFill>
              <a:srgbClr val="232833"/>
            </a:solidFill>
            <a:prstDash val="solid"/>
          </a:ln>
        </p:spPr>
        <p:txBody>
          <a:bodyPr/>
          <a:lstStyle/>
          <a:p>
            <a:endParaRPr lang="en-US"/>
          </a:p>
        </p:txBody>
      </p:sp>
      <p:sp>
        <p:nvSpPr>
          <p:cNvPr id="11" name="Text 9"/>
          <p:cNvSpPr txBox="1"/>
          <p:nvPr/>
        </p:nvSpPr>
        <p:spPr>
          <a:xfrm>
            <a:off x="8341157" y="3429000"/>
            <a:ext cx="2936138" cy="411480"/>
          </a:xfrm>
          <a:prstGeom prst="rect">
            <a:avLst/>
          </a:prstGeom>
          <a:noFill/>
          <a:ln/>
        </p:spPr>
        <p:txBody>
          <a:bodyPr wrap="square" lIns="0" tIns="0" rIns="0" bIns="0" rtlCol="0" anchor="t"/>
          <a:lstStyle/>
          <a:p>
            <a:pPr marL="0" indent="0">
              <a:buNone/>
            </a:pPr>
            <a:r>
              <a:rPr lang="en-US" sz="2000" b="1" dirty="0">
                <a:solidFill>
                  <a:schemeClr val="accent3"/>
                </a:solidFill>
              </a:rPr>
              <a:t>Missing</a:t>
            </a:r>
            <a:endParaRPr lang="en-US" sz="2000" dirty="0"/>
          </a:p>
        </p:txBody>
      </p:sp>
      <p:sp>
        <p:nvSpPr>
          <p:cNvPr id="12" name="Text 10"/>
          <p:cNvSpPr txBox="1"/>
          <p:nvPr/>
        </p:nvSpPr>
        <p:spPr>
          <a:xfrm>
            <a:off x="8341157" y="3886200"/>
            <a:ext cx="2936138" cy="777240"/>
          </a:xfrm>
          <a:prstGeom prst="rect">
            <a:avLst/>
          </a:prstGeom>
          <a:noFill/>
          <a:ln/>
        </p:spPr>
        <p:txBody>
          <a:bodyPr wrap="square" lIns="0" tIns="0" rIns="0" bIns="0" rtlCol="0" anchor="t"/>
          <a:lstStyle/>
          <a:p>
            <a:pPr marL="0" indent="0">
              <a:buNone/>
            </a:pPr>
            <a:r>
              <a:rPr lang="en-US" sz="1500" dirty="0">
                <a:solidFill>
                  <a:schemeClr val="accent6"/>
                </a:solidFill>
              </a:rPr>
              <a:t>Grounding outside the repo; a measure of the user’s real goal</a:t>
            </a:r>
            <a:endParaRPr lang="en-US" sz="1500" dirty="0"/>
          </a:p>
        </p:txBody>
      </p:sp>
      <p:sp>
        <p:nvSpPr>
          <p:cNvPr id="13" name="Text 11"/>
          <p:cNvSpPr txBox="1"/>
          <p:nvPr/>
        </p:nvSpPr>
        <p:spPr>
          <a:xfrm>
            <a:off x="640080" y="5166360"/>
            <a:ext cx="10911535" cy="411480"/>
          </a:xfrm>
          <a:prstGeom prst="rect">
            <a:avLst/>
          </a:prstGeom>
          <a:noFill/>
          <a:ln/>
        </p:spPr>
        <p:txBody>
          <a:bodyPr wrap="square" lIns="0" tIns="0" rIns="0" bIns="0" rtlCol="0" anchor="t"/>
          <a:lstStyle/>
          <a:p>
            <a:pPr marL="0" indent="0">
              <a:buNone/>
            </a:pPr>
            <a:r>
              <a:rPr lang="en-US" sz="1600" i="1" dirty="0">
                <a:solidFill>
                  <a:srgbClr val="9AA1AE"/>
                </a:solidFill>
              </a:rPr>
              <a:t>[One line on what our measurements add]</a:t>
            </a:r>
            <a:endParaRPr lang="en-US" sz="1600" dirty="0"/>
          </a:p>
        </p:txBody>
      </p:sp>
      <p:sp>
        <p:nvSpPr>
          <p:cNvPr id="14" name="Text 12"/>
          <p:cNvSpPr txBox="1"/>
          <p:nvPr/>
        </p:nvSpPr>
        <p:spPr>
          <a:xfrm>
            <a:off x="640080" y="6172200"/>
            <a:ext cx="3657600" cy="365760"/>
          </a:xfrm>
          <a:prstGeom prst="rect">
            <a:avLst/>
          </a:prstGeom>
          <a:noFill/>
          <a:ln/>
        </p:spPr>
        <p:txBody>
          <a:bodyPr wrap="square" lIns="0" tIns="0" rIns="0" bIns="0" rtlCol="0" anchor="t"/>
          <a:lstStyle/>
          <a:p>
            <a:pPr marL="0" indent="0">
              <a:buNone/>
            </a:pPr>
            <a:r>
              <a:rPr lang="en-US" sz="1400" dirty="0">
                <a:solidFill>
                  <a:srgbClr val="9AA1AE"/>
                </a:solidFill>
              </a:rPr>
              <a:t>Questions</a:t>
            </a:r>
            <a:endParaRPr lang="en-US" sz="1400" dirty="0"/>
          </a:p>
        </p:txBody>
      </p:sp>
    </p:spTree>
  </p:cSld>
  <p:clrMapOvr>
    <a:masterClrMapping/>
  </p:clrMapOvr>
</p:sld>
</file>

<file path=ppt/theme/theme1.xml><?xml version="1.0" encoding="utf-8"?>
<a:theme xmlns:a="http://schemas.openxmlformats.org/drawingml/2006/main" name="Cursor Case Study">
  <a:themeElements>
    <a:clrScheme name="Cursor Case Study">
      <a:dk1>
        <a:srgbClr val="161A22"/>
      </a:dk1>
      <a:lt1>
        <a:srgbClr val="FCFBF8"/>
      </a:lt1>
      <a:dk2>
        <a:srgbClr val="3D4452"/>
      </a:dk2>
      <a:lt2>
        <a:srgbClr val="F5F3EE"/>
      </a:lt2>
      <a:accent1>
        <a:srgbClr val="A84E14"/>
      </a:accent1>
      <a:accent2>
        <a:srgbClr val="2C64A8"/>
      </a:accent2>
      <a:accent3>
        <a:srgbClr val="F0A060"/>
      </a:accent3>
      <a:accent4>
        <a:srgbClr val="6B7280"/>
      </a:accent4>
      <a:accent5>
        <a:srgbClr val="DDD8CE"/>
      </a:accent5>
      <a:accent6>
        <a:srgbClr val="C9CED8"/>
      </a:accent6>
      <a:hlink>
        <a:srgbClr val="2C64A8"/>
      </a:hlink>
      <a:folHlink>
        <a:srgbClr val="6B7280"/>
      </a:folHlink>
    </a:clrScheme>
    <a:fontScheme name="Cursor Case Study">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1823</Words>
  <Application>Microsoft Office PowerPoint</Application>
  <PresentationFormat>Widescreen</PresentationFormat>
  <Paragraphs>179</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Cursor Case Study</vt:lpstr>
      <vt:lpstr>Cursor</vt:lpstr>
      <vt:lpstr>Cursor rents the model and builds the harness</vt:lpstr>
      <vt:lpstr>What goes in the context window for one request</vt:lpstr>
      <vt:lpstr>Policy: latent, but trained and fenced</vt:lpstr>
      <vt:lpstr>One real session, every turn labeled</vt:lpstr>
      <vt:lpstr>Where the seams show, and what they cost</vt:lpstr>
      <vt:lpstr>One task, four models: what we measured</vt:lpstr>
      <vt:lpstr>The moat is the harness, not the model</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Cursor Case Study (Fair A)</dc:title>
  <dc:subject>PptxGenJS Presentation</dc:subject>
  <dc:creator>Greyson, Michael, Heeba, Canting</dc:creator>
  <cp:lastModifiedBy>Winnie Kroculick</cp:lastModifiedBy>
  <cp:revision>1</cp:revision>
  <dcterms:created xsi:type="dcterms:W3CDTF">2026-10-26T18:28:16Z</dcterms:created>
  <dcterms:modified xsi:type="dcterms:W3CDTF">2026-10-26T22:35:20Z</dcterms:modified>
</cp:coreProperties>
</file>