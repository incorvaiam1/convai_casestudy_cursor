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43891200" cy="32918400"/>
  <p:notesSz cx="32918400" cy="438912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Poster for Case-Study Fair A (Cursor, System A4). All placeholders filled.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AABAC9"/>
        </a:solidFill>
      </p:bgPr>
    </p:bg>
    <p:spTree>
      <p:nvGrpSpPr>
        <p:cNvPr id="1" name=""/>
        <p:cNvGrpSpPr/>
        <p:nvPr/>
      </p:nvGrpSpPr>
      <p:grpSpPr>
        <a:xfrm>
          <a:off x="0" y="0"/>
          <a:ext cx="0" cy="0"/>
          <a:chOff x="0" y="0"/>
          <a:chExt cx="0" cy="0"/>
        </a:xfrm>
      </p:grpSpPr>
      <p:sp>
        <p:nvSpPr>
          <p:cNvPr id="2" name="Header"/>
          <p:cNvSpPr/>
          <p:nvPr/>
        </p:nvSpPr>
        <p:spPr>
          <a:xfrm>
            <a:off x="0" y="0"/>
            <a:ext cx="43891200" cy="4937760"/>
          </a:xfrm>
          <a:prstGeom prst="rect">
            <a:avLst/>
          </a:prstGeom>
          <a:solidFill>
            <a:srgbClr val="003057"/>
          </a:solidFill>
          <a:ln w="6350">
            <a:solidFill>
              <a:srgbClr val="003057"/>
            </a:solidFill>
            <a:prstDash val="solid"/>
          </a:ln>
        </p:spPr>
      </p:sp>
      <p:sp>
        <p:nvSpPr>
          <p:cNvPr id="3" name="Header gold band"/>
          <p:cNvSpPr/>
          <p:nvPr/>
        </p:nvSpPr>
        <p:spPr>
          <a:xfrm>
            <a:off x="0" y="4937760"/>
            <a:ext cx="43891200" cy="411480"/>
          </a:xfrm>
          <a:prstGeom prst="rect">
            <a:avLst/>
          </a:prstGeom>
          <a:solidFill>
            <a:srgbClr val="B3A369"/>
          </a:solidFill>
          <a:ln w="6350">
            <a:solidFill>
              <a:srgbClr val="B3A369"/>
            </a:solidFill>
            <a:prstDash val="solid"/>
          </a:ln>
        </p:spPr>
      </p:sp>
      <p:pic>
        <p:nvPicPr>
          <p:cNvPr id="4" name="Georgia Tech logo" descr="Georgia Tech logo">    </p:cNvPr>
          <p:cNvPicPr>
            <a:picLocks noChangeAspect="1"/>
          </p:cNvPicPr>
          <p:nvPr/>
        </p:nvPicPr>
        <p:blipFill>
          <a:blip r:embed="rId1"/>
          <a:stretch>
            <a:fillRect/>
          </a:stretch>
        </p:blipFill>
        <p:spPr>
          <a:xfrm>
            <a:off x="914400" y="1097280"/>
            <a:ext cx="7752803" cy="2743200"/>
          </a:xfrm>
          <a:prstGeom prst="rect">
            <a:avLst/>
          </a:prstGeom>
        </p:spPr>
      </p:pic>
      <p:sp>
        <p:nvSpPr>
          <p:cNvPr id="5" name="Text 2"/>
          <p:cNvSpPr txBox="1"/>
          <p:nvPr/>
        </p:nvSpPr>
        <p:spPr>
          <a:xfrm>
            <a:off x="10241280" y="685800"/>
            <a:ext cx="32918400" cy="1280160"/>
          </a:xfrm>
          <a:prstGeom prst="rect">
            <a:avLst/>
          </a:prstGeom>
          <a:noFill/>
          <a:ln/>
        </p:spPr>
        <p:txBody>
          <a:bodyPr wrap="square" lIns="0" tIns="0" rIns="0" bIns="0" rtlCol="0" anchor="t"/>
          <a:lstStyle/>
          <a:p>
            <a:pPr algn="ctr" indent="0" marL="0">
              <a:buNone/>
            </a:pPr>
            <a:r>
              <a:rPr lang="en-US" sz="6600" b="1" dirty="0">
                <a:solidFill>
                  <a:srgbClr val="FFFFFF"/>
                </a:solidFill>
                <a:latin typeface="Arial" pitchFamily="34" charset="0"/>
                <a:ea typeface="Arial" pitchFamily="34" charset="-122"/>
                <a:cs typeface="Arial" pitchFamily="34" charset="-120"/>
              </a:rPr>
              <a:t>Cursor: An Agent Harness Around Rented Models</a:t>
            </a:r>
            <a:endParaRPr lang="en-US" sz="6600" dirty="0"/>
          </a:p>
        </p:txBody>
      </p:sp>
      <p:sp>
        <p:nvSpPr>
          <p:cNvPr id="6" name="Text 3"/>
          <p:cNvSpPr txBox="1"/>
          <p:nvPr/>
        </p:nvSpPr>
        <p:spPr>
          <a:xfrm>
            <a:off x="10241280" y="2057400"/>
            <a:ext cx="32918400" cy="822960"/>
          </a:xfrm>
          <a:prstGeom prst="rect">
            <a:avLst/>
          </a:prstGeom>
          <a:noFill/>
          <a:ln/>
        </p:spPr>
        <p:txBody>
          <a:bodyPr wrap="square" lIns="0" tIns="0" rIns="0" bIns="0" rtlCol="0" anchor="t"/>
          <a:lstStyle/>
          <a:p>
            <a:pPr algn="ctr" indent="0" marL="0">
              <a:buNone/>
            </a:pPr>
            <a:r>
              <a:rPr lang="en-US" sz="4000" dirty="0">
                <a:solidFill>
                  <a:srgbClr val="DCE3EA"/>
                </a:solidFill>
                <a:latin typeface="Arial" pitchFamily="34" charset="0"/>
                <a:ea typeface="Arial" pitchFamily="34" charset="-122"/>
                <a:cs typeface="Arial" pitchFamily="34" charset="-120"/>
              </a:rPr>
              <a:t>What is explicit, what went latent, and where the seams show</a:t>
            </a:r>
            <a:endParaRPr lang="en-US" sz="4000" dirty="0"/>
          </a:p>
        </p:txBody>
      </p:sp>
      <p:sp>
        <p:nvSpPr>
          <p:cNvPr id="7" name="Text 4"/>
          <p:cNvSpPr txBox="1"/>
          <p:nvPr/>
        </p:nvSpPr>
        <p:spPr>
          <a:xfrm>
            <a:off x="10241280" y="3108960"/>
            <a:ext cx="32918400" cy="640080"/>
          </a:xfrm>
          <a:prstGeom prst="rect">
            <a:avLst/>
          </a:prstGeom>
          <a:noFill/>
          <a:ln/>
        </p:spPr>
        <p:txBody>
          <a:bodyPr wrap="square" lIns="0" tIns="0" rIns="0" bIns="0" rtlCol="0" anchor="t"/>
          <a:lstStyle/>
          <a:p>
            <a:pPr algn="ctr" indent="0" marL="0">
              <a:buNone/>
            </a:pPr>
            <a:r>
              <a:rPr lang="en-US" sz="3400" b="1" dirty="0">
                <a:solidFill>
                  <a:srgbClr val="FFFFFF"/>
                </a:solidFill>
                <a:latin typeface="Arial" pitchFamily="34" charset="0"/>
                <a:ea typeface="Arial" pitchFamily="34" charset="-122"/>
                <a:cs typeface="Arial" pitchFamily="34" charset="-120"/>
              </a:rPr>
              <a:t>Greyson McReynolds, Michael Incorvaia, Heeba Merchant, Canting Zhu</a:t>
            </a:r>
            <a:endParaRPr lang="en-US" sz="3400" dirty="0"/>
          </a:p>
        </p:txBody>
      </p:sp>
      <p:sp>
        <p:nvSpPr>
          <p:cNvPr id="8" name="Text 5"/>
          <p:cNvSpPr txBox="1"/>
          <p:nvPr/>
        </p:nvSpPr>
        <p:spPr>
          <a:xfrm>
            <a:off x="10241280" y="3840480"/>
            <a:ext cx="32918400" cy="548640"/>
          </a:xfrm>
          <a:prstGeom prst="rect">
            <a:avLst/>
          </a:prstGeom>
          <a:noFill/>
          <a:ln/>
        </p:spPr>
        <p:txBody>
          <a:bodyPr wrap="square" lIns="0" tIns="0" rIns="0" bIns="0" rtlCol="0" anchor="t"/>
          <a:lstStyle/>
          <a:p>
            <a:pPr algn="ctr" indent="0" marL="0">
              <a:buNone/>
            </a:pPr>
            <a:r>
              <a:rPr lang="en-US" sz="2400" dirty="0">
                <a:solidFill>
                  <a:srgbClr val="C9D3DD"/>
                </a:solidFill>
                <a:latin typeface="Arial" pitchFamily="34" charset="0"/>
                <a:ea typeface="Arial" pitchFamily="34" charset="-122"/>
                <a:cs typeface="Arial" pitchFamily="34" charset="-120"/>
              </a:rPr>
              <a:t>ECE 6256 / CS 6604 Conversational AI · Prof. Larry Heck · Case-Study Fair A, System A4 · Georgia Institute of Technology</a:t>
            </a:r>
            <a:endParaRPr lang="en-US" sz="2400" dirty="0"/>
          </a:p>
        </p:txBody>
      </p:sp>
      <p:sp>
        <p:nvSpPr>
          <p:cNvPr id="9" name="Panel The System and the Question"/>
          <p:cNvSpPr/>
          <p:nvPr/>
        </p:nvSpPr>
        <p:spPr>
          <a:xfrm>
            <a:off x="548640" y="5897880"/>
            <a:ext cx="13898880" cy="7223760"/>
          </a:xfrm>
          <a:prstGeom prst="rect">
            <a:avLst/>
          </a:prstGeom>
          <a:solidFill>
            <a:srgbClr val="FFFFFF"/>
          </a:solidFill>
          <a:ln w="6350">
            <a:solidFill>
              <a:srgbClr val="FFFFFF"/>
            </a:solidFill>
            <a:prstDash val="solid"/>
          </a:ln>
        </p:spPr>
      </p:sp>
      <p:sp>
        <p:nvSpPr>
          <p:cNvPr id="10" name="Panel header The System and the Question"/>
          <p:cNvSpPr/>
          <p:nvPr/>
        </p:nvSpPr>
        <p:spPr>
          <a:xfrm>
            <a:off x="548640" y="5897880"/>
            <a:ext cx="13898880" cy="960120"/>
          </a:xfrm>
          <a:prstGeom prst="rect">
            <a:avLst/>
          </a:prstGeom>
          <a:solidFill>
            <a:srgbClr val="003057"/>
          </a:solidFill>
          <a:ln w="6350">
            <a:solidFill>
              <a:srgbClr val="003057"/>
            </a:solidFill>
            <a:prstDash val="solid"/>
          </a:ln>
        </p:spPr>
      </p:sp>
      <p:sp>
        <p:nvSpPr>
          <p:cNvPr id="11" name="Text 8"/>
          <p:cNvSpPr txBox="1"/>
          <p:nvPr/>
        </p:nvSpPr>
        <p:spPr>
          <a:xfrm>
            <a:off x="548640" y="5897880"/>
            <a:ext cx="13898880" cy="960120"/>
          </a:xfrm>
          <a:prstGeom prst="rect">
            <a:avLst/>
          </a:prstGeom>
          <a:noFill/>
          <a:ln/>
        </p:spPr>
        <p:txBody>
          <a:bodyPr wrap="square" lIns="0" tIns="0" rIns="0" bIns="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The System and the Question</a:t>
            </a:r>
            <a:endParaRPr lang="en-US" sz="4000" dirty="0"/>
          </a:p>
        </p:txBody>
      </p:sp>
      <p:sp>
        <p:nvSpPr>
          <p:cNvPr id="12" name="Text 9"/>
          <p:cNvSpPr txBox="1"/>
          <p:nvPr/>
        </p:nvSpPr>
        <p:spPr>
          <a:xfrm>
            <a:off x="914400" y="7223760"/>
            <a:ext cx="13167360" cy="1737360"/>
          </a:xfrm>
          <a:prstGeom prst="rect">
            <a:avLst/>
          </a:prstGeom>
          <a:noFill/>
          <a:ln/>
        </p:spPr>
        <p:txBody>
          <a:bodyPr wrap="square" lIns="0" tIns="0" rIns="0" bIns="0" rtlCol="0" anchor="t"/>
          <a:lstStyle/>
          <a:p>
            <a:pPr indent="0" marL="0">
              <a:buNone/>
            </a:pPr>
            <a:r>
              <a:rPr lang="en-US" sz="2500" dirty="0">
                <a:solidFill>
                  <a:srgbClr val="333F4B"/>
                </a:solidFill>
                <a:latin typeface="Arial" pitchFamily="34" charset="0"/>
                <a:ea typeface="Arial" pitchFamily="34" charset="-122"/>
                <a:cs typeface="Arial" pitchFamily="34" charset="-120"/>
              </a:rPr>
              <a:t>Cursor (Anysphere) is an AI code editor forked from VS Code. It wraps frontier models from Anthropic, OpenAI, Google and xAI, plus its own models (Tab, Composer 2), in an agent harness that reads, searches, edits and runs a developer’s repo. The “world” the dialogue acts on is the codebase and the terminal.</a:t>
            </a:r>
            <a:endParaRPr lang="en-US" sz="2500" dirty="0"/>
          </a:p>
        </p:txBody>
      </p:sp>
      <p:sp>
        <p:nvSpPr>
          <p:cNvPr id="13" name="Standing question"/>
          <p:cNvSpPr/>
          <p:nvPr/>
        </p:nvSpPr>
        <p:spPr>
          <a:xfrm>
            <a:off x="914400" y="9098280"/>
            <a:ext cx="13167360" cy="1965960"/>
          </a:xfrm>
          <a:prstGeom prst="roundRect">
            <a:avLst>
              <a:gd name="adj" fmla="val 6977"/>
            </a:avLst>
          </a:prstGeom>
          <a:solidFill>
            <a:srgbClr val="E8EEF4"/>
          </a:solidFill>
          <a:ln w="12700">
            <a:solidFill>
              <a:srgbClr val="E8EEF4"/>
            </a:solidFill>
            <a:prstDash val="solid"/>
          </a:ln>
        </p:spPr>
      </p:sp>
      <p:sp>
        <p:nvSpPr>
          <p:cNvPr id="14" name="Text 11"/>
          <p:cNvSpPr txBox="1"/>
          <p:nvPr/>
        </p:nvSpPr>
        <p:spPr>
          <a:xfrm>
            <a:off x="1188720" y="9281160"/>
            <a:ext cx="12618720" cy="1645920"/>
          </a:xfrm>
          <a:prstGeom prst="rect">
            <a:avLst/>
          </a:prstGeom>
          <a:noFill/>
          <a:ln/>
        </p:spPr>
        <p:txBody>
          <a:bodyPr wrap="square" lIns="0" tIns="0" rIns="0" bIns="0" rtlCol="0" anchor="t"/>
          <a:lstStyle/>
          <a:p>
            <a:pPr indent="0" marL="0">
              <a:buNone/>
            </a:pPr>
            <a:r>
              <a:rPr lang="en-US" sz="2500" b="1" dirty="0">
                <a:solidFill>
                  <a:srgbClr val="003057"/>
                </a:solidFill>
                <a:latin typeface="Arial" pitchFamily="34" charset="0"/>
                <a:ea typeface="Arial" pitchFamily="34" charset="-122"/>
                <a:cs typeface="Arial" pitchFamily="34" charset="-120"/>
              </a:rPr>
              <a:t>Standing question: </a:t>
            </a:r>
            <a:pPr indent="0" marL="0">
              <a:buNone/>
            </a:pPr>
            <a:r>
              <a:rPr lang="en-US" sz="2500" dirty="0">
                <a:solidFill>
                  <a:srgbClr val="333F4B"/>
                </a:solidFill>
                <a:latin typeface="Arial" pitchFamily="34" charset="0"/>
                <a:ea typeface="Arial" pitchFamily="34" charset="-122"/>
                <a:cs typeface="Arial" pitchFamily="34" charset="-120"/>
              </a:rPr>
              <a:t>which boxes of the classical decomposition (understanding, state, policy, generation, interfaces) are explicit in Cursor, which went latent inside a model, and which are missing?</a:t>
            </a:r>
            <a:endParaRPr lang="en-US" sz="2500" dirty="0"/>
          </a:p>
        </p:txBody>
      </p:sp>
      <p:sp>
        <p:nvSpPr>
          <p:cNvPr id="15" name="Text 12"/>
          <p:cNvSpPr txBox="1"/>
          <p:nvPr/>
        </p:nvSpPr>
        <p:spPr>
          <a:xfrm>
            <a:off x="914400" y="11292840"/>
            <a:ext cx="13167360" cy="1371600"/>
          </a:xfrm>
          <a:prstGeom prst="rect">
            <a:avLst/>
          </a:prstGeom>
          <a:noFill/>
          <a:ln/>
        </p:spPr>
        <p:txBody>
          <a:bodyPr wrap="square" lIns="0" tIns="0" rIns="0" bIns="0" rtlCol="0" anchor="t"/>
          <a:lstStyle/>
          <a:p>
            <a:pPr indent="0" marL="0">
              <a:buNone/>
            </a:pPr>
            <a:r>
              <a:rPr lang="en-US" sz="2500" b="1" dirty="0">
                <a:solidFill>
                  <a:srgbClr val="003057"/>
                </a:solidFill>
                <a:latin typeface="Arial" pitchFamily="34" charset="0"/>
                <a:ea typeface="Arial" pitchFamily="34" charset="-122"/>
                <a:cs typeface="Arial" pitchFamily="34" charset="-120"/>
              </a:rPr>
              <a:t>Thesis: </a:t>
            </a:r>
            <a:pPr indent="0" marL="0">
              <a:buNone/>
            </a:pPr>
            <a:r>
              <a:rPr lang="en-US" sz="2500" dirty="0">
                <a:solidFill>
                  <a:srgbClr val="333F4B"/>
                </a:solidFill>
                <a:latin typeface="Arial" pitchFamily="34" charset="0"/>
                <a:ea typeface="Arial" pitchFamily="34" charset="-122"/>
                <a:cs typeface="Arial" pitchFamily="34" charset="-120"/>
              </a:rPr>
              <a:t>Cursor rents understanding and generation, engineers an explicit belief state around them, and is pulling policy in-house. The moat is the harness, not the model.</a:t>
            </a:r>
            <a:endParaRPr lang="en-US" sz="2500" dirty="0"/>
          </a:p>
        </p:txBody>
      </p:sp>
      <p:sp>
        <p:nvSpPr>
          <p:cNvPr id="16" name="Panel Decomposition Map"/>
          <p:cNvSpPr/>
          <p:nvPr/>
        </p:nvSpPr>
        <p:spPr>
          <a:xfrm>
            <a:off x="548640" y="13670280"/>
            <a:ext cx="13898880" cy="9509760"/>
          </a:xfrm>
          <a:prstGeom prst="rect">
            <a:avLst/>
          </a:prstGeom>
          <a:solidFill>
            <a:srgbClr val="FFFFFF"/>
          </a:solidFill>
          <a:ln w="6350">
            <a:solidFill>
              <a:srgbClr val="FFFFFF"/>
            </a:solidFill>
            <a:prstDash val="solid"/>
          </a:ln>
        </p:spPr>
      </p:sp>
      <p:sp>
        <p:nvSpPr>
          <p:cNvPr id="17" name="Panel header Decomposition Map"/>
          <p:cNvSpPr/>
          <p:nvPr/>
        </p:nvSpPr>
        <p:spPr>
          <a:xfrm>
            <a:off x="548640" y="13670280"/>
            <a:ext cx="13898880" cy="960120"/>
          </a:xfrm>
          <a:prstGeom prst="rect">
            <a:avLst/>
          </a:prstGeom>
          <a:solidFill>
            <a:srgbClr val="003057"/>
          </a:solidFill>
          <a:ln w="6350">
            <a:solidFill>
              <a:srgbClr val="003057"/>
            </a:solidFill>
            <a:prstDash val="solid"/>
          </a:ln>
        </p:spPr>
      </p:sp>
      <p:sp>
        <p:nvSpPr>
          <p:cNvPr id="18" name="Text 15"/>
          <p:cNvSpPr txBox="1"/>
          <p:nvPr/>
        </p:nvSpPr>
        <p:spPr>
          <a:xfrm>
            <a:off x="548640" y="13670280"/>
            <a:ext cx="13898880" cy="960120"/>
          </a:xfrm>
          <a:prstGeom prst="rect">
            <a:avLst/>
          </a:prstGeom>
          <a:noFill/>
          <a:ln/>
        </p:spPr>
        <p:txBody>
          <a:bodyPr wrap="square" lIns="0" tIns="0" rIns="0" bIns="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Decomposition Map</a:t>
            </a:r>
            <a:endParaRPr lang="en-US" sz="4000" dirty="0"/>
          </a:p>
        </p:txBody>
      </p:sp>
      <p:graphicFrame>
        <p:nvGraphicFramePr>
          <p:cNvPr id="2" name="Decomposition table"/>
          <p:cNvGraphicFramePr>
            <a:graphicFrameLocks noGrp="1"/>
          </p:cNvGraphicFramePr>
          <p:nvPr>
            <p:extLst>
              <p:ext uri="{D42A27DB-BD31-4B8C-83A1-F6EECF244321}">
                <p14:modId xmlns:p14="http://schemas.microsoft.com/office/powerpoint/2010/main" val="1579011935"/>
              </p:ext>
            </p:extLst>
          </p:nvPr>
        </p:nvGraphicFramePr>
        <p:xfrm>
          <a:off x="914400" y="14996160"/>
          <a:ext cx="13167360" cy="914400"/>
        </p:xfrm>
        <a:graphic>
          <a:graphicData uri="http://schemas.openxmlformats.org/drawingml/2006/table">
            <a:tbl>
              <a:tblPr/>
              <a:tblGrid>
                <a:gridCol w="2743200"/>
                <a:gridCol w="2286000"/>
                <a:gridCol w="6035040"/>
                <a:gridCol w="2103120"/>
              </a:tblGrid>
              <a:tr h="640080">
                <a:tc>
                  <a:txBody>
                    <a:bodyPr/>
                    <a:lstStyle/>
                    <a:p>
                      <a:pPr indent="0" marL="0">
                        <a:buNone/>
                      </a:pPr>
                      <a:r>
                        <a:rPr lang="en-US" sz="2200" b="1" dirty="0">
                          <a:solidFill>
                            <a:srgbClr val="FFFFFF"/>
                          </a:solidFill>
                          <a:latin typeface="Arial" pitchFamily="34" charset="0"/>
                          <a:ea typeface="Arial" pitchFamily="34" charset="-122"/>
                          <a:cs typeface="Arial" pitchFamily="34" charset="-120"/>
                        </a:rPr>
                        <a:t>Box</a:t>
                      </a:r>
                      <a:endParaRPr lang="en-US" sz="22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solidFill>
                      <a:srgbClr val="003057"/>
                    </a:solidFill>
                  </a:tcPr>
                </a:tc>
                <a:tc>
                  <a:txBody>
                    <a:bodyPr/>
                    <a:lstStyle/>
                    <a:p>
                      <a:pPr indent="0" marL="0">
                        <a:buNone/>
                      </a:pPr>
                      <a:r>
                        <a:rPr lang="en-US" sz="2200" b="1" dirty="0">
                          <a:solidFill>
                            <a:srgbClr val="FFFFFF"/>
                          </a:solidFill>
                          <a:latin typeface="Arial" pitchFamily="34" charset="0"/>
                          <a:ea typeface="Arial" pitchFamily="34" charset="-122"/>
                          <a:cs typeface="Arial" pitchFamily="34" charset="-120"/>
                        </a:rPr>
                        <a:t>Status</a:t>
                      </a:r>
                      <a:endParaRPr lang="en-US" sz="22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solidFill>
                      <a:srgbClr val="003057"/>
                    </a:solidFill>
                  </a:tcPr>
                </a:tc>
                <a:tc>
                  <a:txBody>
                    <a:bodyPr/>
                    <a:lstStyle/>
                    <a:p>
                      <a:pPr indent="0" marL="0">
                        <a:buNone/>
                      </a:pPr>
                      <a:r>
                        <a:rPr lang="en-US" sz="2200" b="1" dirty="0">
                          <a:solidFill>
                            <a:srgbClr val="FFFFFF"/>
                          </a:solidFill>
                          <a:latin typeface="Arial" pitchFamily="34" charset="0"/>
                          <a:ea typeface="Arial" pitchFamily="34" charset="-122"/>
                          <a:cs typeface="Arial" pitchFamily="34" charset="-120"/>
                        </a:rPr>
                        <a:t>In Cursor</a:t>
                      </a:r>
                      <a:endParaRPr lang="en-US" sz="22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solidFill>
                      <a:srgbClr val="003057"/>
                    </a:solidFill>
                  </a:tcPr>
                </a:tc>
                <a:tc>
                  <a:txBody>
                    <a:bodyPr/>
                    <a:lstStyle/>
                    <a:p>
                      <a:pPr indent="0" marL="0">
                        <a:buNone/>
                      </a:pPr>
                      <a:r>
                        <a:rPr lang="en-US" sz="2200" b="1" dirty="0">
                          <a:solidFill>
                            <a:srgbClr val="FFFFFF"/>
                          </a:solidFill>
                          <a:latin typeface="Arial" pitchFamily="34" charset="0"/>
                          <a:ea typeface="Arial" pitchFamily="34" charset="-122"/>
                          <a:cs typeface="Arial" pitchFamily="34" charset="-120"/>
                        </a:rPr>
                        <a:t>Owner</a:t>
                      </a:r>
                      <a:endParaRPr lang="en-US" sz="22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solidFill>
                      <a:srgbClr val="003057"/>
                    </a:solidFill>
                  </a:tcPr>
                </a:tc>
              </a:tr>
              <a:tr h="1051560">
                <a:tc>
                  <a:txBody>
                    <a:bodyPr/>
                    <a:lstStyle/>
                    <a:p>
                      <a:pPr indent="0" marL="0">
                        <a:buNone/>
                      </a:pPr>
                      <a:r>
                        <a:rPr lang="en-US" sz="2200" dirty="0">
                          <a:solidFill>
                            <a:srgbClr val="333F4B"/>
                          </a:solidFill>
                          <a:latin typeface="Arial" pitchFamily="34" charset="0"/>
                          <a:ea typeface="Arial" pitchFamily="34" charset="-122"/>
                          <a:cs typeface="Arial" pitchFamily="34" charset="-120"/>
                        </a:rPr>
                        <a:t>Understanding</a:t>
                      </a:r>
                      <a:endParaRPr lang="en-US" sz="22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tc>
                  <a:txBody>
                    <a:bodyPr/>
                    <a:lstStyle/>
                    <a:p>
                      <a:pPr indent="0" marL="0">
                        <a:buNone/>
                      </a:pPr>
                      <a:r>
                        <a:rPr lang="en-US" sz="2200" dirty="0">
                          <a:solidFill>
                            <a:srgbClr val="333F4B"/>
                          </a:solidFill>
                          <a:latin typeface="Arial" pitchFamily="34" charset="0"/>
                          <a:ea typeface="Arial" pitchFamily="34" charset="-122"/>
                          <a:cs typeface="Arial" pitchFamily="34" charset="-120"/>
                        </a:rPr>
                        <a:t>Both</a:t>
                      </a:r>
                      <a:endParaRPr lang="en-US" sz="22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tc>
                  <a:txBody>
                    <a:bodyPr/>
                    <a:lstStyle/>
                    <a:p>
                      <a:pPr indent="0" marL="0">
                        <a:buNone/>
                      </a:pPr>
                      <a:r>
                        <a:rPr lang="en-US" sz="2200" dirty="0">
                          <a:solidFill>
                            <a:srgbClr val="333F4B"/>
                          </a:solidFill>
                          <a:latin typeface="Arial" pitchFamily="34" charset="0"/>
                          <a:ea typeface="Arial" pitchFamily="34" charset="-122"/>
                          <a:cs typeface="Arial" pitchFamily="34" charset="-120"/>
                        </a:rPr>
                        <a:t>Trained embedding model + fast index ground the request; the semantics stay latent</a:t>
                      </a:r>
                      <a:endParaRPr lang="en-US" sz="22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tc>
                  <a:txBody>
                    <a:bodyPr/>
                    <a:lstStyle/>
                    <a:p>
                      <a:pPr indent="0" marL="0">
                        <a:buNone/>
                      </a:pPr>
                      <a:r>
                        <a:rPr lang="en-US" sz="2200" dirty="0">
                          <a:solidFill>
                            <a:srgbClr val="333F4B"/>
                          </a:solidFill>
                          <a:latin typeface="Arial" pitchFamily="34" charset="0"/>
                          <a:ea typeface="Arial" pitchFamily="34" charset="-122"/>
                          <a:cs typeface="Arial" pitchFamily="34" charset="-120"/>
                        </a:rPr>
                        <a:t>Greyson</a:t>
                      </a:r>
                      <a:endParaRPr lang="en-US" sz="22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tr>
              <a:tr h="1051560">
                <a:tc>
                  <a:txBody>
                    <a:bodyPr/>
                    <a:lstStyle/>
                    <a:p>
                      <a:pPr indent="0" marL="0">
                        <a:buNone/>
                      </a:pPr>
                      <a:r>
                        <a:rPr lang="en-US" sz="2200" dirty="0">
                          <a:solidFill>
                            <a:srgbClr val="333F4B"/>
                          </a:solidFill>
                          <a:latin typeface="Arial" pitchFamily="34" charset="0"/>
                          <a:ea typeface="Arial" pitchFamily="34" charset="-122"/>
                          <a:cs typeface="Arial" pitchFamily="34" charset="-120"/>
                        </a:rPr>
                        <a:t>State</a:t>
                      </a:r>
                      <a:endParaRPr lang="en-US" sz="22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tc>
                  <a:txBody>
                    <a:bodyPr/>
                    <a:lstStyle/>
                    <a:p>
                      <a:pPr indent="0" marL="0">
                        <a:buNone/>
                      </a:pPr>
                      <a:r>
                        <a:rPr lang="en-US" sz="2200" dirty="0">
                          <a:solidFill>
                            <a:srgbClr val="333F4B"/>
                          </a:solidFill>
                          <a:latin typeface="Arial" pitchFamily="34" charset="0"/>
                          <a:ea typeface="Arial" pitchFamily="34" charset="-122"/>
                          <a:cs typeface="Arial" pitchFamily="34" charset="-120"/>
                        </a:rPr>
                        <a:t>Both</a:t>
                      </a:r>
                      <a:endParaRPr lang="en-US" sz="22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tc>
                  <a:txBody>
                    <a:bodyPr/>
                    <a:lstStyle/>
                    <a:p>
                      <a:pPr indent="0" marL="0">
                        <a:buNone/>
                      </a:pPr>
                      <a:r>
                        <a:rPr lang="en-US" sz="2200" dirty="0">
                          <a:solidFill>
                            <a:srgbClr val="333F4B"/>
                          </a:solidFill>
                          <a:latin typeface="Arial" pitchFamily="34" charset="0"/>
                          <a:ea typeface="Arial" pitchFamily="34" charset="-122"/>
                          <a:cs typeface="Arial" pitchFamily="34" charset="-120"/>
                        </a:rPr>
                        <a:t>Fixed static context and file-based updates; the model picks what else to fetch</a:t>
                      </a:r>
                      <a:endParaRPr lang="en-US" sz="22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tc>
                  <a:txBody>
                    <a:bodyPr/>
                    <a:lstStyle/>
                    <a:p>
                      <a:pPr indent="0" marL="0">
                        <a:buNone/>
                      </a:pPr>
                      <a:r>
                        <a:rPr lang="en-US" sz="2200" dirty="0">
                          <a:solidFill>
                            <a:srgbClr val="333F4B"/>
                          </a:solidFill>
                          <a:latin typeface="Arial" pitchFamily="34" charset="0"/>
                          <a:ea typeface="Arial" pitchFamily="34" charset="-122"/>
                          <a:cs typeface="Arial" pitchFamily="34" charset="-120"/>
                        </a:rPr>
                        <a:t>Greyson</a:t>
                      </a:r>
                      <a:endParaRPr lang="en-US" sz="22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tr>
              <a:tr h="1051560">
                <a:tc>
                  <a:txBody>
                    <a:bodyPr/>
                    <a:lstStyle/>
                    <a:p>
                      <a:pPr indent="0" marL="0">
                        <a:buNone/>
                      </a:pPr>
                      <a:r>
                        <a:rPr lang="en-US" sz="2200" dirty="0">
                          <a:solidFill>
                            <a:srgbClr val="333F4B"/>
                          </a:solidFill>
                          <a:latin typeface="Arial" pitchFamily="34" charset="0"/>
                          <a:ea typeface="Arial" pitchFamily="34" charset="-122"/>
                          <a:cs typeface="Arial" pitchFamily="34" charset="-120"/>
                        </a:rPr>
                        <a:t>Policy</a:t>
                      </a:r>
                      <a:endParaRPr lang="en-US" sz="22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tc>
                  <a:txBody>
                    <a:bodyPr/>
                    <a:lstStyle/>
                    <a:p>
                      <a:pPr indent="0" marL="0">
                        <a:buNone/>
                      </a:pPr>
                      <a:r>
                        <a:rPr lang="en-US" sz="2200" dirty="0">
                          <a:solidFill>
                            <a:srgbClr val="333F4B"/>
                          </a:solidFill>
                          <a:latin typeface="Arial" pitchFamily="34" charset="0"/>
                          <a:ea typeface="Arial" pitchFamily="34" charset="-122"/>
                          <a:cs typeface="Arial" pitchFamily="34" charset="-120"/>
                        </a:rPr>
                        <a:t>Split</a:t>
                      </a:r>
                      <a:endParaRPr lang="en-US" sz="22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tc>
                  <a:txBody>
                    <a:bodyPr/>
                    <a:lstStyle/>
                    <a:p>
                      <a:pPr indent="0" marL="0">
                        <a:buNone/>
                      </a:pPr>
                      <a:r>
                        <a:rPr lang="en-US" sz="2200" dirty="0">
                          <a:solidFill>
                            <a:srgbClr val="333F4B"/>
                          </a:solidFill>
                          <a:latin typeface="Arial" pitchFamily="34" charset="0"/>
                          <a:ea typeface="Arial" pitchFamily="34" charset="-122"/>
                          <a:cs typeface="Arial" pitchFamily="34" charset="-120"/>
                        </a:rPr>
                        <a:t>Model picks the next tool; Cursor trains it (Tab, Composer) and fences it</a:t>
                      </a:r>
                      <a:endParaRPr lang="en-US" sz="22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tc>
                  <a:txBody>
                    <a:bodyPr/>
                    <a:lstStyle/>
                    <a:p>
                      <a:pPr indent="0" marL="0">
                        <a:buNone/>
                      </a:pPr>
                      <a:r>
                        <a:rPr lang="en-US" sz="2200" dirty="0">
                          <a:solidFill>
                            <a:srgbClr val="333F4B"/>
                          </a:solidFill>
                          <a:latin typeface="Arial" pitchFamily="34" charset="0"/>
                          <a:ea typeface="Arial" pitchFamily="34" charset="-122"/>
                          <a:cs typeface="Arial" pitchFamily="34" charset="-120"/>
                        </a:rPr>
                        <a:t>Michael</a:t>
                      </a:r>
                      <a:endParaRPr lang="en-US" sz="22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tr>
              <a:tr h="731520">
                <a:tc>
                  <a:txBody>
                    <a:bodyPr/>
                    <a:lstStyle/>
                    <a:p>
                      <a:pPr indent="0" marL="0">
                        <a:buNone/>
                      </a:pPr>
                      <a:r>
                        <a:rPr lang="en-US" sz="2200" dirty="0">
                          <a:solidFill>
                            <a:srgbClr val="333F4B"/>
                          </a:solidFill>
                          <a:latin typeface="Arial" pitchFamily="34" charset="0"/>
                          <a:ea typeface="Arial" pitchFamily="34" charset="-122"/>
                          <a:cs typeface="Arial" pitchFamily="34" charset="-120"/>
                        </a:rPr>
                        <a:t>Generation</a:t>
                      </a:r>
                      <a:endParaRPr lang="en-US" sz="22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tc>
                  <a:txBody>
                    <a:bodyPr/>
                    <a:lstStyle/>
                    <a:p>
                      <a:pPr indent="0" marL="0">
                        <a:buNone/>
                      </a:pPr>
                      <a:r>
                        <a:rPr lang="en-US" sz="2200" dirty="0">
                          <a:solidFill>
                            <a:srgbClr val="333F4B"/>
                          </a:solidFill>
                          <a:latin typeface="Arial" pitchFamily="34" charset="0"/>
                          <a:ea typeface="Arial" pitchFamily="34" charset="-122"/>
                          <a:cs typeface="Arial" pitchFamily="34" charset="-120"/>
                        </a:rPr>
                        <a:t>Latent</a:t>
                      </a:r>
                      <a:endParaRPr lang="en-US" sz="22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tc>
                  <a:txBody>
                    <a:bodyPr/>
                    <a:lstStyle/>
                    <a:p>
                      <a:pPr indent="0" marL="0">
                        <a:buNone/>
                      </a:pPr>
                      <a:r>
                        <a:rPr lang="en-US" sz="2200" dirty="0">
                          <a:solidFill>
                            <a:srgbClr val="333F4B"/>
                          </a:solidFill>
                          <a:latin typeface="Arial" pitchFamily="34" charset="0"/>
                          <a:ea typeface="Arial" pitchFamily="34" charset="-122"/>
                          <a:cs typeface="Arial" pitchFamily="34" charset="-120"/>
                        </a:rPr>
                        <a:t>Output lands as diffs the user reviews</a:t>
                      </a:r>
                      <a:endParaRPr lang="en-US" sz="22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tc>
                  <a:txBody>
                    <a:bodyPr/>
                    <a:lstStyle/>
                    <a:p>
                      <a:pPr indent="0" marL="0">
                        <a:buNone/>
                      </a:pPr>
                      <a:r>
                        <a:rPr lang="en-US" sz="2200" dirty="0">
                          <a:solidFill>
                            <a:srgbClr val="333F4B"/>
                          </a:solidFill>
                          <a:latin typeface="Arial" pitchFamily="34" charset="0"/>
                          <a:ea typeface="Arial" pitchFamily="34" charset="-122"/>
                          <a:cs typeface="Arial" pitchFamily="34" charset="-120"/>
                        </a:rPr>
                        <a:t>Michael</a:t>
                      </a:r>
                      <a:endParaRPr lang="en-US" sz="22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tr>
              <a:tr h="1051560">
                <a:tc>
                  <a:txBody>
                    <a:bodyPr/>
                    <a:lstStyle/>
                    <a:p>
                      <a:pPr indent="0" marL="0">
                        <a:buNone/>
                      </a:pPr>
                      <a:r>
                        <a:rPr lang="en-US" sz="2200" dirty="0">
                          <a:solidFill>
                            <a:srgbClr val="333F4B"/>
                          </a:solidFill>
                          <a:latin typeface="Arial" pitchFamily="34" charset="0"/>
                          <a:ea typeface="Arial" pitchFamily="34" charset="-122"/>
                          <a:cs typeface="Arial" pitchFamily="34" charset="-120"/>
                        </a:rPr>
                        <a:t>Interfaces</a:t>
                      </a:r>
                      <a:endParaRPr lang="en-US" sz="22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tc>
                  <a:txBody>
                    <a:bodyPr/>
                    <a:lstStyle/>
                    <a:p>
                      <a:pPr indent="0" marL="0">
                        <a:buNone/>
                      </a:pPr>
                      <a:r>
                        <a:rPr lang="en-US" sz="2200" dirty="0">
                          <a:solidFill>
                            <a:srgbClr val="333F4B"/>
                          </a:solidFill>
                          <a:latin typeface="Arial" pitchFamily="34" charset="0"/>
                          <a:ea typeface="Arial" pitchFamily="34" charset="-122"/>
                          <a:cs typeface="Arial" pitchFamily="34" charset="-120"/>
                        </a:rPr>
                        <a:t>Explicit, per vendor</a:t>
                      </a:r>
                      <a:endParaRPr lang="en-US" sz="22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tc>
                  <a:txBody>
                    <a:bodyPr/>
                    <a:lstStyle/>
                    <a:p>
                      <a:pPr indent="0" marL="0">
                        <a:buNone/>
                      </a:pPr>
                      <a:r>
                        <a:rPr lang="en-US" sz="2200" dirty="0">
                          <a:solidFill>
                            <a:srgbClr val="333F4B"/>
                          </a:solidFill>
                          <a:latin typeface="Arial" pitchFamily="34" charset="0"/>
                          <a:ea typeface="Arial" pitchFamily="34" charset="-122"/>
                          <a:cs typeface="Arial" pitchFamily="34" charset="-120"/>
                        </a:rPr>
                        <a:t>Edit format and prompts tuned per model; typed tool errors</a:t>
                      </a:r>
                      <a:endParaRPr lang="en-US" sz="22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tc>
                  <a:txBody>
                    <a:bodyPr/>
                    <a:lstStyle/>
                    <a:p>
                      <a:pPr indent="0" marL="0">
                        <a:buNone/>
                      </a:pPr>
                      <a:r>
                        <a:rPr lang="en-US" sz="2200" dirty="0">
                          <a:solidFill>
                            <a:srgbClr val="333F4B"/>
                          </a:solidFill>
                          <a:latin typeface="Arial" pitchFamily="34" charset="0"/>
                          <a:ea typeface="Arial" pitchFamily="34" charset="-122"/>
                          <a:cs typeface="Arial" pitchFamily="34" charset="-120"/>
                        </a:rPr>
                        <a:t>Michael</a:t>
                      </a:r>
                      <a:endParaRPr lang="en-US" sz="22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tr>
              <a:tr h="1051560">
                <a:tc>
                  <a:txBody>
                    <a:bodyPr/>
                    <a:lstStyle/>
                    <a:p>
                      <a:pPr indent="0" marL="0">
                        <a:buNone/>
                      </a:pPr>
                      <a:r>
                        <a:rPr lang="en-US" sz="2200" dirty="0">
                          <a:solidFill>
                            <a:srgbClr val="333F4B"/>
                          </a:solidFill>
                          <a:latin typeface="Arial" pitchFamily="34" charset="0"/>
                          <a:ea typeface="Arial" pitchFamily="34" charset="-122"/>
                          <a:cs typeface="Arial" pitchFamily="34" charset="-120"/>
                        </a:rPr>
                        <a:t>Missing</a:t>
                      </a:r>
                      <a:endParaRPr lang="en-US" sz="22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tc>
                  <a:txBody>
                    <a:bodyPr/>
                    <a:lstStyle/>
                    <a:p>
                      <a:pPr indent="0" marL="0">
                        <a:buNone/>
                      </a:pPr>
                      <a:r>
                        <a:rPr lang="en-US" sz="2200" dirty="0">
                          <a:solidFill>
                            <a:srgbClr val="333F4B"/>
                          </a:solidFill>
                          <a:latin typeface="Arial" pitchFamily="34" charset="0"/>
                          <a:ea typeface="Arial" pitchFamily="34" charset="-122"/>
                          <a:cs typeface="Arial" pitchFamily="34" charset="-120"/>
                        </a:rPr>
                        <a:t>Missing</a:t>
                      </a:r>
                      <a:endParaRPr lang="en-US" sz="22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tc>
                  <a:txBody>
                    <a:bodyPr/>
                    <a:lstStyle/>
                    <a:p>
                      <a:pPr indent="0" marL="0">
                        <a:buNone/>
                      </a:pPr>
                      <a:r>
                        <a:rPr lang="en-US" sz="2200" dirty="0">
                          <a:solidFill>
                            <a:srgbClr val="333F4B"/>
                          </a:solidFill>
                          <a:latin typeface="Arial" pitchFamily="34" charset="0"/>
                          <a:ea typeface="Arial" pitchFamily="34" charset="-122"/>
                          <a:cs typeface="Arial" pitchFamily="34" charset="-120"/>
                        </a:rPr>
                        <a:t>Grounding outside the repo; a real measure of task success</a:t>
                      </a:r>
                      <a:endParaRPr lang="en-US" sz="22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tc>
                  <a:txBody>
                    <a:bodyPr/>
                    <a:lstStyle/>
                    <a:p>
                      <a:pPr indent="0" marL="0">
                        <a:buNone/>
                      </a:pPr>
                      <a:r>
                        <a:rPr lang="en-US" sz="2200" dirty="0">
                          <a:solidFill>
                            <a:srgbClr val="333F4B"/>
                          </a:solidFill>
                          <a:latin typeface="Arial" pitchFamily="34" charset="0"/>
                          <a:ea typeface="Arial" pitchFamily="34" charset="-122"/>
                          <a:cs typeface="Arial" pitchFamily="34" charset="-120"/>
                        </a:rPr>
                        <a:t>Heeba, Canting</a:t>
                      </a:r>
                      <a:endParaRPr lang="en-US" sz="22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tr>
            </a:tbl>
          </a:graphicData>
        </a:graphic>
      </p:graphicFrame>
      <p:sp>
        <p:nvSpPr>
          <p:cNvPr id="20" name="Text 16"/>
          <p:cNvSpPr txBox="1"/>
          <p:nvPr/>
        </p:nvSpPr>
        <p:spPr>
          <a:xfrm>
            <a:off x="914400" y="22448520"/>
            <a:ext cx="13167360" cy="548640"/>
          </a:xfrm>
          <a:prstGeom prst="rect">
            <a:avLst/>
          </a:prstGeom>
          <a:noFill/>
          <a:ln/>
        </p:spPr>
        <p:txBody>
          <a:bodyPr wrap="square" lIns="0" tIns="0" rIns="0" bIns="0" rtlCol="0" anchor="t"/>
          <a:lstStyle/>
          <a:p>
            <a:pPr indent="0" marL="0">
              <a:buNone/>
            </a:pPr>
            <a:r>
              <a:rPr lang="en-US" sz="2000" i="1" dirty="0">
                <a:solidFill>
                  <a:srgbClr val="5B6670"/>
                </a:solidFill>
                <a:latin typeface="Arial" pitchFamily="34" charset="0"/>
                <a:ea typeface="Arial" pitchFamily="34" charset="-122"/>
                <a:cs typeface="Arial" pitchFamily="34" charset="-120"/>
              </a:rPr>
              <a:t>Table 1. Each box of the classical pipeline, mapped to how Cursor implements it [1]–[5].</a:t>
            </a:r>
            <a:endParaRPr lang="en-US" sz="2000" dirty="0"/>
          </a:p>
        </p:txBody>
      </p:sp>
      <p:sp>
        <p:nvSpPr>
          <p:cNvPr id="21" name="Panel Understanding + State"/>
          <p:cNvSpPr/>
          <p:nvPr/>
        </p:nvSpPr>
        <p:spPr>
          <a:xfrm>
            <a:off x="548640" y="23728680"/>
            <a:ext cx="13898880" cy="8641080"/>
          </a:xfrm>
          <a:prstGeom prst="rect">
            <a:avLst/>
          </a:prstGeom>
          <a:solidFill>
            <a:srgbClr val="FFFFFF"/>
          </a:solidFill>
          <a:ln w="6350">
            <a:solidFill>
              <a:srgbClr val="FFFFFF"/>
            </a:solidFill>
            <a:prstDash val="solid"/>
          </a:ln>
        </p:spPr>
      </p:sp>
      <p:sp>
        <p:nvSpPr>
          <p:cNvPr id="22" name="Panel header Understanding + State"/>
          <p:cNvSpPr/>
          <p:nvPr/>
        </p:nvSpPr>
        <p:spPr>
          <a:xfrm>
            <a:off x="548640" y="23728680"/>
            <a:ext cx="13898880" cy="960120"/>
          </a:xfrm>
          <a:prstGeom prst="rect">
            <a:avLst/>
          </a:prstGeom>
          <a:solidFill>
            <a:srgbClr val="003057"/>
          </a:solidFill>
          <a:ln w="6350">
            <a:solidFill>
              <a:srgbClr val="003057"/>
            </a:solidFill>
            <a:prstDash val="solid"/>
          </a:ln>
        </p:spPr>
      </p:sp>
      <p:sp>
        <p:nvSpPr>
          <p:cNvPr id="23" name="Text 19"/>
          <p:cNvSpPr txBox="1"/>
          <p:nvPr/>
        </p:nvSpPr>
        <p:spPr>
          <a:xfrm>
            <a:off x="548640" y="23728680"/>
            <a:ext cx="13898880" cy="960120"/>
          </a:xfrm>
          <a:prstGeom prst="rect">
            <a:avLst/>
          </a:prstGeom>
          <a:noFill/>
          <a:ln/>
        </p:spPr>
        <p:txBody>
          <a:bodyPr wrap="square" lIns="0" tIns="0" rIns="0" bIns="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Understanding + State</a:t>
            </a:r>
            <a:endParaRPr lang="en-US" sz="4000" dirty="0"/>
          </a:p>
        </p:txBody>
      </p:sp>
      <p:sp>
        <p:nvSpPr>
          <p:cNvPr id="24" name="Text 20"/>
          <p:cNvSpPr txBox="1"/>
          <p:nvPr/>
        </p:nvSpPr>
        <p:spPr>
          <a:xfrm>
            <a:off x="914400" y="25054560"/>
            <a:ext cx="6309360" cy="502920"/>
          </a:xfrm>
          <a:prstGeom prst="rect">
            <a:avLst/>
          </a:prstGeom>
          <a:noFill/>
          <a:ln/>
        </p:spPr>
        <p:txBody>
          <a:bodyPr wrap="square" lIns="0" tIns="0" rIns="0" bIns="0" rtlCol="0" anchor="t"/>
          <a:lstStyle/>
          <a:p>
            <a:pPr indent="0" marL="0">
              <a:buNone/>
            </a:pPr>
            <a:r>
              <a:rPr lang="en-US" sz="2600" b="1" dirty="0">
                <a:solidFill>
                  <a:srgbClr val="1F2933"/>
                </a:solidFill>
                <a:latin typeface="Arial" pitchFamily="34" charset="0"/>
                <a:ea typeface="Arial" pitchFamily="34" charset="-122"/>
                <a:cs typeface="Arial" pitchFamily="34" charset="-120"/>
              </a:rPr>
              <a:t>Always sent</a:t>
            </a:r>
            <a:endParaRPr lang="en-US" sz="2600" dirty="0"/>
          </a:p>
        </p:txBody>
      </p:sp>
      <p:sp>
        <p:nvSpPr>
          <p:cNvPr id="25" name="Chip System prompt + tool list"/>
          <p:cNvSpPr/>
          <p:nvPr/>
        </p:nvSpPr>
        <p:spPr>
          <a:xfrm>
            <a:off x="914400" y="25694640"/>
            <a:ext cx="6309360" cy="548640"/>
          </a:xfrm>
          <a:prstGeom prst="roundRect">
            <a:avLst>
              <a:gd name="adj" fmla="val 13333"/>
            </a:avLst>
          </a:prstGeom>
          <a:solidFill>
            <a:srgbClr val="E6E3DC"/>
          </a:solidFill>
          <a:ln w="12700">
            <a:solidFill>
              <a:srgbClr val="E6E3DC"/>
            </a:solidFill>
            <a:prstDash val="solid"/>
          </a:ln>
        </p:spPr>
      </p:sp>
      <p:sp>
        <p:nvSpPr>
          <p:cNvPr id="26" name="Text 22"/>
          <p:cNvSpPr txBox="1"/>
          <p:nvPr/>
        </p:nvSpPr>
        <p:spPr>
          <a:xfrm>
            <a:off x="1097280" y="25694640"/>
            <a:ext cx="5943600" cy="548640"/>
          </a:xfrm>
          <a:prstGeom prst="rect">
            <a:avLst/>
          </a:prstGeom>
          <a:noFill/>
          <a:ln/>
        </p:spPr>
        <p:txBody>
          <a:bodyPr wrap="square" lIns="0" tIns="0" rIns="0" bIns="0" rtlCol="0" anchor="ctr"/>
          <a:lstStyle/>
          <a:p>
            <a:pPr indent="0" marL="0">
              <a:buNone/>
            </a:pPr>
            <a:r>
              <a:rPr lang="en-US" sz="2100" dirty="0">
                <a:solidFill>
                  <a:srgbClr val="1F2933"/>
                </a:solidFill>
                <a:latin typeface="Arial" pitchFamily="34" charset="0"/>
                <a:ea typeface="Arial" pitchFamily="34" charset="-122"/>
                <a:cs typeface="Arial" pitchFamily="34" charset="-120"/>
              </a:rPr>
              <a:t>System prompt + tool list</a:t>
            </a:r>
            <a:endParaRPr lang="en-US" sz="2100" dirty="0"/>
          </a:p>
        </p:txBody>
      </p:sp>
      <p:sp>
        <p:nvSpPr>
          <p:cNvPr id="27" name="Chip OS and git status"/>
          <p:cNvSpPr/>
          <p:nvPr/>
        </p:nvSpPr>
        <p:spPr>
          <a:xfrm>
            <a:off x="914400" y="26353008"/>
            <a:ext cx="6309360" cy="548640"/>
          </a:xfrm>
          <a:prstGeom prst="roundRect">
            <a:avLst>
              <a:gd name="adj" fmla="val 13333"/>
            </a:avLst>
          </a:prstGeom>
          <a:solidFill>
            <a:srgbClr val="E6E3DC"/>
          </a:solidFill>
          <a:ln w="12700">
            <a:solidFill>
              <a:srgbClr val="E6E3DC"/>
            </a:solidFill>
            <a:prstDash val="solid"/>
          </a:ln>
        </p:spPr>
      </p:sp>
      <p:sp>
        <p:nvSpPr>
          <p:cNvPr id="28" name="Text 24"/>
          <p:cNvSpPr txBox="1"/>
          <p:nvPr/>
        </p:nvSpPr>
        <p:spPr>
          <a:xfrm>
            <a:off x="1097280" y="26353008"/>
            <a:ext cx="5943600" cy="548640"/>
          </a:xfrm>
          <a:prstGeom prst="rect">
            <a:avLst/>
          </a:prstGeom>
          <a:noFill/>
          <a:ln/>
        </p:spPr>
        <p:txBody>
          <a:bodyPr wrap="square" lIns="0" tIns="0" rIns="0" bIns="0" rtlCol="0" anchor="ctr"/>
          <a:lstStyle/>
          <a:p>
            <a:pPr indent="0" marL="0">
              <a:buNone/>
            </a:pPr>
            <a:r>
              <a:rPr lang="en-US" sz="2100" dirty="0">
                <a:solidFill>
                  <a:srgbClr val="1F2933"/>
                </a:solidFill>
                <a:latin typeface="Arial" pitchFamily="34" charset="0"/>
                <a:ea typeface="Arial" pitchFamily="34" charset="-122"/>
                <a:cs typeface="Arial" pitchFamily="34" charset="-120"/>
              </a:rPr>
              <a:t>OS and git status</a:t>
            </a:r>
            <a:endParaRPr lang="en-US" sz="2100" dirty="0"/>
          </a:p>
        </p:txBody>
      </p:sp>
      <p:sp>
        <p:nvSpPr>
          <p:cNvPr id="29" name="Chip Current and recent files"/>
          <p:cNvSpPr/>
          <p:nvPr/>
        </p:nvSpPr>
        <p:spPr>
          <a:xfrm>
            <a:off x="914400" y="27011376"/>
            <a:ext cx="6309360" cy="548640"/>
          </a:xfrm>
          <a:prstGeom prst="roundRect">
            <a:avLst>
              <a:gd name="adj" fmla="val 13333"/>
            </a:avLst>
          </a:prstGeom>
          <a:solidFill>
            <a:srgbClr val="E6E3DC"/>
          </a:solidFill>
          <a:ln w="12700">
            <a:solidFill>
              <a:srgbClr val="E6E3DC"/>
            </a:solidFill>
            <a:prstDash val="solid"/>
          </a:ln>
        </p:spPr>
      </p:sp>
      <p:sp>
        <p:nvSpPr>
          <p:cNvPr id="30" name="Text 26"/>
          <p:cNvSpPr txBox="1"/>
          <p:nvPr/>
        </p:nvSpPr>
        <p:spPr>
          <a:xfrm>
            <a:off x="1097280" y="27011376"/>
            <a:ext cx="5943600" cy="548640"/>
          </a:xfrm>
          <a:prstGeom prst="rect">
            <a:avLst/>
          </a:prstGeom>
          <a:noFill/>
          <a:ln/>
        </p:spPr>
        <p:txBody>
          <a:bodyPr wrap="square" lIns="0" tIns="0" rIns="0" bIns="0" rtlCol="0" anchor="ctr"/>
          <a:lstStyle/>
          <a:p>
            <a:pPr indent="0" marL="0">
              <a:buNone/>
            </a:pPr>
            <a:r>
              <a:rPr lang="en-US" sz="2100" dirty="0">
                <a:solidFill>
                  <a:srgbClr val="1F2933"/>
                </a:solidFill>
                <a:latin typeface="Arial" pitchFamily="34" charset="0"/>
                <a:ea typeface="Arial" pitchFamily="34" charset="-122"/>
                <a:cs typeface="Arial" pitchFamily="34" charset="-120"/>
              </a:rPr>
              <a:t>Current and recent files</a:t>
            </a:r>
            <a:endParaRPr lang="en-US" sz="2100" dirty="0"/>
          </a:p>
        </p:txBody>
      </p:sp>
      <p:sp>
        <p:nvSpPr>
          <p:cNvPr id="31" name="Chip Skill names, MCP tool names"/>
          <p:cNvSpPr/>
          <p:nvPr/>
        </p:nvSpPr>
        <p:spPr>
          <a:xfrm>
            <a:off x="914400" y="27669744"/>
            <a:ext cx="6309360" cy="548640"/>
          </a:xfrm>
          <a:prstGeom prst="roundRect">
            <a:avLst>
              <a:gd name="adj" fmla="val 13333"/>
            </a:avLst>
          </a:prstGeom>
          <a:solidFill>
            <a:srgbClr val="E6E3DC"/>
          </a:solidFill>
          <a:ln w="12700">
            <a:solidFill>
              <a:srgbClr val="E6E3DC"/>
            </a:solidFill>
            <a:prstDash val="solid"/>
          </a:ln>
        </p:spPr>
      </p:sp>
      <p:sp>
        <p:nvSpPr>
          <p:cNvPr id="32" name="Text 28"/>
          <p:cNvSpPr txBox="1"/>
          <p:nvPr/>
        </p:nvSpPr>
        <p:spPr>
          <a:xfrm>
            <a:off x="1097280" y="27669744"/>
            <a:ext cx="5943600" cy="548640"/>
          </a:xfrm>
          <a:prstGeom prst="rect">
            <a:avLst/>
          </a:prstGeom>
          <a:noFill/>
          <a:ln/>
        </p:spPr>
        <p:txBody>
          <a:bodyPr wrap="square" lIns="0" tIns="0" rIns="0" bIns="0" rtlCol="0" anchor="ctr"/>
          <a:lstStyle/>
          <a:p>
            <a:pPr indent="0" marL="0">
              <a:buNone/>
            </a:pPr>
            <a:r>
              <a:rPr lang="en-US" sz="2100" dirty="0">
                <a:solidFill>
                  <a:srgbClr val="1F2933"/>
                </a:solidFill>
                <a:latin typeface="Arial" pitchFamily="34" charset="0"/>
                <a:ea typeface="Arial" pitchFamily="34" charset="-122"/>
                <a:cs typeface="Arial" pitchFamily="34" charset="-120"/>
              </a:rPr>
              <a:t>Skill names, MCP tool names</a:t>
            </a:r>
            <a:endParaRPr lang="en-US" sz="2100" dirty="0"/>
          </a:p>
        </p:txBody>
      </p:sp>
      <p:sp>
        <p:nvSpPr>
          <p:cNvPr id="33" name="Text 29"/>
          <p:cNvSpPr txBox="1"/>
          <p:nvPr/>
        </p:nvSpPr>
        <p:spPr>
          <a:xfrm>
            <a:off x="7772400" y="25054560"/>
            <a:ext cx="6309360" cy="502920"/>
          </a:xfrm>
          <a:prstGeom prst="rect">
            <a:avLst/>
          </a:prstGeom>
          <a:noFill/>
          <a:ln/>
        </p:spPr>
        <p:txBody>
          <a:bodyPr wrap="square" lIns="0" tIns="0" rIns="0" bIns="0" rtlCol="0" anchor="t"/>
          <a:lstStyle/>
          <a:p>
            <a:pPr indent="0" marL="0">
              <a:buNone/>
            </a:pPr>
            <a:r>
              <a:rPr lang="en-US" sz="2600" b="1" dirty="0">
                <a:solidFill>
                  <a:srgbClr val="1F2933"/>
                </a:solidFill>
                <a:latin typeface="Arial" pitchFamily="34" charset="0"/>
                <a:ea typeface="Arial" pitchFamily="34" charset="-122"/>
                <a:cs typeface="Arial" pitchFamily="34" charset="-120"/>
              </a:rPr>
              <a:t>Fetched when needed</a:t>
            </a:r>
            <a:endParaRPr lang="en-US" sz="2600" dirty="0"/>
          </a:p>
        </p:txBody>
      </p:sp>
      <p:sp>
        <p:nvSpPr>
          <p:cNvPr id="34" name="Chip Semantic search + grep hits"/>
          <p:cNvSpPr/>
          <p:nvPr/>
        </p:nvSpPr>
        <p:spPr>
          <a:xfrm>
            <a:off x="7772400" y="25694640"/>
            <a:ext cx="6309360" cy="548640"/>
          </a:xfrm>
          <a:prstGeom prst="roundRect">
            <a:avLst>
              <a:gd name="adj" fmla="val 13333"/>
            </a:avLst>
          </a:prstGeom>
          <a:solidFill>
            <a:srgbClr val="DCE7F5"/>
          </a:solidFill>
          <a:ln w="12700">
            <a:solidFill>
              <a:srgbClr val="DCE7F5"/>
            </a:solidFill>
            <a:prstDash val="solid"/>
          </a:ln>
        </p:spPr>
      </p:sp>
      <p:sp>
        <p:nvSpPr>
          <p:cNvPr id="35" name="Text 31"/>
          <p:cNvSpPr txBox="1"/>
          <p:nvPr/>
        </p:nvSpPr>
        <p:spPr>
          <a:xfrm>
            <a:off x="7955280" y="25694640"/>
            <a:ext cx="5943600" cy="548640"/>
          </a:xfrm>
          <a:prstGeom prst="rect">
            <a:avLst/>
          </a:prstGeom>
          <a:noFill/>
          <a:ln/>
        </p:spPr>
        <p:txBody>
          <a:bodyPr wrap="square" lIns="0" tIns="0" rIns="0" bIns="0" rtlCol="0" anchor="ctr"/>
          <a:lstStyle/>
          <a:p>
            <a:pPr indent="0" marL="0">
              <a:buNone/>
            </a:pPr>
            <a:r>
              <a:rPr lang="en-US" sz="2100" dirty="0">
                <a:solidFill>
                  <a:srgbClr val="1E4A80"/>
                </a:solidFill>
                <a:latin typeface="Arial" pitchFamily="34" charset="0"/>
                <a:ea typeface="Arial" pitchFamily="34" charset="-122"/>
                <a:cs typeface="Arial" pitchFamily="34" charset="-120"/>
              </a:rPr>
              <a:t>Semantic search + grep hits</a:t>
            </a:r>
            <a:endParaRPr lang="en-US" sz="2100" dirty="0"/>
          </a:p>
        </p:txBody>
      </p:sp>
      <p:sp>
        <p:nvSpPr>
          <p:cNvPr id="36" name="Chip Long tool output, as a file"/>
          <p:cNvSpPr/>
          <p:nvPr/>
        </p:nvSpPr>
        <p:spPr>
          <a:xfrm>
            <a:off x="7772400" y="26353008"/>
            <a:ext cx="6309360" cy="548640"/>
          </a:xfrm>
          <a:prstGeom prst="roundRect">
            <a:avLst>
              <a:gd name="adj" fmla="val 13333"/>
            </a:avLst>
          </a:prstGeom>
          <a:solidFill>
            <a:srgbClr val="DCE7F5"/>
          </a:solidFill>
          <a:ln w="12700">
            <a:solidFill>
              <a:srgbClr val="DCE7F5"/>
            </a:solidFill>
            <a:prstDash val="solid"/>
          </a:ln>
        </p:spPr>
      </p:sp>
      <p:sp>
        <p:nvSpPr>
          <p:cNvPr id="37" name="Text 33"/>
          <p:cNvSpPr txBox="1"/>
          <p:nvPr/>
        </p:nvSpPr>
        <p:spPr>
          <a:xfrm>
            <a:off x="7955280" y="26353008"/>
            <a:ext cx="5943600" cy="548640"/>
          </a:xfrm>
          <a:prstGeom prst="rect">
            <a:avLst/>
          </a:prstGeom>
          <a:noFill/>
          <a:ln/>
        </p:spPr>
        <p:txBody>
          <a:bodyPr wrap="square" lIns="0" tIns="0" rIns="0" bIns="0" rtlCol="0" anchor="ctr"/>
          <a:lstStyle/>
          <a:p>
            <a:pPr indent="0" marL="0">
              <a:buNone/>
            </a:pPr>
            <a:r>
              <a:rPr lang="en-US" sz="2100" dirty="0">
                <a:solidFill>
                  <a:srgbClr val="1E4A80"/>
                </a:solidFill>
                <a:latin typeface="Arial" pitchFamily="34" charset="0"/>
                <a:ea typeface="Arial" pitchFamily="34" charset="-122"/>
                <a:cs typeface="Arial" pitchFamily="34" charset="-120"/>
              </a:rPr>
              <a:t>Long tool output, as a file</a:t>
            </a:r>
            <a:endParaRPr lang="en-US" sz="2100" dirty="0"/>
          </a:p>
        </p:txBody>
      </p:sp>
      <p:sp>
        <p:nvSpPr>
          <p:cNvPr id="38" name="Chip Chat history file after a summary"/>
          <p:cNvSpPr/>
          <p:nvPr/>
        </p:nvSpPr>
        <p:spPr>
          <a:xfrm>
            <a:off x="7772400" y="27011376"/>
            <a:ext cx="6309360" cy="548640"/>
          </a:xfrm>
          <a:prstGeom prst="roundRect">
            <a:avLst>
              <a:gd name="adj" fmla="val 13333"/>
            </a:avLst>
          </a:prstGeom>
          <a:solidFill>
            <a:srgbClr val="DCE7F5"/>
          </a:solidFill>
          <a:ln w="12700">
            <a:solidFill>
              <a:srgbClr val="DCE7F5"/>
            </a:solidFill>
            <a:prstDash val="solid"/>
          </a:ln>
        </p:spPr>
      </p:sp>
      <p:sp>
        <p:nvSpPr>
          <p:cNvPr id="39" name="Text 35"/>
          <p:cNvSpPr txBox="1"/>
          <p:nvPr/>
        </p:nvSpPr>
        <p:spPr>
          <a:xfrm>
            <a:off x="7955280" y="27011376"/>
            <a:ext cx="5943600" cy="548640"/>
          </a:xfrm>
          <a:prstGeom prst="rect">
            <a:avLst/>
          </a:prstGeom>
          <a:noFill/>
          <a:ln/>
        </p:spPr>
        <p:txBody>
          <a:bodyPr wrap="square" lIns="0" tIns="0" rIns="0" bIns="0" rtlCol="0" anchor="ctr"/>
          <a:lstStyle/>
          <a:p>
            <a:pPr indent="0" marL="0">
              <a:buNone/>
            </a:pPr>
            <a:r>
              <a:rPr lang="en-US" sz="2100" dirty="0">
                <a:solidFill>
                  <a:srgbClr val="1E4A80"/>
                </a:solidFill>
                <a:latin typeface="Arial" pitchFamily="34" charset="0"/>
                <a:ea typeface="Arial" pitchFamily="34" charset="-122"/>
                <a:cs typeface="Arial" pitchFamily="34" charset="-120"/>
              </a:rPr>
              <a:t>Chat history file after a summary</a:t>
            </a:r>
            <a:endParaRPr lang="en-US" sz="2100" dirty="0"/>
          </a:p>
        </p:txBody>
      </p:sp>
      <p:sp>
        <p:nvSpPr>
          <p:cNvPr id="40" name="Chip Terminal sessions, as files"/>
          <p:cNvSpPr/>
          <p:nvPr/>
        </p:nvSpPr>
        <p:spPr>
          <a:xfrm>
            <a:off x="7772400" y="27669744"/>
            <a:ext cx="6309360" cy="548640"/>
          </a:xfrm>
          <a:prstGeom prst="roundRect">
            <a:avLst>
              <a:gd name="adj" fmla="val 13333"/>
            </a:avLst>
          </a:prstGeom>
          <a:solidFill>
            <a:srgbClr val="DCE7F5"/>
          </a:solidFill>
          <a:ln w="12700">
            <a:solidFill>
              <a:srgbClr val="DCE7F5"/>
            </a:solidFill>
            <a:prstDash val="solid"/>
          </a:ln>
        </p:spPr>
      </p:sp>
      <p:sp>
        <p:nvSpPr>
          <p:cNvPr id="41" name="Text 37"/>
          <p:cNvSpPr txBox="1"/>
          <p:nvPr/>
        </p:nvSpPr>
        <p:spPr>
          <a:xfrm>
            <a:off x="7955280" y="27669744"/>
            <a:ext cx="5943600" cy="548640"/>
          </a:xfrm>
          <a:prstGeom prst="rect">
            <a:avLst/>
          </a:prstGeom>
          <a:noFill/>
          <a:ln/>
        </p:spPr>
        <p:txBody>
          <a:bodyPr wrap="square" lIns="0" tIns="0" rIns="0" bIns="0" rtlCol="0" anchor="ctr"/>
          <a:lstStyle/>
          <a:p>
            <a:pPr indent="0" marL="0">
              <a:buNone/>
            </a:pPr>
            <a:r>
              <a:rPr lang="en-US" sz="2100" dirty="0">
                <a:solidFill>
                  <a:srgbClr val="1E4A80"/>
                </a:solidFill>
                <a:latin typeface="Arial" pitchFamily="34" charset="0"/>
                <a:ea typeface="Arial" pitchFamily="34" charset="-122"/>
                <a:cs typeface="Arial" pitchFamily="34" charset="-120"/>
              </a:rPr>
              <a:t>Terminal sessions, as files</a:t>
            </a:r>
            <a:endParaRPr lang="en-US" sz="2100" dirty="0"/>
          </a:p>
        </p:txBody>
      </p:sp>
      <p:sp>
        <p:nvSpPr>
          <p:cNvPr id="42" name="Chip Full skill files, MCP tool details"/>
          <p:cNvSpPr/>
          <p:nvPr/>
        </p:nvSpPr>
        <p:spPr>
          <a:xfrm>
            <a:off x="7772400" y="28328112"/>
            <a:ext cx="6309360" cy="548640"/>
          </a:xfrm>
          <a:prstGeom prst="roundRect">
            <a:avLst>
              <a:gd name="adj" fmla="val 13333"/>
            </a:avLst>
          </a:prstGeom>
          <a:solidFill>
            <a:srgbClr val="DCE7F5"/>
          </a:solidFill>
          <a:ln w="12700">
            <a:solidFill>
              <a:srgbClr val="DCE7F5"/>
            </a:solidFill>
            <a:prstDash val="solid"/>
          </a:ln>
        </p:spPr>
      </p:sp>
      <p:sp>
        <p:nvSpPr>
          <p:cNvPr id="43" name="Text 39"/>
          <p:cNvSpPr txBox="1"/>
          <p:nvPr/>
        </p:nvSpPr>
        <p:spPr>
          <a:xfrm>
            <a:off x="7955280" y="28328112"/>
            <a:ext cx="5943600" cy="548640"/>
          </a:xfrm>
          <a:prstGeom prst="rect">
            <a:avLst/>
          </a:prstGeom>
          <a:noFill/>
          <a:ln/>
        </p:spPr>
        <p:txBody>
          <a:bodyPr wrap="square" lIns="0" tIns="0" rIns="0" bIns="0" rtlCol="0" anchor="ctr"/>
          <a:lstStyle/>
          <a:p>
            <a:pPr indent="0" marL="0">
              <a:buNone/>
            </a:pPr>
            <a:r>
              <a:rPr lang="en-US" sz="2100" dirty="0">
                <a:solidFill>
                  <a:srgbClr val="1E4A80"/>
                </a:solidFill>
                <a:latin typeface="Arial" pitchFamily="34" charset="0"/>
                <a:ea typeface="Arial" pitchFamily="34" charset="-122"/>
                <a:cs typeface="Arial" pitchFamily="34" charset="-120"/>
              </a:rPr>
              <a:t>Full skill files, MCP tool details</a:t>
            </a:r>
            <a:endParaRPr lang="en-US" sz="2100" dirty="0"/>
          </a:p>
        </p:txBody>
      </p:sp>
      <p:sp>
        <p:nvSpPr>
          <p:cNvPr id="44" name="Text 40"/>
          <p:cNvSpPr txBox="1"/>
          <p:nvPr/>
        </p:nvSpPr>
        <p:spPr>
          <a:xfrm>
            <a:off x="914400" y="29763720"/>
            <a:ext cx="6309360" cy="822960"/>
          </a:xfrm>
          <a:prstGeom prst="rect">
            <a:avLst/>
          </a:prstGeom>
          <a:noFill/>
          <a:ln/>
        </p:spPr>
        <p:txBody>
          <a:bodyPr wrap="square" lIns="0" tIns="0" rIns="0" bIns="0" rtlCol="0" anchor="t"/>
          <a:lstStyle/>
          <a:p>
            <a:pPr indent="0" marL="0">
              <a:buNone/>
            </a:pPr>
            <a:r>
              <a:rPr lang="en-US" sz="5400" b="1" dirty="0">
                <a:solidFill>
                  <a:srgbClr val="003057"/>
                </a:solidFill>
                <a:latin typeface="Arial" pitchFamily="34" charset="0"/>
                <a:ea typeface="Arial" pitchFamily="34" charset="-122"/>
                <a:cs typeface="Arial" pitchFamily="34" charset="-120"/>
              </a:rPr>
              <a:t>+12.5%</a:t>
            </a:r>
            <a:endParaRPr lang="en-US" sz="5400" dirty="0"/>
          </a:p>
        </p:txBody>
      </p:sp>
      <p:sp>
        <p:nvSpPr>
          <p:cNvPr id="45" name="Text 41"/>
          <p:cNvSpPr txBox="1"/>
          <p:nvPr/>
        </p:nvSpPr>
        <p:spPr>
          <a:xfrm>
            <a:off x="914400" y="30632400"/>
            <a:ext cx="6309360" cy="822960"/>
          </a:xfrm>
          <a:prstGeom prst="rect">
            <a:avLst/>
          </a:prstGeom>
          <a:noFill/>
          <a:ln/>
        </p:spPr>
        <p:txBody>
          <a:bodyPr wrap="square" lIns="0" tIns="0" rIns="0" bIns="0" rtlCol="0" anchor="t"/>
          <a:lstStyle/>
          <a:p>
            <a:pPr indent="0" marL="0">
              <a:buNone/>
            </a:pPr>
            <a:r>
              <a:rPr lang="en-US" sz="2000" dirty="0">
                <a:solidFill>
                  <a:srgbClr val="333F4B"/>
                </a:solidFill>
                <a:latin typeface="Arial" pitchFamily="34" charset="0"/>
                <a:ea typeface="Arial" pitchFamily="34" charset="-122"/>
                <a:cs typeface="Arial" pitchFamily="34" charset="-120"/>
              </a:rPr>
              <a:t>answer accuracy with semantic search, average across models (6.5–23.5%) [1]</a:t>
            </a:r>
            <a:endParaRPr lang="en-US" sz="2000" dirty="0"/>
          </a:p>
        </p:txBody>
      </p:sp>
      <p:sp>
        <p:nvSpPr>
          <p:cNvPr id="46" name="Text 42"/>
          <p:cNvSpPr txBox="1"/>
          <p:nvPr/>
        </p:nvSpPr>
        <p:spPr>
          <a:xfrm>
            <a:off x="7772400" y="29763720"/>
            <a:ext cx="6309360" cy="822960"/>
          </a:xfrm>
          <a:prstGeom prst="rect">
            <a:avLst/>
          </a:prstGeom>
          <a:noFill/>
          <a:ln/>
        </p:spPr>
        <p:txBody>
          <a:bodyPr wrap="square" lIns="0" tIns="0" rIns="0" bIns="0" rtlCol="0" anchor="t"/>
          <a:lstStyle/>
          <a:p>
            <a:pPr indent="0" marL="0">
              <a:buNone/>
            </a:pPr>
            <a:r>
              <a:rPr lang="en-US" sz="5400" b="1" dirty="0">
                <a:solidFill>
                  <a:srgbClr val="003057"/>
                </a:solidFill>
                <a:latin typeface="Arial" pitchFamily="34" charset="0"/>
                <a:ea typeface="Arial" pitchFamily="34" charset="-122"/>
                <a:cs typeface="Arial" pitchFamily="34" charset="-120"/>
              </a:rPr>
              <a:t>−46.9%</a:t>
            </a:r>
            <a:endParaRPr lang="en-US" sz="5400" dirty="0"/>
          </a:p>
        </p:txBody>
      </p:sp>
      <p:sp>
        <p:nvSpPr>
          <p:cNvPr id="47" name="Text 43"/>
          <p:cNvSpPr txBox="1"/>
          <p:nvPr/>
        </p:nvSpPr>
        <p:spPr>
          <a:xfrm>
            <a:off x="7772400" y="30632400"/>
            <a:ext cx="6309360" cy="822960"/>
          </a:xfrm>
          <a:prstGeom prst="rect">
            <a:avLst/>
          </a:prstGeom>
          <a:noFill/>
          <a:ln/>
        </p:spPr>
        <p:txBody>
          <a:bodyPr wrap="square" lIns="0" tIns="0" rIns="0" bIns="0" rtlCol="0" anchor="t"/>
          <a:lstStyle/>
          <a:p>
            <a:pPr indent="0" marL="0">
              <a:buNone/>
            </a:pPr>
            <a:r>
              <a:rPr lang="en-US" sz="2000" dirty="0">
                <a:solidFill>
                  <a:srgbClr val="333F4B"/>
                </a:solidFill>
                <a:latin typeface="Arial" pitchFamily="34" charset="0"/>
                <a:ea typeface="Arial" pitchFamily="34" charset="-122"/>
                <a:cs typeface="Arial" pitchFamily="34" charset="-120"/>
              </a:rPr>
              <a:t>total agent tokens on MCP runs, with tools loaded on demand [2]</a:t>
            </a:r>
            <a:endParaRPr lang="en-US" sz="2000" dirty="0"/>
          </a:p>
        </p:txBody>
      </p:sp>
      <p:sp>
        <p:nvSpPr>
          <p:cNvPr id="48" name="Panel Policy: Latent, but Trained and Fenced"/>
          <p:cNvSpPr/>
          <p:nvPr/>
        </p:nvSpPr>
        <p:spPr>
          <a:xfrm>
            <a:off x="14996160" y="5897880"/>
            <a:ext cx="13898880" cy="10652760"/>
          </a:xfrm>
          <a:prstGeom prst="rect">
            <a:avLst/>
          </a:prstGeom>
          <a:solidFill>
            <a:srgbClr val="FFFFFF"/>
          </a:solidFill>
          <a:ln w="6350">
            <a:solidFill>
              <a:srgbClr val="FFFFFF"/>
            </a:solidFill>
            <a:prstDash val="solid"/>
          </a:ln>
        </p:spPr>
      </p:sp>
      <p:sp>
        <p:nvSpPr>
          <p:cNvPr id="49" name="Panel header Policy: Latent, but Trained and Fenced"/>
          <p:cNvSpPr/>
          <p:nvPr/>
        </p:nvSpPr>
        <p:spPr>
          <a:xfrm>
            <a:off x="14996160" y="5897880"/>
            <a:ext cx="13898880" cy="960120"/>
          </a:xfrm>
          <a:prstGeom prst="rect">
            <a:avLst/>
          </a:prstGeom>
          <a:solidFill>
            <a:srgbClr val="003057"/>
          </a:solidFill>
          <a:ln w="6350">
            <a:solidFill>
              <a:srgbClr val="003057"/>
            </a:solidFill>
            <a:prstDash val="solid"/>
          </a:ln>
        </p:spPr>
      </p:sp>
      <p:sp>
        <p:nvSpPr>
          <p:cNvPr id="50" name="Text 46"/>
          <p:cNvSpPr txBox="1"/>
          <p:nvPr/>
        </p:nvSpPr>
        <p:spPr>
          <a:xfrm>
            <a:off x="14996160" y="5897880"/>
            <a:ext cx="13898880" cy="960120"/>
          </a:xfrm>
          <a:prstGeom prst="rect">
            <a:avLst/>
          </a:prstGeom>
          <a:noFill/>
          <a:ln/>
        </p:spPr>
        <p:txBody>
          <a:bodyPr wrap="square" lIns="0" tIns="0" rIns="0" bIns="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Policy: Latent, but Trained and Fenced</a:t>
            </a:r>
            <a:endParaRPr lang="en-US" sz="4000" dirty="0"/>
          </a:p>
        </p:txBody>
      </p:sp>
      <p:sp>
        <p:nvSpPr>
          <p:cNvPr id="51" name="Text 47"/>
          <p:cNvSpPr txBox="1"/>
          <p:nvPr/>
        </p:nvSpPr>
        <p:spPr>
          <a:xfrm>
            <a:off x="15361920" y="7223760"/>
            <a:ext cx="13167360" cy="1371600"/>
          </a:xfrm>
          <a:prstGeom prst="rect">
            <a:avLst/>
          </a:prstGeom>
          <a:noFill/>
          <a:ln/>
        </p:spPr>
        <p:txBody>
          <a:bodyPr wrap="square" lIns="0" tIns="0" rIns="0" bIns="0" rtlCol="0" anchor="t"/>
          <a:lstStyle/>
          <a:p>
            <a:pPr indent="0" marL="0">
              <a:buNone/>
            </a:pPr>
            <a:r>
              <a:rPr lang="en-US" sz="2500" dirty="0">
                <a:solidFill>
                  <a:srgbClr val="333F4B"/>
                </a:solidFill>
                <a:latin typeface="Arial" pitchFamily="34" charset="0"/>
                <a:ea typeface="Arial" pitchFamily="34" charset="-122"/>
                <a:cs typeface="Arial" pitchFamily="34" charset="-120"/>
              </a:rPr>
              <a:t>In L3’s POMDP view the policy chooses ask, confirm or act. In Cursor the act is a tool call, chosen inside the model, so the policy is latent; Cursor shapes it at three levels.</a:t>
            </a:r>
            <a:endParaRPr lang="en-US" sz="2500" dirty="0"/>
          </a:p>
        </p:txBody>
      </p:sp>
      <p:sp>
        <p:nvSpPr>
          <p:cNvPr id="52" name="Policy row Tab"/>
          <p:cNvSpPr/>
          <p:nvPr/>
        </p:nvSpPr>
        <p:spPr>
          <a:xfrm>
            <a:off x="15361920" y="8778240"/>
            <a:ext cx="13167360" cy="2103120"/>
          </a:xfrm>
          <a:prstGeom prst="roundRect">
            <a:avLst>
              <a:gd name="adj" fmla="val 6522"/>
            </a:avLst>
          </a:prstGeom>
          <a:solidFill>
            <a:srgbClr val="F7F9FB"/>
          </a:solidFill>
          <a:ln w="12700">
            <a:solidFill>
              <a:srgbClr val="C9D3DD"/>
            </a:solidFill>
            <a:prstDash val="solid"/>
          </a:ln>
        </p:spPr>
      </p:sp>
      <p:sp>
        <p:nvSpPr>
          <p:cNvPr id="53" name="Text 49"/>
          <p:cNvSpPr txBox="1"/>
          <p:nvPr/>
        </p:nvSpPr>
        <p:spPr>
          <a:xfrm>
            <a:off x="15636240" y="9098280"/>
            <a:ext cx="2834640" cy="685800"/>
          </a:xfrm>
          <a:prstGeom prst="rect">
            <a:avLst/>
          </a:prstGeom>
          <a:noFill/>
          <a:ln/>
        </p:spPr>
        <p:txBody>
          <a:bodyPr wrap="square" lIns="0" tIns="0" rIns="0" bIns="0" rtlCol="0" anchor="t"/>
          <a:lstStyle/>
          <a:p>
            <a:pPr indent="0" marL="0">
              <a:buNone/>
            </a:pPr>
            <a:r>
              <a:rPr lang="en-US" sz="3400" b="1" dirty="0">
                <a:solidFill>
                  <a:srgbClr val="1F2933"/>
                </a:solidFill>
                <a:latin typeface="Arial" pitchFamily="34" charset="0"/>
                <a:ea typeface="Arial" pitchFamily="34" charset="-122"/>
                <a:cs typeface="Arial" pitchFamily="34" charset="-120"/>
              </a:rPr>
              <a:t>Tab</a:t>
            </a:r>
            <a:endParaRPr lang="en-US" sz="3400" dirty="0"/>
          </a:p>
        </p:txBody>
      </p:sp>
      <p:sp>
        <p:nvSpPr>
          <p:cNvPr id="54" name="Text 50"/>
          <p:cNvSpPr txBox="1"/>
          <p:nvPr/>
        </p:nvSpPr>
        <p:spPr>
          <a:xfrm>
            <a:off x="15636240" y="9829800"/>
            <a:ext cx="2834640" cy="822960"/>
          </a:xfrm>
          <a:prstGeom prst="rect">
            <a:avLst/>
          </a:prstGeom>
          <a:noFill/>
          <a:ln/>
        </p:spPr>
        <p:txBody>
          <a:bodyPr wrap="square" lIns="0" tIns="0" rIns="0" bIns="0" rtlCol="0" anchor="t"/>
          <a:lstStyle/>
          <a:p>
            <a:pPr indent="0" marL="0">
              <a:buNone/>
            </a:pPr>
            <a:r>
              <a:rPr lang="en-US" sz="1900" dirty="0">
                <a:solidFill>
                  <a:srgbClr val="2C64A8"/>
                </a:solidFill>
                <a:latin typeface="Arial" pitchFamily="34" charset="0"/>
                <a:ea typeface="Arial" pitchFamily="34" charset="-122"/>
                <a:cs typeface="Arial" pitchFamily="34" charset="-120"/>
              </a:rPr>
              <a:t>Hand-written reward</a:t>
            </a:r>
            <a:endParaRPr lang="en-US" sz="1900" dirty="0"/>
          </a:p>
        </p:txBody>
      </p:sp>
      <p:sp>
        <p:nvSpPr>
          <p:cNvPr id="55" name="Text 51"/>
          <p:cNvSpPr txBox="1"/>
          <p:nvPr/>
        </p:nvSpPr>
        <p:spPr>
          <a:xfrm>
            <a:off x="18653760" y="8961120"/>
            <a:ext cx="6400800" cy="1737360"/>
          </a:xfrm>
          <a:prstGeom prst="rect">
            <a:avLst/>
          </a:prstGeom>
          <a:noFill/>
          <a:ln/>
        </p:spPr>
        <p:txBody>
          <a:bodyPr wrap="square" lIns="0" tIns="0" rIns="0" bIns="0" rtlCol="0" anchor="ctr"/>
          <a:lstStyle/>
          <a:p>
            <a:pPr indent="0" marL="0">
              <a:buNone/>
            </a:pPr>
            <a:r>
              <a:rPr lang="en-US" sz="2200" dirty="0">
                <a:solidFill>
                  <a:srgbClr val="333F4B"/>
                </a:solidFill>
                <a:latin typeface="Arial" pitchFamily="34" charset="0"/>
                <a:ea typeface="Arial" pitchFamily="34" charset="-122"/>
                <a:cs typeface="Arial" pitchFamily="34" charset="-120"/>
              </a:rPr>
              <a:t>Two actions, suggest or stay silent: +0.75 accept, −0.25 reject, 0 silence. L3’s r(s,a), written down [4].</a:t>
            </a:r>
            <a:endParaRPr lang="en-US" sz="2200" dirty="0"/>
          </a:p>
        </p:txBody>
      </p:sp>
      <p:sp>
        <p:nvSpPr>
          <p:cNvPr id="56" name="Text 52"/>
          <p:cNvSpPr txBox="1"/>
          <p:nvPr/>
        </p:nvSpPr>
        <p:spPr>
          <a:xfrm>
            <a:off x="25328880" y="9052560"/>
            <a:ext cx="3017520" cy="822960"/>
          </a:xfrm>
          <a:prstGeom prst="rect">
            <a:avLst/>
          </a:prstGeom>
          <a:noFill/>
          <a:ln/>
        </p:spPr>
        <p:txBody>
          <a:bodyPr wrap="square" lIns="0" tIns="0" rIns="0" bIns="0" rtlCol="0" anchor="t"/>
          <a:lstStyle/>
          <a:p>
            <a:pPr indent="0" marL="0">
              <a:buNone/>
            </a:pPr>
            <a:r>
              <a:rPr lang="en-US" sz="4600" b="1" dirty="0">
                <a:solidFill>
                  <a:srgbClr val="003057"/>
                </a:solidFill>
                <a:latin typeface="Arial" pitchFamily="34" charset="0"/>
                <a:ea typeface="Arial" pitchFamily="34" charset="-122"/>
                <a:cs typeface="Arial" pitchFamily="34" charset="-120"/>
              </a:rPr>
              <a:t>28% ↑</a:t>
            </a:r>
            <a:endParaRPr lang="en-US" sz="4600" dirty="0"/>
          </a:p>
        </p:txBody>
      </p:sp>
      <p:sp>
        <p:nvSpPr>
          <p:cNvPr id="57" name="Text 53"/>
          <p:cNvSpPr txBox="1"/>
          <p:nvPr/>
        </p:nvSpPr>
        <p:spPr>
          <a:xfrm>
            <a:off x="25328880" y="9921240"/>
            <a:ext cx="3017520" cy="731520"/>
          </a:xfrm>
          <a:prstGeom prst="rect">
            <a:avLst/>
          </a:prstGeom>
          <a:noFill/>
          <a:ln/>
        </p:spPr>
        <p:txBody>
          <a:bodyPr wrap="square" lIns="0" tIns="0" rIns="0" bIns="0" rtlCol="0" anchor="t"/>
          <a:lstStyle/>
          <a:p>
            <a:pPr indent="0" marL="0">
              <a:buNone/>
            </a:pPr>
            <a:r>
              <a:rPr lang="en-US" sz="1800" dirty="0">
                <a:solidFill>
                  <a:srgbClr val="5B6670"/>
                </a:solidFill>
                <a:latin typeface="Arial" pitchFamily="34" charset="0"/>
                <a:ea typeface="Arial" pitchFamily="34" charset="-122"/>
                <a:cs typeface="Arial" pitchFamily="34" charset="-120"/>
              </a:rPr>
              <a:t>accept rate; 21% fewer suggestions</a:t>
            </a:r>
            <a:endParaRPr lang="en-US" sz="1800" dirty="0"/>
          </a:p>
        </p:txBody>
      </p:sp>
      <p:sp>
        <p:nvSpPr>
          <p:cNvPr id="58" name="Policy row Composer"/>
          <p:cNvSpPr/>
          <p:nvPr/>
        </p:nvSpPr>
        <p:spPr>
          <a:xfrm>
            <a:off x="15361920" y="11064240"/>
            <a:ext cx="13167360" cy="2103120"/>
          </a:xfrm>
          <a:prstGeom prst="roundRect">
            <a:avLst>
              <a:gd name="adj" fmla="val 6522"/>
            </a:avLst>
          </a:prstGeom>
          <a:solidFill>
            <a:srgbClr val="F7F9FB"/>
          </a:solidFill>
          <a:ln w="12700">
            <a:solidFill>
              <a:srgbClr val="C9D3DD"/>
            </a:solidFill>
            <a:prstDash val="solid"/>
          </a:ln>
        </p:spPr>
      </p:sp>
      <p:sp>
        <p:nvSpPr>
          <p:cNvPr id="59" name="Text 55"/>
          <p:cNvSpPr txBox="1"/>
          <p:nvPr/>
        </p:nvSpPr>
        <p:spPr>
          <a:xfrm>
            <a:off x="15636240" y="11384280"/>
            <a:ext cx="2834640" cy="685800"/>
          </a:xfrm>
          <a:prstGeom prst="rect">
            <a:avLst/>
          </a:prstGeom>
          <a:noFill/>
          <a:ln/>
        </p:spPr>
        <p:txBody>
          <a:bodyPr wrap="square" lIns="0" tIns="0" rIns="0" bIns="0" rtlCol="0" anchor="t"/>
          <a:lstStyle/>
          <a:p>
            <a:pPr indent="0" marL="0">
              <a:buNone/>
            </a:pPr>
            <a:r>
              <a:rPr lang="en-US" sz="3400" b="1" dirty="0">
                <a:solidFill>
                  <a:srgbClr val="1F2933"/>
                </a:solidFill>
                <a:latin typeface="Arial" pitchFamily="34" charset="0"/>
                <a:ea typeface="Arial" pitchFamily="34" charset="-122"/>
                <a:cs typeface="Arial" pitchFamily="34" charset="-120"/>
              </a:rPr>
              <a:t>Composer</a:t>
            </a:r>
            <a:endParaRPr lang="en-US" sz="3400" dirty="0"/>
          </a:p>
        </p:txBody>
      </p:sp>
      <p:sp>
        <p:nvSpPr>
          <p:cNvPr id="60" name="Text 56"/>
          <p:cNvSpPr txBox="1"/>
          <p:nvPr/>
        </p:nvSpPr>
        <p:spPr>
          <a:xfrm>
            <a:off x="15636240" y="12115800"/>
            <a:ext cx="2834640" cy="822960"/>
          </a:xfrm>
          <a:prstGeom prst="rect">
            <a:avLst/>
          </a:prstGeom>
          <a:noFill/>
          <a:ln/>
        </p:spPr>
        <p:txBody>
          <a:bodyPr wrap="square" lIns="0" tIns="0" rIns="0" bIns="0" rtlCol="0" anchor="t"/>
          <a:lstStyle/>
          <a:p>
            <a:pPr indent="0" marL="0">
              <a:buNone/>
            </a:pPr>
            <a:r>
              <a:rPr lang="en-US" sz="1900" dirty="0">
                <a:solidFill>
                  <a:srgbClr val="2C64A8"/>
                </a:solidFill>
                <a:latin typeface="Arial" pitchFamily="34" charset="0"/>
                <a:ea typeface="Arial" pitchFamily="34" charset="-122"/>
                <a:cs typeface="Arial" pitchFamily="34" charset="-120"/>
              </a:rPr>
              <a:t>RL in Cursor’s harness</a:t>
            </a:r>
            <a:endParaRPr lang="en-US" sz="1900" dirty="0"/>
          </a:p>
        </p:txBody>
      </p:sp>
      <p:sp>
        <p:nvSpPr>
          <p:cNvPr id="61" name="Text 57"/>
          <p:cNvSpPr txBox="1"/>
          <p:nvPr/>
        </p:nvSpPr>
        <p:spPr>
          <a:xfrm>
            <a:off x="18653760" y="11247120"/>
            <a:ext cx="6400800" cy="1737360"/>
          </a:xfrm>
          <a:prstGeom prst="rect">
            <a:avLst/>
          </a:prstGeom>
          <a:noFill/>
          <a:ln/>
        </p:spPr>
        <p:txBody>
          <a:bodyPr wrap="square" lIns="0" tIns="0" rIns="0" bIns="0" rtlCol="0" anchor="ctr"/>
          <a:lstStyle/>
          <a:p>
            <a:pPr indent="0" marL="0">
              <a:buNone/>
            </a:pPr>
            <a:r>
              <a:rPr lang="en-US" sz="2200" dirty="0">
                <a:solidFill>
                  <a:srgbClr val="333F4B"/>
                </a:solidFill>
                <a:latin typeface="Arial" pitchFamily="34" charset="0"/>
                <a:ea typeface="Arial" pitchFamily="34" charset="-122"/>
                <a:cs typeface="Arial" pitchFamily="34" charset="-120"/>
              </a:rPr>
              <a:t>Trained with RL on the product’s own tools in sandboxes [5]; Composer 2 learns to write its own summaries [9].</a:t>
            </a:r>
            <a:endParaRPr lang="en-US" sz="2200" dirty="0"/>
          </a:p>
        </p:txBody>
      </p:sp>
      <p:sp>
        <p:nvSpPr>
          <p:cNvPr id="62" name="Text 58"/>
          <p:cNvSpPr txBox="1"/>
          <p:nvPr/>
        </p:nvSpPr>
        <p:spPr>
          <a:xfrm>
            <a:off x="25328880" y="11338560"/>
            <a:ext cx="3017520" cy="822960"/>
          </a:xfrm>
          <a:prstGeom prst="rect">
            <a:avLst/>
          </a:prstGeom>
          <a:noFill/>
          <a:ln/>
        </p:spPr>
        <p:txBody>
          <a:bodyPr wrap="square" lIns="0" tIns="0" rIns="0" bIns="0" rtlCol="0" anchor="t"/>
          <a:lstStyle/>
          <a:p>
            <a:pPr indent="0" marL="0">
              <a:buNone/>
            </a:pPr>
            <a:r>
              <a:rPr lang="en-US" sz="4600" b="1" dirty="0">
                <a:solidFill>
                  <a:srgbClr val="003057"/>
                </a:solidFill>
                <a:latin typeface="Arial" pitchFamily="34" charset="0"/>
                <a:ea typeface="Arial" pitchFamily="34" charset="-122"/>
                <a:cs typeface="Arial" pitchFamily="34" charset="-120"/>
              </a:rPr>
              <a:t>50% ↓</a:t>
            </a:r>
            <a:endParaRPr lang="en-US" sz="4600" dirty="0"/>
          </a:p>
        </p:txBody>
      </p:sp>
      <p:sp>
        <p:nvSpPr>
          <p:cNvPr id="63" name="Text 59"/>
          <p:cNvSpPr txBox="1"/>
          <p:nvPr/>
        </p:nvSpPr>
        <p:spPr>
          <a:xfrm>
            <a:off x="25328880" y="12207240"/>
            <a:ext cx="3017520" cy="731520"/>
          </a:xfrm>
          <a:prstGeom prst="rect">
            <a:avLst/>
          </a:prstGeom>
          <a:noFill/>
          <a:ln/>
        </p:spPr>
        <p:txBody>
          <a:bodyPr wrap="square" lIns="0" tIns="0" rIns="0" bIns="0" rtlCol="0" anchor="t"/>
          <a:lstStyle/>
          <a:p>
            <a:pPr indent="0" marL="0">
              <a:buNone/>
            </a:pPr>
            <a:r>
              <a:rPr lang="en-US" sz="1800" dirty="0">
                <a:solidFill>
                  <a:srgbClr val="5B6670"/>
                </a:solidFill>
                <a:latin typeface="Arial" pitchFamily="34" charset="0"/>
                <a:ea typeface="Arial" pitchFamily="34" charset="-122"/>
                <a:cs typeface="Arial" pitchFamily="34" charset="-120"/>
              </a:rPr>
              <a:t>compaction error at 1/5 the tokens</a:t>
            </a:r>
            <a:endParaRPr lang="en-US" sz="1800" dirty="0"/>
          </a:p>
        </p:txBody>
      </p:sp>
      <p:sp>
        <p:nvSpPr>
          <p:cNvPr id="64" name="Policy row Controls"/>
          <p:cNvSpPr/>
          <p:nvPr/>
        </p:nvSpPr>
        <p:spPr>
          <a:xfrm>
            <a:off x="15361920" y="13350240"/>
            <a:ext cx="13167360" cy="2103120"/>
          </a:xfrm>
          <a:prstGeom prst="roundRect">
            <a:avLst>
              <a:gd name="adj" fmla="val 6522"/>
            </a:avLst>
          </a:prstGeom>
          <a:solidFill>
            <a:srgbClr val="F7F9FB"/>
          </a:solidFill>
          <a:ln w="12700">
            <a:solidFill>
              <a:srgbClr val="C9D3DD"/>
            </a:solidFill>
            <a:prstDash val="solid"/>
          </a:ln>
        </p:spPr>
      </p:sp>
      <p:sp>
        <p:nvSpPr>
          <p:cNvPr id="65" name="Text 61"/>
          <p:cNvSpPr txBox="1"/>
          <p:nvPr/>
        </p:nvSpPr>
        <p:spPr>
          <a:xfrm>
            <a:off x="15636240" y="13670280"/>
            <a:ext cx="2834640" cy="685800"/>
          </a:xfrm>
          <a:prstGeom prst="rect">
            <a:avLst/>
          </a:prstGeom>
          <a:noFill/>
          <a:ln/>
        </p:spPr>
        <p:txBody>
          <a:bodyPr wrap="square" lIns="0" tIns="0" rIns="0" bIns="0" rtlCol="0" anchor="t"/>
          <a:lstStyle/>
          <a:p>
            <a:pPr indent="0" marL="0">
              <a:buNone/>
            </a:pPr>
            <a:r>
              <a:rPr lang="en-US" sz="3400" b="1" dirty="0">
                <a:solidFill>
                  <a:srgbClr val="1F2933"/>
                </a:solidFill>
                <a:latin typeface="Arial" pitchFamily="34" charset="0"/>
                <a:ea typeface="Arial" pitchFamily="34" charset="-122"/>
                <a:cs typeface="Arial" pitchFamily="34" charset="-120"/>
              </a:rPr>
              <a:t>Controls</a:t>
            </a:r>
            <a:endParaRPr lang="en-US" sz="3400" dirty="0"/>
          </a:p>
        </p:txBody>
      </p:sp>
      <p:sp>
        <p:nvSpPr>
          <p:cNvPr id="66" name="Text 62"/>
          <p:cNvSpPr txBox="1"/>
          <p:nvPr/>
        </p:nvSpPr>
        <p:spPr>
          <a:xfrm>
            <a:off x="15636240" y="14401800"/>
            <a:ext cx="2834640" cy="822960"/>
          </a:xfrm>
          <a:prstGeom prst="rect">
            <a:avLst/>
          </a:prstGeom>
          <a:noFill/>
          <a:ln/>
        </p:spPr>
        <p:txBody>
          <a:bodyPr wrap="square" lIns="0" tIns="0" rIns="0" bIns="0" rtlCol="0" anchor="t"/>
          <a:lstStyle/>
          <a:p>
            <a:pPr indent="0" marL="0">
              <a:buNone/>
            </a:pPr>
            <a:r>
              <a:rPr lang="en-US" sz="1900" dirty="0">
                <a:solidFill>
                  <a:srgbClr val="2C64A8"/>
                </a:solidFill>
                <a:latin typeface="Arial" pitchFamily="34" charset="0"/>
                <a:ea typeface="Arial" pitchFamily="34" charset="-122"/>
                <a:cs typeface="Arial" pitchFamily="34" charset="-120"/>
              </a:rPr>
              <a:t>Fences on rented models</a:t>
            </a:r>
            <a:endParaRPr lang="en-US" sz="1900" dirty="0"/>
          </a:p>
        </p:txBody>
      </p:sp>
      <p:sp>
        <p:nvSpPr>
          <p:cNvPr id="67" name="Text 63"/>
          <p:cNvSpPr txBox="1"/>
          <p:nvPr/>
        </p:nvSpPr>
        <p:spPr>
          <a:xfrm>
            <a:off x="18653760" y="13533120"/>
            <a:ext cx="6400800" cy="1737360"/>
          </a:xfrm>
          <a:prstGeom prst="rect">
            <a:avLst/>
          </a:prstGeom>
          <a:noFill/>
          <a:ln/>
        </p:spPr>
        <p:txBody>
          <a:bodyPr wrap="square" lIns="0" tIns="0" rIns="0" bIns="0" rtlCol="0" anchor="ctr"/>
          <a:lstStyle/>
          <a:p>
            <a:pPr indent="0" marL="0">
              <a:buNone/>
            </a:pPr>
            <a:r>
              <a:rPr lang="en-US" sz="2200" dirty="0">
                <a:solidFill>
                  <a:srgbClr val="333F4B"/>
                </a:solidFill>
                <a:latin typeface="Arial" pitchFamily="34" charset="0"/>
                <a:ea typeface="Arial" pitchFamily="34" charset="-122"/>
                <a:cs typeface="Arial" pitchFamily="34" charset="-120"/>
              </a:rPr>
              <a:t>Plan mode asks and plans before acting [10]; Router, a learned classifier, picks the model per request [11].</a:t>
            </a:r>
            <a:endParaRPr lang="en-US" sz="2200" dirty="0"/>
          </a:p>
        </p:txBody>
      </p:sp>
      <p:sp>
        <p:nvSpPr>
          <p:cNvPr id="68" name="Text 64"/>
          <p:cNvSpPr txBox="1"/>
          <p:nvPr/>
        </p:nvSpPr>
        <p:spPr>
          <a:xfrm>
            <a:off x="25328880" y="13624560"/>
            <a:ext cx="3017520" cy="822960"/>
          </a:xfrm>
          <a:prstGeom prst="rect">
            <a:avLst/>
          </a:prstGeom>
          <a:noFill/>
          <a:ln/>
        </p:spPr>
        <p:txBody>
          <a:bodyPr wrap="square" lIns="0" tIns="0" rIns="0" bIns="0" rtlCol="0" anchor="t"/>
          <a:lstStyle/>
          <a:p>
            <a:pPr indent="0" marL="0">
              <a:buNone/>
            </a:pPr>
            <a:r>
              <a:rPr lang="en-US" sz="4600" b="1" dirty="0">
                <a:solidFill>
                  <a:srgbClr val="003057"/>
                </a:solidFill>
                <a:latin typeface="Arial" pitchFamily="34" charset="0"/>
                <a:ea typeface="Arial" pitchFamily="34" charset="-122"/>
                <a:cs typeface="Arial" pitchFamily="34" charset="-120"/>
              </a:rPr>
              <a:t>~60% ↓</a:t>
            </a:r>
            <a:endParaRPr lang="en-US" sz="4600" dirty="0"/>
          </a:p>
        </p:txBody>
      </p:sp>
      <p:sp>
        <p:nvSpPr>
          <p:cNvPr id="69" name="Text 65"/>
          <p:cNvSpPr txBox="1"/>
          <p:nvPr/>
        </p:nvSpPr>
        <p:spPr>
          <a:xfrm>
            <a:off x="25328880" y="14493240"/>
            <a:ext cx="3017520" cy="731520"/>
          </a:xfrm>
          <a:prstGeom prst="rect">
            <a:avLst/>
          </a:prstGeom>
          <a:noFill/>
          <a:ln/>
        </p:spPr>
        <p:txBody>
          <a:bodyPr wrap="square" lIns="0" tIns="0" rIns="0" bIns="0" rtlCol="0" anchor="t"/>
          <a:lstStyle/>
          <a:p>
            <a:pPr indent="0" marL="0">
              <a:buNone/>
            </a:pPr>
            <a:r>
              <a:rPr lang="en-US" sz="1800" dirty="0">
                <a:solidFill>
                  <a:srgbClr val="5B6670"/>
                </a:solidFill>
                <a:latin typeface="Arial" pitchFamily="34" charset="0"/>
                <a:ea typeface="Arial" pitchFamily="34" charset="-122"/>
                <a:cs typeface="Arial" pitchFamily="34" charset="-120"/>
              </a:rPr>
              <a:t>cost at frontier quality</a:t>
            </a:r>
            <a:endParaRPr lang="en-US" sz="1800" dirty="0"/>
          </a:p>
        </p:txBody>
      </p:sp>
      <p:sp>
        <p:nvSpPr>
          <p:cNvPr id="70" name="Text 66"/>
          <p:cNvSpPr txBox="1"/>
          <p:nvPr/>
        </p:nvSpPr>
        <p:spPr>
          <a:xfrm>
            <a:off x="15361920" y="15727680"/>
            <a:ext cx="13167360" cy="1005840"/>
          </a:xfrm>
          <a:prstGeom prst="rect">
            <a:avLst/>
          </a:prstGeom>
          <a:noFill/>
          <a:ln/>
        </p:spPr>
        <p:txBody>
          <a:bodyPr wrap="square" lIns="0" tIns="0" rIns="0" bIns="0" rtlCol="0" anchor="t"/>
          <a:lstStyle/>
          <a:p>
            <a:pPr indent="0" marL="0">
              <a:buNone/>
            </a:pPr>
            <a:r>
              <a:rPr lang="en-US" sz="2300" b="1" dirty="0">
                <a:solidFill>
                  <a:srgbClr val="003057"/>
                </a:solidFill>
                <a:latin typeface="Arial" pitchFamily="34" charset="0"/>
                <a:ea typeface="Arial" pitchFamily="34" charset="-122"/>
                <a:cs typeface="Arial" pitchFamily="34" charset="-120"/>
              </a:rPr>
              <a:t>The arc: </a:t>
            </a:r>
            <a:pPr indent="0" marL="0">
              <a:buNone/>
            </a:pPr>
            <a:r>
              <a:rPr lang="en-US" sz="2300" dirty="0">
                <a:solidFill>
                  <a:srgbClr val="333F4B"/>
                </a:solidFill>
                <a:latin typeface="Arial" pitchFamily="34" charset="0"/>
                <a:ea typeface="Arial" pitchFamily="34" charset="-122"/>
                <a:cs typeface="Arial" pitchFamily="34" charset="-120"/>
              </a:rPr>
              <a:t>hand-written reward (L3) → task reward in a sandbox → learned satisfaction proxy (L10). None of these rewards sees the user’s actual goal.</a:t>
            </a:r>
            <a:endParaRPr lang="en-US" sz="2300" dirty="0"/>
          </a:p>
        </p:txBody>
      </p:sp>
      <p:sp>
        <p:nvSpPr>
          <p:cNvPr id="71" name="Panel Exhibit: One Real Run, Every Step Labeled"/>
          <p:cNvSpPr/>
          <p:nvPr/>
        </p:nvSpPr>
        <p:spPr>
          <a:xfrm>
            <a:off x="14996160" y="17099280"/>
            <a:ext cx="13898880" cy="6995160"/>
          </a:xfrm>
          <a:prstGeom prst="rect">
            <a:avLst/>
          </a:prstGeom>
          <a:solidFill>
            <a:srgbClr val="FFFFFF"/>
          </a:solidFill>
          <a:ln w="6350">
            <a:solidFill>
              <a:srgbClr val="FFFFFF"/>
            </a:solidFill>
            <a:prstDash val="solid"/>
          </a:ln>
        </p:spPr>
      </p:sp>
      <p:sp>
        <p:nvSpPr>
          <p:cNvPr id="72" name="Panel header Exhibit: One Real Run, Every Step Labeled"/>
          <p:cNvSpPr/>
          <p:nvPr/>
        </p:nvSpPr>
        <p:spPr>
          <a:xfrm>
            <a:off x="14996160" y="17099280"/>
            <a:ext cx="13898880" cy="960120"/>
          </a:xfrm>
          <a:prstGeom prst="rect">
            <a:avLst/>
          </a:prstGeom>
          <a:solidFill>
            <a:srgbClr val="003057"/>
          </a:solidFill>
          <a:ln w="6350">
            <a:solidFill>
              <a:srgbClr val="003057"/>
            </a:solidFill>
            <a:prstDash val="solid"/>
          </a:ln>
        </p:spPr>
      </p:sp>
      <p:sp>
        <p:nvSpPr>
          <p:cNvPr id="73" name="Text 69"/>
          <p:cNvSpPr txBox="1"/>
          <p:nvPr/>
        </p:nvSpPr>
        <p:spPr>
          <a:xfrm>
            <a:off x="14996160" y="17099280"/>
            <a:ext cx="13898880" cy="960120"/>
          </a:xfrm>
          <a:prstGeom prst="rect">
            <a:avLst/>
          </a:prstGeom>
          <a:noFill/>
          <a:ln/>
        </p:spPr>
        <p:txBody>
          <a:bodyPr wrap="square" lIns="0" tIns="0" rIns="0" bIns="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Exhibit: One Real Run, Every Step Labeled</a:t>
            </a:r>
            <a:endParaRPr lang="en-US" sz="4000" dirty="0"/>
          </a:p>
        </p:txBody>
      </p:sp>
      <p:graphicFrame>
        <p:nvGraphicFramePr>
          <p:cNvPr id="3" name="Grok run excerpt"/>
          <p:cNvGraphicFramePr>
            <a:graphicFrameLocks noGrp="1"/>
          </p:cNvGraphicFramePr>
          <p:nvPr>
            <p:extLst>
              <p:ext uri="{D42A27DB-BD31-4B8C-83A1-F6EECF244321}">
                <p14:modId xmlns:p14="http://schemas.microsoft.com/office/powerpoint/2010/main" val="1579011935"/>
              </p:ext>
            </p:extLst>
          </p:nvPr>
        </p:nvGraphicFramePr>
        <p:xfrm>
          <a:off x="15361920" y="18425160"/>
          <a:ext cx="13167360" cy="914400"/>
        </p:xfrm>
        <a:graphic>
          <a:graphicData uri="http://schemas.openxmlformats.org/drawingml/2006/table">
            <a:tbl>
              <a:tblPr/>
              <a:tblGrid>
                <a:gridCol w="1463040"/>
                <a:gridCol w="1188720"/>
                <a:gridCol w="10515600"/>
              </a:tblGrid>
              <a:tr h="457200">
                <a:tc>
                  <a:txBody>
                    <a:bodyPr/>
                    <a:lstStyle/>
                    <a:p>
                      <a:pPr indent="0" marL="0">
                        <a:buNone/>
                      </a:pPr>
                      <a:r>
                        <a:rPr lang="en-US" sz="1900" b="1" dirty="0">
                          <a:solidFill>
                            <a:srgbClr val="FFFFFF"/>
                          </a:solidFill>
                          <a:latin typeface="Arial" pitchFamily="34" charset="0"/>
                          <a:ea typeface="Arial" pitchFamily="34" charset="-122"/>
                          <a:cs typeface="Arial" pitchFamily="34" charset="-120"/>
                        </a:rPr>
                        <a:t>Calls</a:t>
                      </a:r>
                      <a:endParaRPr lang="en-US" sz="19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solidFill>
                      <a:srgbClr val="003057"/>
                    </a:solidFill>
                  </a:tcPr>
                </a:tc>
                <a:tc>
                  <a:txBody>
                    <a:bodyPr/>
                    <a:lstStyle/>
                    <a:p>
                      <a:pPr indent="0" marL="0">
                        <a:buNone/>
                      </a:pPr>
                      <a:r>
                        <a:rPr lang="en-US" sz="1900" b="1" dirty="0">
                          <a:solidFill>
                            <a:srgbClr val="FFFFFF"/>
                          </a:solidFill>
                          <a:latin typeface="Arial" pitchFamily="34" charset="0"/>
                          <a:ea typeface="Arial" pitchFamily="34" charset="-122"/>
                          <a:cs typeface="Arial" pitchFamily="34" charset="-120"/>
                        </a:rPr>
                        <a:t>Box</a:t>
                      </a:r>
                      <a:endParaRPr lang="en-US" sz="19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solidFill>
                      <a:srgbClr val="003057"/>
                    </a:solidFill>
                  </a:tcPr>
                </a:tc>
                <a:tc>
                  <a:txBody>
                    <a:bodyPr/>
                    <a:lstStyle/>
                    <a:p>
                      <a:pPr indent="0" marL="0">
                        <a:buNone/>
                      </a:pPr>
                      <a:r>
                        <a:rPr lang="en-US" sz="1900" b="1" dirty="0">
                          <a:solidFill>
                            <a:srgbClr val="FFFFFF"/>
                          </a:solidFill>
                          <a:latin typeface="Arial" pitchFamily="34" charset="0"/>
                          <a:ea typeface="Arial" pitchFamily="34" charset="-122"/>
                          <a:cs typeface="Arial" pitchFamily="34" charset="-120"/>
                        </a:rPr>
                        <a:t>What the agent did (Grok 4.6 High Fast, Oct 26)</a:t>
                      </a:r>
                      <a:endParaRPr lang="en-US" sz="19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solidFill>
                      <a:srgbClr val="003057"/>
                    </a:solidFill>
                  </a:tcPr>
                </a:tc>
              </a:tr>
              <a:tr h="457200">
                <a:tc>
                  <a:txBody>
                    <a:bodyPr/>
                    <a:lstStyle/>
                    <a:p>
                      <a:pPr indent="0" marL="0">
                        <a:buNone/>
                      </a:pPr>
                      <a:r>
                        <a:rPr lang="en-US" sz="1900" dirty="0">
                          <a:solidFill>
                            <a:srgbClr val="333F4B"/>
                          </a:solidFill>
                          <a:latin typeface="Arial" pitchFamily="34" charset="0"/>
                          <a:ea typeface="Arial" pitchFamily="34" charset="-122"/>
                          <a:cs typeface="Arial" pitchFamily="34" charset="-120"/>
                        </a:rPr>
                        <a:t>2–3</a:t>
                      </a:r>
                      <a:endParaRPr lang="en-US" sz="19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tc>
                  <a:txBody>
                    <a:bodyPr/>
                    <a:lstStyle/>
                    <a:p>
                      <a:pPr algn="ctr" indent="0" marL="0">
                        <a:buNone/>
                      </a:pPr>
                      <a:r>
                        <a:rPr lang="en-US" sz="1900" b="1" dirty="0">
                          <a:solidFill>
                            <a:srgbClr val="1E4A80"/>
                          </a:solidFill>
                          <a:latin typeface="Arial" pitchFamily="34" charset="0"/>
                          <a:ea typeface="Arial" pitchFamily="34" charset="-122"/>
                          <a:cs typeface="Arial" pitchFamily="34" charset="-120"/>
                        </a:rPr>
                        <a:t>U</a:t>
                      </a:r>
                      <a:endParaRPr lang="en-US" sz="19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solidFill>
                      <a:srgbClr val="DCE7F5"/>
                    </a:solidFill>
                  </a:tcPr>
                </a:tc>
                <a:tc>
                  <a:txBody>
                    <a:bodyPr/>
                    <a:lstStyle/>
                    <a:p>
                      <a:pPr indent="0" marL="0">
                        <a:buNone/>
                      </a:pPr>
                      <a:r>
                        <a:rPr lang="en-US" sz="1900" dirty="0">
                          <a:solidFill>
                            <a:srgbClr val="333F4B"/>
                          </a:solidFill>
                          <a:latin typeface="Arial" pitchFamily="34" charset="0"/>
                          <a:ea typeface="Arial" pitchFamily="34" charset="-122"/>
                          <a:cs typeface="Arial" pitchFamily="34" charset="-120"/>
                        </a:rPr>
                        <a:t>Globs the repo and ripgreps for class Library | fees_owed | def report</a:t>
                      </a:r>
                      <a:endParaRPr lang="en-US" sz="19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tr>
              <a:tr h="457200">
                <a:tc>
                  <a:txBody>
                    <a:bodyPr/>
                    <a:lstStyle/>
                    <a:p>
                      <a:pPr indent="0" marL="0">
                        <a:buNone/>
                      </a:pPr>
                      <a:r>
                        <a:rPr lang="en-US" sz="1900" dirty="0">
                          <a:solidFill>
                            <a:srgbClr val="333F4B"/>
                          </a:solidFill>
                          <a:latin typeface="Arial" pitchFamily="34" charset="0"/>
                          <a:ea typeface="Arial" pitchFamily="34" charset="-122"/>
                          <a:cs typeface="Arial" pitchFamily="34" charset="-120"/>
                        </a:rPr>
                        <a:t>4</a:t>
                      </a:r>
                      <a:endParaRPr lang="en-US" sz="19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tc>
                  <a:txBody>
                    <a:bodyPr/>
                    <a:lstStyle/>
                    <a:p>
                      <a:pPr algn="ctr" indent="0" marL="0">
                        <a:buNone/>
                      </a:pPr>
                      <a:r>
                        <a:rPr lang="en-US" sz="1900" b="1" dirty="0">
                          <a:solidFill>
                            <a:srgbClr val="2F5A23"/>
                          </a:solidFill>
                          <a:latin typeface="Arial" pitchFamily="34" charset="0"/>
                          <a:ea typeface="Arial" pitchFamily="34" charset="-122"/>
                          <a:cs typeface="Arial" pitchFamily="34" charset="-120"/>
                        </a:rPr>
                        <a:t>S</a:t>
                      </a:r>
                      <a:endParaRPr lang="en-US" sz="19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solidFill>
                      <a:srgbClr val="E3EEDF"/>
                    </a:solidFill>
                  </a:tcPr>
                </a:tc>
                <a:tc>
                  <a:txBody>
                    <a:bodyPr/>
                    <a:lstStyle/>
                    <a:p>
                      <a:pPr indent="0" marL="0">
                        <a:buNone/>
                      </a:pPr>
                      <a:r>
                        <a:rPr lang="en-US" sz="1900" dirty="0">
                          <a:solidFill>
                            <a:srgbClr val="333F4B"/>
                          </a:solidFill>
                          <a:latin typeface="Arial" pitchFamily="34" charset="0"/>
                          <a:ea typeface="Arial" pitchFamily="34" charset="-122"/>
                          <a:cs typeface="Arial" pitchFamily="34" charset="-120"/>
                        </a:rPr>
                        <a:t>Writes a to-do plan</a:t>
                      </a:r>
                      <a:endParaRPr lang="en-US" sz="19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tr>
              <a:tr h="457200">
                <a:tc>
                  <a:txBody>
                    <a:bodyPr/>
                    <a:lstStyle/>
                    <a:p>
                      <a:pPr indent="0" marL="0">
                        <a:buNone/>
                      </a:pPr>
                      <a:r>
                        <a:rPr lang="en-US" sz="1900" dirty="0">
                          <a:solidFill>
                            <a:srgbClr val="333F4B"/>
                          </a:solidFill>
                          <a:latin typeface="Arial" pitchFamily="34" charset="0"/>
                          <a:ea typeface="Arial" pitchFamily="34" charset="-122"/>
                          <a:cs typeface="Arial" pitchFamily="34" charset="-120"/>
                        </a:rPr>
                        <a:t>5–10</a:t>
                      </a:r>
                      <a:endParaRPr lang="en-US" sz="19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tc>
                  <a:txBody>
                    <a:bodyPr/>
                    <a:lstStyle/>
                    <a:p>
                      <a:pPr algn="ctr" indent="0" marL="0">
                        <a:buNone/>
                      </a:pPr>
                      <a:r>
                        <a:rPr lang="en-US" sz="1900" b="1" dirty="0">
                          <a:solidFill>
                            <a:srgbClr val="2F5A23"/>
                          </a:solidFill>
                          <a:latin typeface="Arial" pitchFamily="34" charset="0"/>
                          <a:ea typeface="Arial" pitchFamily="34" charset="-122"/>
                          <a:cs typeface="Arial" pitchFamily="34" charset="-120"/>
                        </a:rPr>
                        <a:t>S·P</a:t>
                      </a:r>
                      <a:endParaRPr lang="en-US" sz="19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solidFill>
                      <a:srgbClr val="E3EEDF"/>
                    </a:solidFill>
                  </a:tcPr>
                </a:tc>
                <a:tc>
                  <a:txBody>
                    <a:bodyPr/>
                    <a:lstStyle/>
                    <a:p>
                      <a:pPr indent="0" marL="0">
                        <a:buNone/>
                      </a:pPr>
                      <a:r>
                        <a:rPr lang="en-US" sz="1900" dirty="0">
                          <a:solidFill>
                            <a:srgbClr val="333F4B"/>
                          </a:solidFill>
                          <a:latin typeface="Arial" pitchFamily="34" charset="0"/>
                          <a:ea typeface="Arial" pitchFamily="34" charset="-122"/>
                          <a:cs typeface="Arial" pitchFamily="34" charset="-120"/>
                        </a:rPr>
                        <a:t>Reads six files in one parallel batch</a:t>
                      </a:r>
                      <a:endParaRPr lang="en-US" sz="19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tr>
              <a:tr h="457200">
                <a:tc>
                  <a:txBody>
                    <a:bodyPr/>
                    <a:lstStyle/>
                    <a:p>
                      <a:pPr indent="0" marL="0">
                        <a:buNone/>
                      </a:pPr>
                      <a:r>
                        <a:rPr lang="en-US" sz="1900" dirty="0">
                          <a:solidFill>
                            <a:srgbClr val="333F4B"/>
                          </a:solidFill>
                          <a:latin typeface="Arial" pitchFamily="34" charset="0"/>
                          <a:ea typeface="Arial" pitchFamily="34" charset="-122"/>
                          <a:cs typeface="Arial" pitchFamily="34" charset="-120"/>
                        </a:rPr>
                        <a:t>14–16</a:t>
                      </a:r>
                      <a:endParaRPr lang="en-US" sz="19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tc>
                  <a:txBody>
                    <a:bodyPr/>
                    <a:lstStyle/>
                    <a:p>
                      <a:pPr algn="ctr" indent="0" marL="0">
                        <a:buNone/>
                      </a:pPr>
                      <a:r>
                        <a:rPr lang="en-US" sz="1900" b="1" dirty="0">
                          <a:solidFill>
                            <a:srgbClr val="4A3B85"/>
                          </a:solidFill>
                          <a:latin typeface="Arial" pitchFamily="34" charset="0"/>
                          <a:ea typeface="Arial" pitchFamily="34" charset="-122"/>
                          <a:cs typeface="Arial" pitchFamily="34" charset="-120"/>
                        </a:rPr>
                        <a:t>G</a:t>
                      </a:r>
                      <a:endParaRPr lang="en-US" sz="19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solidFill>
                      <a:srgbClr val="E7E3F3"/>
                    </a:solidFill>
                  </a:tcPr>
                </a:tc>
                <a:tc>
                  <a:txBody>
                    <a:bodyPr/>
                    <a:lstStyle/>
                    <a:p>
                      <a:pPr indent="0" marL="0">
                        <a:buNone/>
                      </a:pPr>
                      <a:r>
                        <a:rPr lang="en-US" sz="1900" dirty="0">
                          <a:solidFill>
                            <a:srgbClr val="333F4B"/>
                          </a:solidFill>
                          <a:latin typeface="Arial" pitchFamily="34" charset="0"/>
                          <a:ea typeface="Arial" pitchFamily="34" charset="-122"/>
                          <a:cs typeface="Arial" pitchFamily="34" charset="-120"/>
                        </a:rPr>
                        <a:t>Edits library.py (twice) and cli.py</a:t>
                      </a:r>
                      <a:endParaRPr lang="en-US" sz="19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tr>
              <a:tr h="457200">
                <a:tc>
                  <a:txBody>
                    <a:bodyPr/>
                    <a:lstStyle/>
                    <a:p>
                      <a:pPr indent="0" marL="0">
                        <a:buNone/>
                      </a:pPr>
                      <a:r>
                        <a:rPr lang="en-US" sz="1900" dirty="0">
                          <a:solidFill>
                            <a:srgbClr val="333F4B"/>
                          </a:solidFill>
                          <a:latin typeface="Arial" pitchFamily="34" charset="0"/>
                          <a:ea typeface="Arial" pitchFamily="34" charset="-122"/>
                          <a:cs typeface="Arial" pitchFamily="34" charset="-120"/>
                        </a:rPr>
                        <a:t>17</a:t>
                      </a:r>
                      <a:endParaRPr lang="en-US" sz="19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tc>
                  <a:txBody>
                    <a:bodyPr/>
                    <a:lstStyle/>
                    <a:p>
                      <a:pPr algn="ctr" indent="0" marL="0">
                        <a:buNone/>
                      </a:pPr>
                      <a:r>
                        <a:rPr lang="en-US" sz="1900" b="1" dirty="0">
                          <a:solidFill>
                            <a:srgbClr val="4A3B85"/>
                          </a:solidFill>
                          <a:latin typeface="Arial" pitchFamily="34" charset="0"/>
                          <a:ea typeface="Arial" pitchFamily="34" charset="-122"/>
                          <a:cs typeface="Arial" pitchFamily="34" charset="-120"/>
                        </a:rPr>
                        <a:t>G</a:t>
                      </a:r>
                      <a:endParaRPr lang="en-US" sz="19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solidFill>
                      <a:srgbClr val="E7E3F3"/>
                    </a:solidFill>
                  </a:tcPr>
                </a:tc>
                <a:tc>
                  <a:txBody>
                    <a:bodyPr/>
                    <a:lstStyle/>
                    <a:p>
                      <a:pPr indent="0" marL="0">
                        <a:buNone/>
                      </a:pPr>
                      <a:r>
                        <a:rPr lang="en-US" sz="1900" dirty="0">
                          <a:solidFill>
                            <a:srgbClr val="333F4B"/>
                          </a:solidFill>
                          <a:latin typeface="Arial" pitchFamily="34" charset="0"/>
                          <a:ea typeface="Arial" pitchFamily="34" charset="-122"/>
                          <a:cs typeface="Arial" pitchFamily="34" charset="-120"/>
                        </a:rPr>
                        <a:t>Writes its own tests: premium grace, $10 cap, still-out loans, report line</a:t>
                      </a:r>
                      <a:endParaRPr lang="en-US" sz="19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tr>
              <a:tr h="457200">
                <a:tc>
                  <a:txBody>
                    <a:bodyPr/>
                    <a:lstStyle/>
                    <a:p>
                      <a:pPr indent="0" marL="0">
                        <a:buNone/>
                      </a:pPr>
                      <a:r>
                        <a:rPr lang="en-US" sz="1900" dirty="0">
                          <a:solidFill>
                            <a:srgbClr val="333F4B"/>
                          </a:solidFill>
                          <a:latin typeface="Arial" pitchFamily="34" charset="0"/>
                          <a:ea typeface="Arial" pitchFamily="34" charset="-122"/>
                          <a:cs typeface="Arial" pitchFamily="34" charset="-120"/>
                        </a:rPr>
                        <a:t>19</a:t>
                      </a:r>
                      <a:endParaRPr lang="en-US" sz="19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tc>
                  <a:txBody>
                    <a:bodyPr/>
                    <a:lstStyle/>
                    <a:p>
                      <a:pPr algn="ctr" indent="0" marL="0">
                        <a:buNone/>
                      </a:pPr>
                      <a:r>
                        <a:rPr lang="en-US" sz="1900" b="1" dirty="0">
                          <a:solidFill>
                            <a:srgbClr val="3D4452"/>
                          </a:solidFill>
                          <a:latin typeface="Arial" pitchFamily="34" charset="0"/>
                          <a:ea typeface="Arial" pitchFamily="34" charset="-122"/>
                          <a:cs typeface="Arial" pitchFamily="34" charset="-120"/>
                        </a:rPr>
                        <a:t>I</a:t>
                      </a:r>
                      <a:endParaRPr lang="en-US" sz="19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solidFill>
                      <a:srgbClr val="E6E3DC"/>
                    </a:solidFill>
                  </a:tcPr>
                </a:tc>
                <a:tc>
                  <a:txBody>
                    <a:bodyPr/>
                    <a:lstStyle/>
                    <a:p>
                      <a:pPr indent="0" marL="0">
                        <a:buNone/>
                      </a:pPr>
                      <a:r>
                        <a:rPr lang="en-US" sz="1900" dirty="0">
                          <a:solidFill>
                            <a:srgbClr val="333F4B"/>
                          </a:solidFill>
                          <a:latin typeface="Arial" pitchFamily="34" charset="0"/>
                          <a:ea typeface="Arial" pitchFamily="34" charset="-122"/>
                          <a:cs typeface="Arial" pitchFamily="34" charset="-120"/>
                        </a:rPr>
                        <a:t>pytest blocked: “Terminal unavailable … sandbox policy” (t = 48 s)</a:t>
                      </a:r>
                      <a:endParaRPr lang="en-US" sz="19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tr>
              <a:tr h="457200">
                <a:tc>
                  <a:txBody>
                    <a:bodyPr/>
                    <a:lstStyle/>
                    <a:p>
                      <a:pPr indent="0" marL="0">
                        <a:buNone/>
                      </a:pPr>
                      <a:r>
                        <a:rPr lang="en-US" sz="1900" dirty="0">
                          <a:solidFill>
                            <a:srgbClr val="333F4B"/>
                          </a:solidFill>
                          <a:latin typeface="Arial" pitchFamily="34" charset="0"/>
                          <a:ea typeface="Arial" pitchFamily="34" charset="-122"/>
                          <a:cs typeface="Arial" pitchFamily="34" charset="-120"/>
                        </a:rPr>
                        <a:t>22</a:t>
                      </a:r>
                      <a:endParaRPr lang="en-US" sz="19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tc>
                  <a:txBody>
                    <a:bodyPr/>
                    <a:lstStyle/>
                    <a:p>
                      <a:pPr algn="ctr" indent="0" marL="0">
                        <a:buNone/>
                      </a:pPr>
                      <a:r>
                        <a:rPr lang="en-US" sz="1900" b="1" dirty="0">
                          <a:solidFill>
                            <a:srgbClr val="8A3D0C"/>
                          </a:solidFill>
                          <a:latin typeface="Arial" pitchFamily="34" charset="0"/>
                          <a:ea typeface="Arial" pitchFamily="34" charset="-122"/>
                          <a:cs typeface="Arial" pitchFamily="34" charset="-120"/>
                        </a:rPr>
                        <a:t>P</a:t>
                      </a:r>
                      <a:endParaRPr lang="en-US" sz="19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solidFill>
                      <a:srgbClr val="F6DFCB"/>
                    </a:solidFill>
                  </a:tcPr>
                </a:tc>
                <a:tc>
                  <a:txBody>
                    <a:bodyPr/>
                    <a:lstStyle/>
                    <a:p>
                      <a:pPr indent="0" marL="0">
                        <a:buNone/>
                      </a:pPr>
                      <a:r>
                        <a:rPr lang="en-US" sz="1900" dirty="0">
                          <a:solidFill>
                            <a:srgbClr val="333F4B"/>
                          </a:solidFill>
                          <a:latin typeface="Arial" pitchFamily="34" charset="0"/>
                          <a:ea typeface="Arial" pitchFamily="34" charset="-122"/>
                          <a:cs typeface="Arial" pitchFamily="34" charset="-120"/>
                        </a:rPr>
                        <a:t>Reruns outside the sandbox: 10 passed (t = 50 s)</a:t>
                      </a:r>
                      <a:endParaRPr lang="en-US" sz="19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tr>
              <a:tr h="457200">
                <a:tc>
                  <a:txBody>
                    <a:bodyPr/>
                    <a:lstStyle/>
                    <a:p>
                      <a:pPr indent="0" marL="0">
                        <a:buNone/>
                      </a:pPr>
                      <a:r>
                        <a:rPr lang="en-US" sz="1900" dirty="0">
                          <a:solidFill>
                            <a:srgbClr val="333F4B"/>
                          </a:solidFill>
                          <a:latin typeface="Arial" pitchFamily="34" charset="0"/>
                          <a:ea typeface="Arial" pitchFamily="34" charset="-122"/>
                          <a:cs typeface="Arial" pitchFamily="34" charset="-120"/>
                        </a:rPr>
                        <a:t>23</a:t>
                      </a:r>
                      <a:endParaRPr lang="en-US" sz="19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tc>
                  <a:txBody>
                    <a:bodyPr/>
                    <a:lstStyle/>
                    <a:p>
                      <a:pPr algn="ctr" indent="0" marL="0">
                        <a:buNone/>
                      </a:pPr>
                      <a:r>
                        <a:rPr lang="en-US" sz="1900" b="1" dirty="0">
                          <a:solidFill>
                            <a:srgbClr val="8A3D0C"/>
                          </a:solidFill>
                          <a:latin typeface="Arial" pitchFamily="34" charset="0"/>
                          <a:ea typeface="Arial" pitchFamily="34" charset="-122"/>
                          <a:cs typeface="Arial" pitchFamily="34" charset="-120"/>
                        </a:rPr>
                        <a:t>P</a:t>
                      </a:r>
                      <a:endParaRPr lang="en-US" sz="19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solidFill>
                      <a:srgbClr val="F6DFCB"/>
                    </a:solidFill>
                  </a:tcPr>
                </a:tc>
                <a:tc>
                  <a:txBody>
                    <a:bodyPr/>
                    <a:lstStyle/>
                    <a:p>
                      <a:pPr indent="0" marL="0">
                        <a:buNone/>
                      </a:pPr>
                      <a:r>
                        <a:rPr lang="en-US" sz="1900" dirty="0">
                          <a:solidFill>
                            <a:srgbClr val="333F4B"/>
                          </a:solidFill>
                          <a:latin typeface="Arial" pitchFamily="34" charset="0"/>
                          <a:ea typeface="Arial" pitchFamily="34" charset="-122"/>
                          <a:cs typeface="Arial" pitchFamily="34" charset="-120"/>
                        </a:rPr>
                        <a:t>Runs the CLI on sample data to check the report (t = 64 s), then stops</a:t>
                      </a:r>
                      <a:endParaRPr lang="en-US" sz="19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tr>
            </a:tbl>
          </a:graphicData>
        </a:graphic>
      </p:graphicFrame>
      <p:sp>
        <p:nvSpPr>
          <p:cNvPr id="75" name="Tag U · understanding"/>
          <p:cNvSpPr/>
          <p:nvPr/>
        </p:nvSpPr>
        <p:spPr>
          <a:xfrm>
            <a:off x="15361920" y="22814280"/>
            <a:ext cx="3017520" cy="566928"/>
          </a:xfrm>
          <a:prstGeom prst="roundRect">
            <a:avLst>
              <a:gd name="adj" fmla="val 16129"/>
            </a:avLst>
          </a:prstGeom>
          <a:solidFill>
            <a:srgbClr val="DCE7F5"/>
          </a:solidFill>
          <a:ln w="12700">
            <a:solidFill>
              <a:srgbClr val="DCE7F5"/>
            </a:solidFill>
            <a:prstDash val="solid"/>
          </a:ln>
        </p:spPr>
      </p:sp>
      <p:sp>
        <p:nvSpPr>
          <p:cNvPr id="76" name="Text 71"/>
          <p:cNvSpPr txBox="1"/>
          <p:nvPr/>
        </p:nvSpPr>
        <p:spPr>
          <a:xfrm>
            <a:off x="15361920" y="22814280"/>
            <a:ext cx="3017520" cy="566928"/>
          </a:xfrm>
          <a:prstGeom prst="rect">
            <a:avLst/>
          </a:prstGeom>
          <a:noFill/>
          <a:ln/>
        </p:spPr>
        <p:txBody>
          <a:bodyPr wrap="square" lIns="0" tIns="0" rIns="0" bIns="0" rtlCol="0" anchor="ctr"/>
          <a:lstStyle/>
          <a:p>
            <a:pPr algn="ctr" indent="0" marL="0">
              <a:buNone/>
            </a:pPr>
            <a:r>
              <a:rPr lang="en-US" sz="2000" b="1" dirty="0">
                <a:solidFill>
                  <a:srgbClr val="1E4A80"/>
                </a:solidFill>
                <a:latin typeface="Arial" pitchFamily="34" charset="0"/>
                <a:ea typeface="Arial" pitchFamily="34" charset="-122"/>
                <a:cs typeface="Arial" pitchFamily="34" charset="-120"/>
              </a:rPr>
              <a:t>U · understanding</a:t>
            </a:r>
            <a:endParaRPr lang="en-US" sz="2000" dirty="0"/>
          </a:p>
        </p:txBody>
      </p:sp>
      <p:sp>
        <p:nvSpPr>
          <p:cNvPr id="77" name="Tag S · state"/>
          <p:cNvSpPr/>
          <p:nvPr/>
        </p:nvSpPr>
        <p:spPr>
          <a:xfrm>
            <a:off x="18653760" y="22814280"/>
            <a:ext cx="1828800" cy="566928"/>
          </a:xfrm>
          <a:prstGeom prst="roundRect">
            <a:avLst>
              <a:gd name="adj" fmla="val 16129"/>
            </a:avLst>
          </a:prstGeom>
          <a:solidFill>
            <a:srgbClr val="E3EEDF"/>
          </a:solidFill>
          <a:ln w="12700">
            <a:solidFill>
              <a:srgbClr val="E3EEDF"/>
            </a:solidFill>
            <a:prstDash val="solid"/>
          </a:ln>
        </p:spPr>
      </p:sp>
      <p:sp>
        <p:nvSpPr>
          <p:cNvPr id="78" name="Text 73"/>
          <p:cNvSpPr txBox="1"/>
          <p:nvPr/>
        </p:nvSpPr>
        <p:spPr>
          <a:xfrm>
            <a:off x="18653760" y="22814280"/>
            <a:ext cx="1828800" cy="566928"/>
          </a:xfrm>
          <a:prstGeom prst="rect">
            <a:avLst/>
          </a:prstGeom>
          <a:noFill/>
          <a:ln/>
        </p:spPr>
        <p:txBody>
          <a:bodyPr wrap="square" lIns="0" tIns="0" rIns="0" bIns="0" rtlCol="0" anchor="ctr"/>
          <a:lstStyle/>
          <a:p>
            <a:pPr algn="ctr" indent="0" marL="0">
              <a:buNone/>
            </a:pPr>
            <a:r>
              <a:rPr lang="en-US" sz="2000" b="1" dirty="0">
                <a:solidFill>
                  <a:srgbClr val="2F5A23"/>
                </a:solidFill>
                <a:latin typeface="Arial" pitchFamily="34" charset="0"/>
                <a:ea typeface="Arial" pitchFamily="34" charset="-122"/>
                <a:cs typeface="Arial" pitchFamily="34" charset="-120"/>
              </a:rPr>
              <a:t>S · state</a:t>
            </a:r>
            <a:endParaRPr lang="en-US" sz="2000" dirty="0"/>
          </a:p>
        </p:txBody>
      </p:sp>
      <p:sp>
        <p:nvSpPr>
          <p:cNvPr id="79" name="Tag P · policy"/>
          <p:cNvSpPr/>
          <p:nvPr/>
        </p:nvSpPr>
        <p:spPr>
          <a:xfrm>
            <a:off x="20756880" y="22814280"/>
            <a:ext cx="2011680" cy="566928"/>
          </a:xfrm>
          <a:prstGeom prst="roundRect">
            <a:avLst>
              <a:gd name="adj" fmla="val 16129"/>
            </a:avLst>
          </a:prstGeom>
          <a:solidFill>
            <a:srgbClr val="F6DFCB"/>
          </a:solidFill>
          <a:ln w="12700">
            <a:solidFill>
              <a:srgbClr val="F6DFCB"/>
            </a:solidFill>
            <a:prstDash val="solid"/>
          </a:ln>
        </p:spPr>
      </p:sp>
      <p:sp>
        <p:nvSpPr>
          <p:cNvPr id="80" name="Text 75"/>
          <p:cNvSpPr txBox="1"/>
          <p:nvPr/>
        </p:nvSpPr>
        <p:spPr>
          <a:xfrm>
            <a:off x="20756880" y="22814280"/>
            <a:ext cx="2011680" cy="566928"/>
          </a:xfrm>
          <a:prstGeom prst="rect">
            <a:avLst/>
          </a:prstGeom>
          <a:noFill/>
          <a:ln/>
        </p:spPr>
        <p:txBody>
          <a:bodyPr wrap="square" lIns="0" tIns="0" rIns="0" bIns="0" rtlCol="0" anchor="ctr"/>
          <a:lstStyle/>
          <a:p>
            <a:pPr algn="ctr" indent="0" marL="0">
              <a:buNone/>
            </a:pPr>
            <a:r>
              <a:rPr lang="en-US" sz="2000" b="1" dirty="0">
                <a:solidFill>
                  <a:srgbClr val="8A3D0C"/>
                </a:solidFill>
                <a:latin typeface="Arial" pitchFamily="34" charset="0"/>
                <a:ea typeface="Arial" pitchFamily="34" charset="-122"/>
                <a:cs typeface="Arial" pitchFamily="34" charset="-120"/>
              </a:rPr>
              <a:t>P · policy</a:t>
            </a:r>
            <a:endParaRPr lang="en-US" sz="2000" dirty="0"/>
          </a:p>
        </p:txBody>
      </p:sp>
      <p:sp>
        <p:nvSpPr>
          <p:cNvPr id="81" name="Tag G · generation"/>
          <p:cNvSpPr/>
          <p:nvPr/>
        </p:nvSpPr>
        <p:spPr>
          <a:xfrm>
            <a:off x="23042880" y="22814280"/>
            <a:ext cx="2743200" cy="566928"/>
          </a:xfrm>
          <a:prstGeom prst="roundRect">
            <a:avLst>
              <a:gd name="adj" fmla="val 16129"/>
            </a:avLst>
          </a:prstGeom>
          <a:solidFill>
            <a:srgbClr val="E7E3F3"/>
          </a:solidFill>
          <a:ln w="12700">
            <a:solidFill>
              <a:srgbClr val="E7E3F3"/>
            </a:solidFill>
            <a:prstDash val="solid"/>
          </a:ln>
        </p:spPr>
      </p:sp>
      <p:sp>
        <p:nvSpPr>
          <p:cNvPr id="82" name="Text 77"/>
          <p:cNvSpPr txBox="1"/>
          <p:nvPr/>
        </p:nvSpPr>
        <p:spPr>
          <a:xfrm>
            <a:off x="23042880" y="22814280"/>
            <a:ext cx="2743200" cy="566928"/>
          </a:xfrm>
          <a:prstGeom prst="rect">
            <a:avLst/>
          </a:prstGeom>
          <a:noFill/>
          <a:ln/>
        </p:spPr>
        <p:txBody>
          <a:bodyPr wrap="square" lIns="0" tIns="0" rIns="0" bIns="0" rtlCol="0" anchor="ctr"/>
          <a:lstStyle/>
          <a:p>
            <a:pPr algn="ctr" indent="0" marL="0">
              <a:buNone/>
            </a:pPr>
            <a:r>
              <a:rPr lang="en-US" sz="2000" b="1" dirty="0">
                <a:solidFill>
                  <a:srgbClr val="4A3B85"/>
                </a:solidFill>
                <a:latin typeface="Arial" pitchFamily="34" charset="0"/>
                <a:ea typeface="Arial" pitchFamily="34" charset="-122"/>
                <a:cs typeface="Arial" pitchFamily="34" charset="-120"/>
              </a:rPr>
              <a:t>G · generation</a:t>
            </a:r>
            <a:endParaRPr lang="en-US" sz="2000" dirty="0"/>
          </a:p>
        </p:txBody>
      </p:sp>
      <p:sp>
        <p:nvSpPr>
          <p:cNvPr id="83" name="Tag I · interface"/>
          <p:cNvSpPr/>
          <p:nvPr/>
        </p:nvSpPr>
        <p:spPr>
          <a:xfrm>
            <a:off x="26060400" y="22814280"/>
            <a:ext cx="2468880" cy="566928"/>
          </a:xfrm>
          <a:prstGeom prst="roundRect">
            <a:avLst>
              <a:gd name="adj" fmla="val 16129"/>
            </a:avLst>
          </a:prstGeom>
          <a:solidFill>
            <a:srgbClr val="E6E3DC"/>
          </a:solidFill>
          <a:ln w="12700">
            <a:solidFill>
              <a:srgbClr val="E6E3DC"/>
            </a:solidFill>
            <a:prstDash val="solid"/>
          </a:ln>
        </p:spPr>
      </p:sp>
      <p:sp>
        <p:nvSpPr>
          <p:cNvPr id="84" name="Text 79"/>
          <p:cNvSpPr txBox="1"/>
          <p:nvPr/>
        </p:nvSpPr>
        <p:spPr>
          <a:xfrm>
            <a:off x="26060400" y="22814280"/>
            <a:ext cx="2468880" cy="566928"/>
          </a:xfrm>
          <a:prstGeom prst="rect">
            <a:avLst/>
          </a:prstGeom>
          <a:noFill/>
          <a:ln/>
        </p:spPr>
        <p:txBody>
          <a:bodyPr wrap="square" lIns="0" tIns="0" rIns="0" bIns="0" rtlCol="0" anchor="ctr"/>
          <a:lstStyle/>
          <a:p>
            <a:pPr algn="ctr" indent="0" marL="0">
              <a:buNone/>
            </a:pPr>
            <a:r>
              <a:rPr lang="en-US" sz="2000" b="1" dirty="0">
                <a:solidFill>
                  <a:srgbClr val="3D4452"/>
                </a:solidFill>
                <a:latin typeface="Arial" pitchFamily="34" charset="0"/>
                <a:ea typeface="Arial" pitchFamily="34" charset="-122"/>
                <a:cs typeface="Arial" pitchFamily="34" charset="-120"/>
              </a:rPr>
              <a:t>I · interface</a:t>
            </a:r>
            <a:endParaRPr lang="en-US" sz="2000" dirty="0"/>
          </a:p>
        </p:txBody>
      </p:sp>
      <p:sp>
        <p:nvSpPr>
          <p:cNvPr id="85" name="Panel Interfaces: Written per Vendor"/>
          <p:cNvSpPr/>
          <p:nvPr/>
        </p:nvSpPr>
        <p:spPr>
          <a:xfrm>
            <a:off x="14996160" y="24643080"/>
            <a:ext cx="13898880" cy="7726680"/>
          </a:xfrm>
          <a:prstGeom prst="rect">
            <a:avLst/>
          </a:prstGeom>
          <a:solidFill>
            <a:srgbClr val="FFFFFF"/>
          </a:solidFill>
          <a:ln w="6350">
            <a:solidFill>
              <a:srgbClr val="FFFFFF"/>
            </a:solidFill>
            <a:prstDash val="solid"/>
          </a:ln>
        </p:spPr>
      </p:sp>
      <p:sp>
        <p:nvSpPr>
          <p:cNvPr id="86" name="Panel header Interfaces: Written per Vendor"/>
          <p:cNvSpPr/>
          <p:nvPr/>
        </p:nvSpPr>
        <p:spPr>
          <a:xfrm>
            <a:off x="14996160" y="24643080"/>
            <a:ext cx="13898880" cy="960120"/>
          </a:xfrm>
          <a:prstGeom prst="rect">
            <a:avLst/>
          </a:prstGeom>
          <a:solidFill>
            <a:srgbClr val="003057"/>
          </a:solidFill>
          <a:ln w="6350">
            <a:solidFill>
              <a:srgbClr val="003057"/>
            </a:solidFill>
            <a:prstDash val="solid"/>
          </a:ln>
        </p:spPr>
      </p:sp>
      <p:sp>
        <p:nvSpPr>
          <p:cNvPr id="87" name="Text 82"/>
          <p:cNvSpPr txBox="1"/>
          <p:nvPr/>
        </p:nvSpPr>
        <p:spPr>
          <a:xfrm>
            <a:off x="14996160" y="24643080"/>
            <a:ext cx="13898880" cy="960120"/>
          </a:xfrm>
          <a:prstGeom prst="rect">
            <a:avLst/>
          </a:prstGeom>
          <a:noFill/>
          <a:ln/>
        </p:spPr>
        <p:txBody>
          <a:bodyPr wrap="square" lIns="0" tIns="0" rIns="0" bIns="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Interfaces: Written per Vendor</a:t>
            </a:r>
            <a:endParaRPr lang="en-US" sz="4000" dirty="0"/>
          </a:p>
        </p:txBody>
      </p:sp>
      <p:sp>
        <p:nvSpPr>
          <p:cNvPr id="88" name="Text 83"/>
          <p:cNvSpPr txBox="1"/>
          <p:nvPr/>
        </p:nvSpPr>
        <p:spPr>
          <a:xfrm>
            <a:off x="15361920" y="25968960"/>
            <a:ext cx="2743200" cy="457200"/>
          </a:xfrm>
          <a:prstGeom prst="rect">
            <a:avLst/>
          </a:prstGeom>
          <a:noFill/>
          <a:ln/>
        </p:spPr>
        <p:txBody>
          <a:bodyPr wrap="square" lIns="0" tIns="0" rIns="0" bIns="0" rtlCol="0" anchor="t"/>
          <a:lstStyle/>
          <a:p>
            <a:pPr indent="0" marL="0">
              <a:buNone/>
            </a:pPr>
            <a:r>
              <a:rPr lang="en-US" sz="2400" b="1" dirty="0">
                <a:solidFill>
                  <a:srgbClr val="003057"/>
                </a:solidFill>
                <a:latin typeface="Arial" pitchFamily="34" charset="0"/>
                <a:ea typeface="Arial" pitchFamily="34" charset="-122"/>
                <a:cs typeface="Arial" pitchFamily="34" charset="-120"/>
              </a:rPr>
              <a:t>Edit format</a:t>
            </a:r>
            <a:endParaRPr lang="en-US" sz="2400" dirty="0"/>
          </a:p>
        </p:txBody>
      </p:sp>
      <p:sp>
        <p:nvSpPr>
          <p:cNvPr id="89" name="Text 84"/>
          <p:cNvSpPr txBox="1"/>
          <p:nvPr/>
        </p:nvSpPr>
        <p:spPr>
          <a:xfrm>
            <a:off x="18196560" y="25968960"/>
            <a:ext cx="10332720" cy="1188720"/>
          </a:xfrm>
          <a:prstGeom prst="rect">
            <a:avLst/>
          </a:prstGeom>
          <a:noFill/>
          <a:ln/>
        </p:spPr>
        <p:txBody>
          <a:bodyPr wrap="square" lIns="0" tIns="0" rIns="0" bIns="0" rtlCol="0" anchor="t"/>
          <a:lstStyle/>
          <a:p>
            <a:pPr indent="0" marL="0">
              <a:buNone/>
            </a:pPr>
            <a:r>
              <a:rPr lang="en-US" sz="2300" dirty="0">
                <a:solidFill>
                  <a:srgbClr val="333F4B"/>
                </a:solidFill>
                <a:latin typeface="Arial" pitchFamily="34" charset="0"/>
                <a:ea typeface="Arial" pitchFamily="34" charset="-122"/>
                <a:cs typeface="Arial" pitchFamily="34" charset="-120"/>
              </a:rPr>
              <a:t>Patch format for OpenAI models, string replacement for Anthropic models; the unfamiliar one costs extra reasoning tokens and more mistakes [3].</a:t>
            </a:r>
            <a:endParaRPr lang="en-US" sz="2300" dirty="0"/>
          </a:p>
        </p:txBody>
      </p:sp>
      <p:sp>
        <p:nvSpPr>
          <p:cNvPr id="90" name="Text 85"/>
          <p:cNvSpPr txBox="1"/>
          <p:nvPr/>
        </p:nvSpPr>
        <p:spPr>
          <a:xfrm>
            <a:off x="15361920" y="27249120"/>
            <a:ext cx="2743200" cy="457200"/>
          </a:xfrm>
          <a:prstGeom prst="rect">
            <a:avLst/>
          </a:prstGeom>
          <a:noFill/>
          <a:ln/>
        </p:spPr>
        <p:txBody>
          <a:bodyPr wrap="square" lIns="0" tIns="0" rIns="0" bIns="0" rtlCol="0" anchor="t"/>
          <a:lstStyle/>
          <a:p>
            <a:pPr indent="0" marL="0">
              <a:buNone/>
            </a:pPr>
            <a:r>
              <a:rPr lang="en-US" sz="2400" b="1" dirty="0">
                <a:solidFill>
                  <a:srgbClr val="003057"/>
                </a:solidFill>
                <a:latin typeface="Arial" pitchFamily="34" charset="0"/>
                <a:ea typeface="Arial" pitchFamily="34" charset="-122"/>
                <a:cs typeface="Arial" pitchFamily="34" charset="-120"/>
              </a:rPr>
              <a:t>Prompts</a:t>
            </a:r>
            <a:endParaRPr lang="en-US" sz="2400" dirty="0"/>
          </a:p>
        </p:txBody>
      </p:sp>
      <p:sp>
        <p:nvSpPr>
          <p:cNvPr id="91" name="Text 86"/>
          <p:cNvSpPr txBox="1"/>
          <p:nvPr/>
        </p:nvSpPr>
        <p:spPr>
          <a:xfrm>
            <a:off x="18196560" y="27249120"/>
            <a:ext cx="10332720" cy="731520"/>
          </a:xfrm>
          <a:prstGeom prst="rect">
            <a:avLst/>
          </a:prstGeom>
          <a:noFill/>
          <a:ln/>
        </p:spPr>
        <p:txBody>
          <a:bodyPr wrap="square" lIns="0" tIns="0" rIns="0" bIns="0" rtlCol="0" anchor="t"/>
          <a:lstStyle/>
          <a:p>
            <a:pPr indent="0" marL="0">
              <a:buNone/>
            </a:pPr>
            <a:r>
              <a:rPr lang="en-US" sz="2300" dirty="0">
                <a:solidFill>
                  <a:srgbClr val="333F4B"/>
                </a:solidFill>
                <a:latin typeface="Arial" pitchFamily="34" charset="0"/>
                <a:ea typeface="Arial" pitchFamily="34" charset="-122"/>
                <a:cs typeface="Arial" pitchFamily="34" charset="-120"/>
              </a:rPr>
              <a:t>Tuned per provider and per model version [3].</a:t>
            </a:r>
            <a:endParaRPr lang="en-US" sz="2300" dirty="0"/>
          </a:p>
        </p:txBody>
      </p:sp>
      <p:sp>
        <p:nvSpPr>
          <p:cNvPr id="92" name="Text 87"/>
          <p:cNvSpPr txBox="1"/>
          <p:nvPr/>
        </p:nvSpPr>
        <p:spPr>
          <a:xfrm>
            <a:off x="15361920" y="28117800"/>
            <a:ext cx="2743200" cy="457200"/>
          </a:xfrm>
          <a:prstGeom prst="rect">
            <a:avLst/>
          </a:prstGeom>
          <a:noFill/>
          <a:ln/>
        </p:spPr>
        <p:txBody>
          <a:bodyPr wrap="square" lIns="0" tIns="0" rIns="0" bIns="0" rtlCol="0" anchor="t"/>
          <a:lstStyle/>
          <a:p>
            <a:pPr indent="0" marL="0">
              <a:buNone/>
            </a:pPr>
            <a:r>
              <a:rPr lang="en-US" sz="2400" b="1" dirty="0">
                <a:solidFill>
                  <a:srgbClr val="003057"/>
                </a:solidFill>
                <a:latin typeface="Arial" pitchFamily="34" charset="0"/>
                <a:ea typeface="Arial" pitchFamily="34" charset="-122"/>
                <a:cs typeface="Arial" pitchFamily="34" charset="-120"/>
              </a:rPr>
              <a:t>Tool errors</a:t>
            </a:r>
            <a:endParaRPr lang="en-US" sz="2400" dirty="0"/>
          </a:p>
        </p:txBody>
      </p:sp>
      <p:sp>
        <p:nvSpPr>
          <p:cNvPr id="93" name="Text 88"/>
          <p:cNvSpPr txBox="1"/>
          <p:nvPr/>
        </p:nvSpPr>
        <p:spPr>
          <a:xfrm>
            <a:off x="18196560" y="28117800"/>
            <a:ext cx="10332720" cy="1280160"/>
          </a:xfrm>
          <a:prstGeom prst="rect">
            <a:avLst/>
          </a:prstGeom>
          <a:noFill/>
          <a:ln/>
        </p:spPr>
        <p:txBody>
          <a:bodyPr wrap="square" lIns="0" tIns="0" rIns="0" bIns="0" rtlCol="0" anchor="t"/>
          <a:lstStyle/>
          <a:p>
            <a:pPr indent="0" marL="0">
              <a:buNone/>
            </a:pPr>
            <a:r>
              <a:rPr lang="en-US" sz="2300" dirty="0">
                <a:solidFill>
                  <a:srgbClr val="333F4B"/>
                </a:solidFill>
                <a:latin typeface="Arial" pitchFamily="34" charset="0"/>
                <a:ea typeface="Arial" pitchFamily="34" charset="-122"/>
                <a:cs typeface="Arial" pitchFamily="34" charset="-120"/>
              </a:rPr>
              <a:t>Typed (InvalidArguments, Timeout, ProviderError, …); anything else is treated as a harness bug [3]. The closest thing to L3’s observation back to the policy.</a:t>
            </a:r>
            <a:endParaRPr lang="en-US" sz="2300" dirty="0"/>
          </a:p>
        </p:txBody>
      </p:sp>
      <p:sp>
        <p:nvSpPr>
          <p:cNvPr id="94" name="Seam callout"/>
          <p:cNvSpPr/>
          <p:nvPr/>
        </p:nvSpPr>
        <p:spPr>
          <a:xfrm>
            <a:off x="15361920" y="29809440"/>
            <a:ext cx="13167360" cy="2011680"/>
          </a:xfrm>
          <a:prstGeom prst="roundRect">
            <a:avLst>
              <a:gd name="adj" fmla="val 6818"/>
            </a:avLst>
          </a:prstGeom>
          <a:solidFill>
            <a:srgbClr val="003057"/>
          </a:solidFill>
          <a:ln w="12700">
            <a:solidFill>
              <a:srgbClr val="003057"/>
            </a:solidFill>
            <a:prstDash val="solid"/>
          </a:ln>
        </p:spPr>
      </p:sp>
      <p:sp>
        <p:nvSpPr>
          <p:cNvPr id="95" name="Text 90"/>
          <p:cNvSpPr txBox="1"/>
          <p:nvPr/>
        </p:nvSpPr>
        <p:spPr>
          <a:xfrm>
            <a:off x="15636240" y="29992320"/>
            <a:ext cx="12618720" cy="1645920"/>
          </a:xfrm>
          <a:prstGeom prst="rect">
            <a:avLst/>
          </a:prstGeom>
          <a:noFill/>
          <a:ln/>
        </p:spPr>
        <p:txBody>
          <a:bodyPr wrap="square" lIns="0" tIns="0" rIns="0" bIns="0" rtlCol="0" anchor="ctr"/>
          <a:lstStyle/>
          <a:p>
            <a:pPr indent="0" marL="0">
              <a:buNone/>
            </a:pPr>
            <a:r>
              <a:rPr lang="en-US" sz="2500" b="1" dirty="0">
                <a:solidFill>
                  <a:srgbClr val="B3A369"/>
                </a:solidFill>
                <a:latin typeface="Arial" pitchFamily="34" charset="0"/>
                <a:ea typeface="Arial" pitchFamily="34" charset="-122"/>
                <a:cs typeface="Arial" pitchFamily="34" charset="-120"/>
              </a:rPr>
              <a:t>The seam: </a:t>
            </a:r>
            <a:pPr indent="0" marL="0">
              <a:buNone/>
            </a:pPr>
            <a:r>
              <a:rPr lang="en-US" sz="2500" dirty="0">
                <a:solidFill>
                  <a:srgbClr val="FFFFFF"/>
                </a:solidFill>
                <a:latin typeface="Arial" pitchFamily="34" charset="0"/>
                <a:ea typeface="Arial" pitchFamily="34" charset="-122"/>
                <a:cs typeface="Arial" pitchFamily="34" charset="-120"/>
              </a:rPr>
              <a:t>switch models mid-chat and the new one reads history another model wrote, misses the prompt cache, and may call tools it lacks. Cursor’s advice: one model per chat [3].</a:t>
            </a:r>
            <a:endParaRPr lang="en-US" sz="2500" dirty="0"/>
          </a:p>
        </p:txBody>
      </p:sp>
      <p:sp>
        <p:nvSpPr>
          <p:cNvPr id="96" name="Panel Seams and Economics"/>
          <p:cNvSpPr/>
          <p:nvPr/>
        </p:nvSpPr>
        <p:spPr>
          <a:xfrm>
            <a:off x="29443680" y="5897880"/>
            <a:ext cx="13898880" cy="9098280"/>
          </a:xfrm>
          <a:prstGeom prst="rect">
            <a:avLst/>
          </a:prstGeom>
          <a:solidFill>
            <a:srgbClr val="FFFFFF"/>
          </a:solidFill>
          <a:ln w="6350">
            <a:solidFill>
              <a:srgbClr val="FFFFFF"/>
            </a:solidFill>
            <a:prstDash val="solid"/>
          </a:ln>
        </p:spPr>
      </p:sp>
      <p:sp>
        <p:nvSpPr>
          <p:cNvPr id="97" name="Panel header Seams and Economics"/>
          <p:cNvSpPr/>
          <p:nvPr/>
        </p:nvSpPr>
        <p:spPr>
          <a:xfrm>
            <a:off x="29443680" y="5897880"/>
            <a:ext cx="13898880" cy="960120"/>
          </a:xfrm>
          <a:prstGeom prst="rect">
            <a:avLst/>
          </a:prstGeom>
          <a:solidFill>
            <a:srgbClr val="003057"/>
          </a:solidFill>
          <a:ln w="6350">
            <a:solidFill>
              <a:srgbClr val="003057"/>
            </a:solidFill>
            <a:prstDash val="solid"/>
          </a:ln>
        </p:spPr>
      </p:sp>
      <p:sp>
        <p:nvSpPr>
          <p:cNvPr id="98" name="Text 93"/>
          <p:cNvSpPr txBox="1"/>
          <p:nvPr/>
        </p:nvSpPr>
        <p:spPr>
          <a:xfrm>
            <a:off x="29443680" y="5897880"/>
            <a:ext cx="13898880" cy="960120"/>
          </a:xfrm>
          <a:prstGeom prst="rect">
            <a:avLst/>
          </a:prstGeom>
          <a:noFill/>
          <a:ln/>
        </p:spPr>
        <p:txBody>
          <a:bodyPr wrap="square" lIns="0" tIns="0" rIns="0" bIns="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Seams and Economics</a:t>
            </a:r>
            <a:endParaRPr lang="en-US" sz="4000" dirty="0"/>
          </a:p>
        </p:txBody>
      </p:sp>
      <p:sp>
        <p:nvSpPr>
          <p:cNvPr id="99" name="Text 94"/>
          <p:cNvSpPr txBox="1"/>
          <p:nvPr/>
        </p:nvSpPr>
        <p:spPr>
          <a:xfrm>
            <a:off x="29809440" y="7223760"/>
            <a:ext cx="2743200" cy="457200"/>
          </a:xfrm>
          <a:prstGeom prst="rect">
            <a:avLst/>
          </a:prstGeom>
          <a:noFill/>
          <a:ln/>
        </p:spPr>
        <p:txBody>
          <a:bodyPr wrap="square" lIns="0" tIns="0" rIns="0" bIns="0" rtlCol="0" anchor="t"/>
          <a:lstStyle/>
          <a:p>
            <a:pPr indent="0" marL="0">
              <a:buNone/>
            </a:pPr>
            <a:r>
              <a:rPr lang="en-US" sz="2100" b="1" dirty="0">
                <a:solidFill>
                  <a:srgbClr val="2C64A8"/>
                </a:solidFill>
                <a:latin typeface="Arial" pitchFamily="34" charset="0"/>
                <a:ea typeface="Arial" pitchFamily="34" charset="-122"/>
                <a:cs typeface="Arial" pitchFamily="34" charset="-120"/>
              </a:rPr>
              <a:t>APR 2025</a:t>
            </a:r>
            <a:endParaRPr lang="en-US" sz="2100" dirty="0"/>
          </a:p>
        </p:txBody>
      </p:sp>
      <p:sp>
        <p:nvSpPr>
          <p:cNvPr id="100" name="Text 95"/>
          <p:cNvSpPr txBox="1"/>
          <p:nvPr/>
        </p:nvSpPr>
        <p:spPr>
          <a:xfrm>
            <a:off x="32644080" y="7223760"/>
            <a:ext cx="10332720" cy="457200"/>
          </a:xfrm>
          <a:prstGeom prst="rect">
            <a:avLst/>
          </a:prstGeom>
          <a:noFill/>
          <a:ln/>
        </p:spPr>
        <p:txBody>
          <a:bodyPr wrap="square" lIns="0" tIns="0" rIns="0" bIns="0" rtlCol="0" anchor="t"/>
          <a:lstStyle/>
          <a:p>
            <a:pPr indent="0" marL="0">
              <a:buNone/>
            </a:pPr>
            <a:r>
              <a:rPr lang="en-US" sz="2500" b="1" dirty="0">
                <a:solidFill>
                  <a:srgbClr val="1F2933"/>
                </a:solidFill>
                <a:latin typeface="Arial" pitchFamily="34" charset="0"/>
                <a:ea typeface="Arial" pitchFamily="34" charset="-122"/>
                <a:cs typeface="Arial" pitchFamily="34" charset="-120"/>
              </a:rPr>
              <a:t>Ungrounded support bot</a:t>
            </a:r>
            <a:endParaRPr lang="en-US" sz="2500" dirty="0"/>
          </a:p>
        </p:txBody>
      </p:sp>
      <p:sp>
        <p:nvSpPr>
          <p:cNvPr id="101" name="Text 96"/>
          <p:cNvSpPr txBox="1"/>
          <p:nvPr/>
        </p:nvSpPr>
        <p:spPr>
          <a:xfrm>
            <a:off x="32644080" y="7726680"/>
            <a:ext cx="10332720" cy="960120"/>
          </a:xfrm>
          <a:prstGeom prst="rect">
            <a:avLst/>
          </a:prstGeom>
          <a:noFill/>
          <a:ln/>
        </p:spPr>
        <p:txBody>
          <a:bodyPr wrap="square" lIns="0" tIns="0" rIns="0" bIns="0" rtlCol="0" anchor="t"/>
          <a:lstStyle/>
          <a:p>
            <a:pPr indent="0" marL="0">
              <a:buNone/>
            </a:pPr>
            <a:r>
              <a:rPr lang="en-US" sz="2200" dirty="0">
                <a:solidFill>
                  <a:srgbClr val="333F4B"/>
                </a:solidFill>
                <a:latin typeface="Arial" pitchFamily="34" charset="0"/>
                <a:ea typeface="Arial" pitchFamily="34" charset="-122"/>
                <a:cs typeface="Arial" pitchFamily="34" charset="-120"/>
              </a:rPr>
              <a:t>Support bot “Sam” invented a one-device policy to explain a logout bug; users cancelled [7].</a:t>
            </a:r>
            <a:endParaRPr lang="en-US" sz="2200" dirty="0"/>
          </a:p>
        </p:txBody>
      </p:sp>
      <p:sp>
        <p:nvSpPr>
          <p:cNvPr id="102" name="Text 97"/>
          <p:cNvSpPr txBox="1"/>
          <p:nvPr/>
        </p:nvSpPr>
        <p:spPr>
          <a:xfrm>
            <a:off x="29809440" y="8778240"/>
            <a:ext cx="2743200" cy="457200"/>
          </a:xfrm>
          <a:prstGeom prst="rect">
            <a:avLst/>
          </a:prstGeom>
          <a:noFill/>
          <a:ln/>
        </p:spPr>
        <p:txBody>
          <a:bodyPr wrap="square" lIns="0" tIns="0" rIns="0" bIns="0" rtlCol="0" anchor="t"/>
          <a:lstStyle/>
          <a:p>
            <a:pPr indent="0" marL="0">
              <a:buNone/>
            </a:pPr>
            <a:r>
              <a:rPr lang="en-US" sz="2100" b="1" dirty="0">
                <a:solidFill>
                  <a:srgbClr val="2C64A8"/>
                </a:solidFill>
                <a:latin typeface="Arial" pitchFamily="34" charset="0"/>
                <a:ea typeface="Arial" pitchFamily="34" charset="-122"/>
                <a:cs typeface="Arial" pitchFamily="34" charset="-120"/>
              </a:rPr>
              <a:t>JUN–JUL 2025</a:t>
            </a:r>
            <a:endParaRPr lang="en-US" sz="2100" dirty="0"/>
          </a:p>
        </p:txBody>
      </p:sp>
      <p:sp>
        <p:nvSpPr>
          <p:cNvPr id="103" name="Text 98"/>
          <p:cNvSpPr txBox="1"/>
          <p:nvPr/>
        </p:nvSpPr>
        <p:spPr>
          <a:xfrm>
            <a:off x="32644080" y="8778240"/>
            <a:ext cx="10332720" cy="457200"/>
          </a:xfrm>
          <a:prstGeom prst="rect">
            <a:avLst/>
          </a:prstGeom>
          <a:noFill/>
          <a:ln/>
        </p:spPr>
        <p:txBody>
          <a:bodyPr wrap="square" lIns="0" tIns="0" rIns="0" bIns="0" rtlCol="0" anchor="t"/>
          <a:lstStyle/>
          <a:p>
            <a:pPr indent="0" marL="0">
              <a:buNone/>
            </a:pPr>
            <a:r>
              <a:rPr lang="en-US" sz="2500" b="1" dirty="0">
                <a:solidFill>
                  <a:srgbClr val="1F2933"/>
                </a:solidFill>
                <a:latin typeface="Arial" pitchFamily="34" charset="0"/>
                <a:ea typeface="Arial" pitchFamily="34" charset="-122"/>
                <a:cs typeface="Arial" pitchFamily="34" charset="-120"/>
              </a:rPr>
              <a:t>Renting the model</a:t>
            </a:r>
            <a:endParaRPr lang="en-US" sz="2500" dirty="0"/>
          </a:p>
        </p:txBody>
      </p:sp>
      <p:sp>
        <p:nvSpPr>
          <p:cNvPr id="104" name="Text 99"/>
          <p:cNvSpPr txBox="1"/>
          <p:nvPr/>
        </p:nvSpPr>
        <p:spPr>
          <a:xfrm>
            <a:off x="32644080" y="9281160"/>
            <a:ext cx="10332720" cy="960120"/>
          </a:xfrm>
          <a:prstGeom prst="rect">
            <a:avLst/>
          </a:prstGeom>
          <a:noFill/>
          <a:ln/>
        </p:spPr>
        <p:txBody>
          <a:bodyPr wrap="square" lIns="0" tIns="0" rIns="0" bIns="0" rtlCol="0" anchor="t"/>
          <a:lstStyle/>
          <a:p>
            <a:pPr indent="0" marL="0">
              <a:buNone/>
            </a:pPr>
            <a:r>
              <a:rPr lang="en-US" sz="2200" dirty="0">
                <a:solidFill>
                  <a:srgbClr val="333F4B"/>
                </a:solidFill>
                <a:latin typeface="Arial" pitchFamily="34" charset="0"/>
                <a:ea typeface="Arial" pitchFamily="34" charset="-122"/>
                <a:cs typeface="Arial" pitchFamily="34" charset="-120"/>
              </a:rPr>
              <a:t>Pro moved from 500 requests to $20 of usage at API rates; surprise bills, refunds [6].</a:t>
            </a:r>
            <a:endParaRPr lang="en-US" sz="2200" dirty="0"/>
          </a:p>
        </p:txBody>
      </p:sp>
      <p:sp>
        <p:nvSpPr>
          <p:cNvPr id="105" name="Text 100"/>
          <p:cNvSpPr txBox="1"/>
          <p:nvPr/>
        </p:nvSpPr>
        <p:spPr>
          <a:xfrm>
            <a:off x="29809440" y="10332720"/>
            <a:ext cx="2743200" cy="457200"/>
          </a:xfrm>
          <a:prstGeom prst="rect">
            <a:avLst/>
          </a:prstGeom>
          <a:noFill/>
          <a:ln/>
        </p:spPr>
        <p:txBody>
          <a:bodyPr wrap="square" lIns="0" tIns="0" rIns="0" bIns="0" rtlCol="0" anchor="t"/>
          <a:lstStyle/>
          <a:p>
            <a:pPr indent="0" marL="0">
              <a:buNone/>
            </a:pPr>
            <a:r>
              <a:rPr lang="en-US" sz="2100" b="1" dirty="0">
                <a:solidFill>
                  <a:srgbClr val="2C64A8"/>
                </a:solidFill>
                <a:latin typeface="Arial" pitchFamily="34" charset="0"/>
                <a:ea typeface="Arial" pitchFamily="34" charset="-122"/>
                <a:cs typeface="Arial" pitchFamily="34" charset="-120"/>
              </a:rPr>
              <a:t>MAR 2026</a:t>
            </a:r>
            <a:endParaRPr lang="en-US" sz="2100" dirty="0"/>
          </a:p>
        </p:txBody>
      </p:sp>
      <p:sp>
        <p:nvSpPr>
          <p:cNvPr id="106" name="Text 101"/>
          <p:cNvSpPr txBox="1"/>
          <p:nvPr/>
        </p:nvSpPr>
        <p:spPr>
          <a:xfrm>
            <a:off x="32644080" y="10332720"/>
            <a:ext cx="10332720" cy="457200"/>
          </a:xfrm>
          <a:prstGeom prst="rect">
            <a:avLst/>
          </a:prstGeom>
          <a:noFill/>
          <a:ln/>
        </p:spPr>
        <p:txBody>
          <a:bodyPr wrap="square" lIns="0" tIns="0" rIns="0" bIns="0" rtlCol="0" anchor="t"/>
          <a:lstStyle/>
          <a:p>
            <a:pPr indent="0" marL="0">
              <a:buNone/>
            </a:pPr>
            <a:r>
              <a:rPr lang="en-US" sz="2500" b="1" dirty="0">
                <a:solidFill>
                  <a:srgbClr val="1F2933"/>
                </a:solidFill>
                <a:latin typeface="Arial" pitchFamily="34" charset="0"/>
                <a:ea typeface="Arial" pitchFamily="34" charset="-122"/>
                <a:cs typeface="Arial" pitchFamily="34" charset="-120"/>
              </a:rPr>
              <a:t>Owning the model</a:t>
            </a:r>
            <a:endParaRPr lang="en-US" sz="2500" dirty="0"/>
          </a:p>
        </p:txBody>
      </p:sp>
      <p:sp>
        <p:nvSpPr>
          <p:cNvPr id="107" name="Text 102"/>
          <p:cNvSpPr txBox="1"/>
          <p:nvPr/>
        </p:nvSpPr>
        <p:spPr>
          <a:xfrm>
            <a:off x="32644080" y="10835640"/>
            <a:ext cx="10332720" cy="960120"/>
          </a:xfrm>
          <a:prstGeom prst="rect">
            <a:avLst/>
          </a:prstGeom>
          <a:noFill/>
          <a:ln/>
        </p:spPr>
        <p:txBody>
          <a:bodyPr wrap="square" lIns="0" tIns="0" rIns="0" bIns="0" rtlCol="0" anchor="t"/>
          <a:lstStyle/>
          <a:p>
            <a:pPr indent="0" marL="0">
              <a:buNone/>
            </a:pPr>
            <a:r>
              <a:rPr lang="en-US" sz="2200" dirty="0">
                <a:solidFill>
                  <a:srgbClr val="333F4B"/>
                </a:solidFill>
                <a:latin typeface="Arial" pitchFamily="34" charset="0"/>
                <a:ea typeface="Arial" pitchFamily="34" charset="-122"/>
                <a:cs typeface="Arial" pitchFamily="34" charset="-120"/>
              </a:rPr>
              <a:t>Composer 2’s Kimi K2.5 base was not disclosed at launch; Cursor called it “a miss” [8].</a:t>
            </a:r>
            <a:endParaRPr lang="en-US" sz="2200" dirty="0"/>
          </a:p>
        </p:txBody>
      </p:sp>
      <p:graphicFrame>
        <p:nvGraphicFramePr>
          <p:cNvPr id="4" name="Pricing table"/>
          <p:cNvGraphicFramePr>
            <a:graphicFrameLocks noGrp="1"/>
          </p:cNvGraphicFramePr>
          <p:nvPr>
            <p:extLst>
              <p:ext uri="{D42A27DB-BD31-4B8C-83A1-F6EECF244321}">
                <p14:modId xmlns:p14="http://schemas.microsoft.com/office/powerpoint/2010/main" val="1579011935"/>
              </p:ext>
            </p:extLst>
          </p:nvPr>
        </p:nvGraphicFramePr>
        <p:xfrm>
          <a:off x="29809440" y="12070080"/>
          <a:ext cx="13167360" cy="914400"/>
        </p:xfrm>
        <a:graphic>
          <a:graphicData uri="http://schemas.openxmlformats.org/drawingml/2006/table">
            <a:tbl>
              <a:tblPr/>
              <a:tblGrid>
                <a:gridCol w="6583680"/>
                <a:gridCol w="3291840"/>
                <a:gridCol w="3291840"/>
              </a:tblGrid>
              <a:tr h="502920">
                <a:tc>
                  <a:txBody>
                    <a:bodyPr/>
                    <a:lstStyle/>
                    <a:p>
                      <a:pPr indent="0" marL="0">
                        <a:buNone/>
                      </a:pPr>
                      <a:r>
                        <a:rPr lang="en-US" sz="2200" b="1" dirty="0">
                          <a:solidFill>
                            <a:srgbClr val="FFFFFF"/>
                          </a:solidFill>
                          <a:latin typeface="Arial" pitchFamily="34" charset="0"/>
                          <a:ea typeface="Arial" pitchFamily="34" charset="-122"/>
                          <a:cs typeface="Arial" pitchFamily="34" charset="-120"/>
                        </a:rPr>
                        <a:t>Model ($ per 1M tokens)</a:t>
                      </a:r>
                      <a:endParaRPr lang="en-US" sz="22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solidFill>
                      <a:srgbClr val="003057"/>
                    </a:solidFill>
                  </a:tcPr>
                </a:tc>
                <a:tc>
                  <a:txBody>
                    <a:bodyPr/>
                    <a:lstStyle/>
                    <a:p>
                      <a:pPr indent="0" marL="0">
                        <a:buNone/>
                      </a:pPr>
                      <a:r>
                        <a:rPr lang="en-US" sz="2200" b="1" dirty="0">
                          <a:solidFill>
                            <a:srgbClr val="FFFFFF"/>
                          </a:solidFill>
                          <a:latin typeface="Arial" pitchFamily="34" charset="0"/>
                          <a:ea typeface="Arial" pitchFamily="34" charset="-122"/>
                          <a:cs typeface="Arial" pitchFamily="34" charset="-120"/>
                        </a:rPr>
                        <a:t>Input</a:t>
                      </a:r>
                      <a:endParaRPr lang="en-US" sz="22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solidFill>
                      <a:srgbClr val="003057"/>
                    </a:solidFill>
                  </a:tcPr>
                </a:tc>
                <a:tc>
                  <a:txBody>
                    <a:bodyPr/>
                    <a:lstStyle/>
                    <a:p>
                      <a:pPr indent="0" marL="0">
                        <a:buNone/>
                      </a:pPr>
                      <a:r>
                        <a:rPr lang="en-US" sz="2200" b="1" dirty="0">
                          <a:solidFill>
                            <a:srgbClr val="FFFFFF"/>
                          </a:solidFill>
                          <a:latin typeface="Arial" pitchFamily="34" charset="0"/>
                          <a:ea typeface="Arial" pitchFamily="34" charset="-122"/>
                          <a:cs typeface="Arial" pitchFamily="34" charset="-120"/>
                        </a:rPr>
                        <a:t>Output</a:t>
                      </a:r>
                      <a:endParaRPr lang="en-US" sz="22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solidFill>
                      <a:srgbClr val="003057"/>
                    </a:solidFill>
                  </a:tcPr>
                </a:tc>
              </a:tr>
              <a:tr h="502920">
                <a:tc>
                  <a:txBody>
                    <a:bodyPr/>
                    <a:lstStyle/>
                    <a:p>
                      <a:pPr indent="0" marL="0">
                        <a:buNone/>
                      </a:pPr>
                      <a:r>
                        <a:rPr lang="en-US" sz="2200" dirty="0">
                          <a:solidFill>
                            <a:srgbClr val="333F4B"/>
                          </a:solidFill>
                          <a:latin typeface="Arial" pitchFamily="34" charset="0"/>
                          <a:ea typeface="Arial" pitchFamily="34" charset="-122"/>
                          <a:cs typeface="Arial" pitchFamily="34" charset="-120"/>
                        </a:rPr>
                        <a:t>Composer 2 (Standard)</a:t>
                      </a:r>
                      <a:endParaRPr lang="en-US" sz="22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tc>
                  <a:txBody>
                    <a:bodyPr/>
                    <a:lstStyle/>
                    <a:p>
                      <a:pPr indent="0" marL="0">
                        <a:buNone/>
                      </a:pPr>
                      <a:r>
                        <a:rPr lang="en-US" sz="2200" dirty="0">
                          <a:solidFill>
                            <a:srgbClr val="333F4B"/>
                          </a:solidFill>
                          <a:latin typeface="Arial" pitchFamily="34" charset="0"/>
                          <a:ea typeface="Arial" pitchFamily="34" charset="-122"/>
                          <a:cs typeface="Arial" pitchFamily="34" charset="-120"/>
                        </a:rPr>
                        <a:t>$0.50</a:t>
                      </a:r>
                      <a:endParaRPr lang="en-US" sz="22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tc>
                  <a:txBody>
                    <a:bodyPr/>
                    <a:lstStyle/>
                    <a:p>
                      <a:pPr indent="0" marL="0">
                        <a:buNone/>
                      </a:pPr>
                      <a:r>
                        <a:rPr lang="en-US" sz="2200" dirty="0">
                          <a:solidFill>
                            <a:srgbClr val="333F4B"/>
                          </a:solidFill>
                          <a:latin typeface="Arial" pitchFamily="34" charset="0"/>
                          <a:ea typeface="Arial" pitchFamily="34" charset="-122"/>
                          <a:cs typeface="Arial" pitchFamily="34" charset="-120"/>
                        </a:rPr>
                        <a:t>$2.50</a:t>
                      </a:r>
                      <a:endParaRPr lang="en-US" sz="22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tr>
              <a:tr h="502920">
                <a:tc>
                  <a:txBody>
                    <a:bodyPr/>
                    <a:lstStyle/>
                    <a:p>
                      <a:pPr indent="0" marL="0">
                        <a:buNone/>
                      </a:pPr>
                      <a:r>
                        <a:rPr lang="en-US" sz="2200" dirty="0">
                          <a:solidFill>
                            <a:srgbClr val="333F4B"/>
                          </a:solidFill>
                          <a:latin typeface="Arial" pitchFamily="34" charset="0"/>
                          <a:ea typeface="Arial" pitchFamily="34" charset="-122"/>
                          <a:cs typeface="Arial" pitchFamily="34" charset="-120"/>
                        </a:rPr>
                        <a:t>Claude Opus 4.6</a:t>
                      </a:r>
                      <a:endParaRPr lang="en-US" sz="22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tc>
                  <a:txBody>
                    <a:bodyPr/>
                    <a:lstStyle/>
                    <a:p>
                      <a:pPr indent="0" marL="0">
                        <a:buNone/>
                      </a:pPr>
                      <a:r>
                        <a:rPr lang="en-US" sz="2200" dirty="0">
                          <a:solidFill>
                            <a:srgbClr val="333F4B"/>
                          </a:solidFill>
                          <a:latin typeface="Arial" pitchFamily="34" charset="0"/>
                          <a:ea typeface="Arial" pitchFamily="34" charset="-122"/>
                          <a:cs typeface="Arial" pitchFamily="34" charset="-120"/>
                        </a:rPr>
                        <a:t>$5.00</a:t>
                      </a:r>
                      <a:endParaRPr lang="en-US" sz="22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tc>
                  <a:txBody>
                    <a:bodyPr/>
                    <a:lstStyle/>
                    <a:p>
                      <a:pPr indent="0" marL="0">
                        <a:buNone/>
                      </a:pPr>
                      <a:r>
                        <a:rPr lang="en-US" sz="2200" dirty="0">
                          <a:solidFill>
                            <a:srgbClr val="333F4B"/>
                          </a:solidFill>
                          <a:latin typeface="Arial" pitchFamily="34" charset="0"/>
                          <a:ea typeface="Arial" pitchFamily="34" charset="-122"/>
                          <a:cs typeface="Arial" pitchFamily="34" charset="-120"/>
                        </a:rPr>
                        <a:t>$25.00</a:t>
                      </a:r>
                      <a:endParaRPr lang="en-US" sz="22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tr>
              <a:tr h="502920">
                <a:tc>
                  <a:txBody>
                    <a:bodyPr/>
                    <a:lstStyle/>
                    <a:p>
                      <a:pPr indent="0" marL="0">
                        <a:buNone/>
                      </a:pPr>
                      <a:r>
                        <a:rPr lang="en-US" sz="2200" dirty="0">
                          <a:solidFill>
                            <a:srgbClr val="333F4B"/>
                          </a:solidFill>
                          <a:latin typeface="Arial" pitchFamily="34" charset="0"/>
                          <a:ea typeface="Arial" pitchFamily="34" charset="-122"/>
                          <a:cs typeface="Arial" pitchFamily="34" charset="-120"/>
                        </a:rPr>
                        <a:t>GPT-5.4</a:t>
                      </a:r>
                      <a:endParaRPr lang="en-US" sz="22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tc>
                  <a:txBody>
                    <a:bodyPr/>
                    <a:lstStyle/>
                    <a:p>
                      <a:pPr indent="0" marL="0">
                        <a:buNone/>
                      </a:pPr>
                      <a:r>
                        <a:rPr lang="en-US" sz="2200" dirty="0">
                          <a:solidFill>
                            <a:srgbClr val="333F4B"/>
                          </a:solidFill>
                          <a:latin typeface="Arial" pitchFamily="34" charset="0"/>
                          <a:ea typeface="Arial" pitchFamily="34" charset="-122"/>
                          <a:cs typeface="Arial" pitchFamily="34" charset="-120"/>
                        </a:rPr>
                        <a:t>$2.50</a:t>
                      </a:r>
                      <a:endParaRPr lang="en-US" sz="22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tc>
                  <a:txBody>
                    <a:bodyPr/>
                    <a:lstStyle/>
                    <a:p>
                      <a:pPr indent="0" marL="0">
                        <a:buNone/>
                      </a:pPr>
                      <a:r>
                        <a:rPr lang="en-US" sz="2200" dirty="0">
                          <a:solidFill>
                            <a:srgbClr val="333F4B"/>
                          </a:solidFill>
                          <a:latin typeface="Arial" pitchFamily="34" charset="0"/>
                          <a:ea typeface="Arial" pitchFamily="34" charset="-122"/>
                          <a:cs typeface="Arial" pitchFamily="34" charset="-120"/>
                        </a:rPr>
                        <a:t>$15.00</a:t>
                      </a:r>
                      <a:endParaRPr lang="en-US" sz="22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tr>
            </a:tbl>
          </a:graphicData>
        </a:graphic>
      </p:graphicFrame>
      <p:sp>
        <p:nvSpPr>
          <p:cNvPr id="109" name="Text 103"/>
          <p:cNvSpPr txBox="1"/>
          <p:nvPr/>
        </p:nvSpPr>
        <p:spPr>
          <a:xfrm>
            <a:off x="29809440" y="14401800"/>
            <a:ext cx="13167360" cy="548640"/>
          </a:xfrm>
          <a:prstGeom prst="rect">
            <a:avLst/>
          </a:prstGeom>
          <a:noFill/>
          <a:ln/>
        </p:spPr>
        <p:txBody>
          <a:bodyPr wrap="square" lIns="0" tIns="0" rIns="0" bIns="0" rtlCol="0" anchor="t"/>
          <a:lstStyle/>
          <a:p>
            <a:pPr indent="0" marL="0">
              <a:buNone/>
            </a:pPr>
            <a:r>
              <a:rPr lang="en-US" sz="2000" i="1" dirty="0">
                <a:solidFill>
                  <a:srgbClr val="5B6670"/>
                </a:solidFill>
                <a:latin typeface="Arial" pitchFamily="34" charset="0"/>
                <a:ea typeface="Arial" pitchFamily="34" charset="-122"/>
                <a:cs typeface="Arial" pitchFamily="34" charset="-120"/>
              </a:rPr>
              <a:t>Table 2. List prices at Composer 2’s launch [8]: its input tokens cost a tenth of Opus 4.6’s.</a:t>
            </a:r>
            <a:endParaRPr lang="en-US" sz="2000" dirty="0"/>
          </a:p>
        </p:txBody>
      </p:sp>
      <p:sp>
        <p:nvSpPr>
          <p:cNvPr id="110" name="Panel Measured Behavior"/>
          <p:cNvSpPr/>
          <p:nvPr/>
        </p:nvSpPr>
        <p:spPr>
          <a:xfrm>
            <a:off x="29443680" y="15544800"/>
            <a:ext cx="13898880" cy="7452360"/>
          </a:xfrm>
          <a:prstGeom prst="rect">
            <a:avLst/>
          </a:prstGeom>
          <a:solidFill>
            <a:srgbClr val="FFFFFF"/>
          </a:solidFill>
          <a:ln w="6350">
            <a:solidFill>
              <a:srgbClr val="FFFFFF"/>
            </a:solidFill>
            <a:prstDash val="solid"/>
          </a:ln>
        </p:spPr>
      </p:sp>
      <p:sp>
        <p:nvSpPr>
          <p:cNvPr id="111" name="Panel header Measured Behavior"/>
          <p:cNvSpPr/>
          <p:nvPr/>
        </p:nvSpPr>
        <p:spPr>
          <a:xfrm>
            <a:off x="29443680" y="15544800"/>
            <a:ext cx="13898880" cy="960120"/>
          </a:xfrm>
          <a:prstGeom prst="rect">
            <a:avLst/>
          </a:prstGeom>
          <a:solidFill>
            <a:srgbClr val="003057"/>
          </a:solidFill>
          <a:ln w="6350">
            <a:solidFill>
              <a:srgbClr val="003057"/>
            </a:solidFill>
            <a:prstDash val="solid"/>
          </a:ln>
        </p:spPr>
      </p:sp>
      <p:sp>
        <p:nvSpPr>
          <p:cNvPr id="112" name="Text 106"/>
          <p:cNvSpPr txBox="1"/>
          <p:nvPr/>
        </p:nvSpPr>
        <p:spPr>
          <a:xfrm>
            <a:off x="29443680" y="15544800"/>
            <a:ext cx="13898880" cy="960120"/>
          </a:xfrm>
          <a:prstGeom prst="rect">
            <a:avLst/>
          </a:prstGeom>
          <a:noFill/>
          <a:ln/>
        </p:spPr>
        <p:txBody>
          <a:bodyPr wrap="square" lIns="0" tIns="0" rIns="0" bIns="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Measured Behavior</a:t>
            </a:r>
            <a:endParaRPr lang="en-US" sz="4000" dirty="0"/>
          </a:p>
        </p:txBody>
      </p:sp>
      <p:sp>
        <p:nvSpPr>
          <p:cNvPr id="113" name="Text 107"/>
          <p:cNvSpPr txBox="1"/>
          <p:nvPr/>
        </p:nvSpPr>
        <p:spPr>
          <a:xfrm>
            <a:off x="29809440" y="16870680"/>
            <a:ext cx="13167360" cy="1005840"/>
          </a:xfrm>
          <a:prstGeom prst="rect">
            <a:avLst/>
          </a:prstGeom>
          <a:noFill/>
          <a:ln/>
        </p:spPr>
        <p:txBody>
          <a:bodyPr wrap="square" lIns="0" tIns="0" rIns="0" bIns="0" rtlCol="0" anchor="t"/>
          <a:lstStyle/>
          <a:p>
            <a:pPr indent="0" marL="0">
              <a:buNone/>
            </a:pPr>
            <a:r>
              <a:rPr lang="en-US" sz="2300" b="1" dirty="0">
                <a:solidFill>
                  <a:srgbClr val="003057"/>
                </a:solidFill>
                <a:latin typeface="Arial" pitchFamily="34" charset="0"/>
                <a:ea typeface="Arial" pitchFamily="34" charset="-122"/>
                <a:cs typeface="Arial" pitchFamily="34" charset="-120"/>
              </a:rPr>
              <a:t>Task: </a:t>
            </a:r>
            <a:pPr indent="0" marL="0">
              <a:buNone/>
            </a:pPr>
            <a:r>
              <a:rPr lang="en-US" sz="2300" dirty="0">
                <a:solidFill>
                  <a:srgbClr val="333F4B"/>
                </a:solidFill>
                <a:latin typeface="Arial" pitchFamily="34" charset="0"/>
                <a:ea typeface="Arial" pitchFamily="34" charset="-122"/>
                <a:cs typeface="Arial" pitchFamily="34" charset="-120"/>
              </a:rPr>
              <a:t>add late fees to a small Python library repo; 6 visible tests, 9 hidden tests the agent never sees. Same prompt for both runs.</a:t>
            </a:r>
            <a:endParaRPr lang="en-US" sz="2300" dirty="0"/>
          </a:p>
        </p:txBody>
      </p:sp>
      <p:graphicFrame>
        <p:nvGraphicFramePr>
          <p:cNvPr id="5" name="Results table"/>
          <p:cNvGraphicFramePr>
            <a:graphicFrameLocks noGrp="1"/>
          </p:cNvGraphicFramePr>
          <p:nvPr>
            <p:extLst>
              <p:ext uri="{D42A27DB-BD31-4B8C-83A1-F6EECF244321}">
                <p14:modId xmlns:p14="http://schemas.microsoft.com/office/powerpoint/2010/main" val="1579011935"/>
              </p:ext>
            </p:extLst>
          </p:nvPr>
        </p:nvGraphicFramePr>
        <p:xfrm>
          <a:off x="29809440" y="18013680"/>
          <a:ext cx="13167360" cy="914400"/>
        </p:xfrm>
        <a:graphic>
          <a:graphicData uri="http://schemas.openxmlformats.org/drawingml/2006/table">
            <a:tbl>
              <a:tblPr/>
              <a:tblGrid>
                <a:gridCol w="4480560"/>
                <a:gridCol w="2011680"/>
                <a:gridCol w="2103120"/>
                <a:gridCol w="2286000"/>
                <a:gridCol w="2286000"/>
              </a:tblGrid>
              <a:tr h="621792">
                <a:tc>
                  <a:txBody>
                    <a:bodyPr/>
                    <a:lstStyle/>
                    <a:p>
                      <a:pPr indent="0" marL="0">
                        <a:buNone/>
                      </a:pPr>
                      <a:r>
                        <a:rPr lang="en-US" sz="2300" b="1" dirty="0">
                          <a:solidFill>
                            <a:srgbClr val="FFFFFF"/>
                          </a:solidFill>
                          <a:latin typeface="Arial" pitchFamily="34" charset="0"/>
                          <a:ea typeface="Arial" pitchFamily="34" charset="-122"/>
                          <a:cs typeface="Arial" pitchFamily="34" charset="-120"/>
                        </a:rPr>
                        <a:t>Run</a:t>
                      </a:r>
                      <a:endParaRPr lang="en-US" sz="23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solidFill>
                      <a:srgbClr val="003057"/>
                    </a:solidFill>
                  </a:tcPr>
                </a:tc>
                <a:tc>
                  <a:txBody>
                    <a:bodyPr/>
                    <a:lstStyle/>
                    <a:p>
                      <a:pPr indent="0" marL="0">
                        <a:buNone/>
                      </a:pPr>
                      <a:r>
                        <a:rPr lang="en-US" sz="2300" b="1" dirty="0">
                          <a:solidFill>
                            <a:srgbClr val="FFFFFF"/>
                          </a:solidFill>
                          <a:latin typeface="Arial" pitchFamily="34" charset="0"/>
                          <a:ea typeface="Arial" pitchFamily="34" charset="-122"/>
                          <a:cs typeface="Arial" pitchFamily="34" charset="-120"/>
                        </a:rPr>
                        <a:t>Interface</a:t>
                      </a:r>
                      <a:endParaRPr lang="en-US" sz="23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solidFill>
                      <a:srgbClr val="003057"/>
                    </a:solidFill>
                  </a:tcPr>
                </a:tc>
                <a:tc>
                  <a:txBody>
                    <a:bodyPr/>
                    <a:lstStyle/>
                    <a:p>
                      <a:pPr indent="0" marL="0">
                        <a:buNone/>
                      </a:pPr>
                      <a:r>
                        <a:rPr lang="en-US" sz="2300" b="1" dirty="0">
                          <a:solidFill>
                            <a:srgbClr val="FFFFFF"/>
                          </a:solidFill>
                          <a:latin typeface="Arial" pitchFamily="34" charset="0"/>
                          <a:ea typeface="Arial" pitchFamily="34" charset="-122"/>
                          <a:cs typeface="Arial" pitchFamily="34" charset="-120"/>
                        </a:rPr>
                        <a:t>Time (s)</a:t>
                      </a:r>
                      <a:endParaRPr lang="en-US" sz="23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solidFill>
                      <a:srgbClr val="003057"/>
                    </a:solidFill>
                  </a:tcPr>
                </a:tc>
                <a:tc>
                  <a:txBody>
                    <a:bodyPr/>
                    <a:lstStyle/>
                    <a:p>
                      <a:pPr indent="0" marL="0">
                        <a:buNone/>
                      </a:pPr>
                      <a:r>
                        <a:rPr lang="en-US" sz="2300" b="1" dirty="0">
                          <a:solidFill>
                            <a:srgbClr val="FFFFFF"/>
                          </a:solidFill>
                          <a:latin typeface="Arial" pitchFamily="34" charset="0"/>
                          <a:ea typeface="Arial" pitchFamily="34" charset="-122"/>
                          <a:cs typeface="Arial" pitchFamily="34" charset="-120"/>
                        </a:rPr>
                        <a:t>Tool calls</a:t>
                      </a:r>
                      <a:endParaRPr lang="en-US" sz="23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solidFill>
                      <a:srgbClr val="003057"/>
                    </a:solidFill>
                  </a:tcPr>
                </a:tc>
                <a:tc>
                  <a:txBody>
                    <a:bodyPr/>
                    <a:lstStyle/>
                    <a:p>
                      <a:pPr indent="0" marL="0">
                        <a:buNone/>
                      </a:pPr>
                      <a:r>
                        <a:rPr lang="en-US" sz="2300" b="1" dirty="0">
                          <a:solidFill>
                            <a:srgbClr val="FFFFFF"/>
                          </a:solidFill>
                          <a:latin typeface="Arial" pitchFamily="34" charset="0"/>
                          <a:ea typeface="Arial" pitchFamily="34" charset="-122"/>
                          <a:cs typeface="Arial" pitchFamily="34" charset="-120"/>
                        </a:rPr>
                        <a:t>Hidden tests</a:t>
                      </a:r>
                      <a:endParaRPr lang="en-US" sz="23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solidFill>
                      <a:srgbClr val="003057"/>
                    </a:solidFill>
                  </a:tcPr>
                </a:tc>
              </a:tr>
              <a:tr h="621792">
                <a:tc>
                  <a:txBody>
                    <a:bodyPr/>
                    <a:lstStyle/>
                    <a:p>
                      <a:pPr indent="0" marL="0">
                        <a:buNone/>
                      </a:pPr>
                      <a:r>
                        <a:rPr lang="en-US" sz="2300" dirty="0">
                          <a:solidFill>
                            <a:srgbClr val="333F4B"/>
                          </a:solidFill>
                          <a:latin typeface="Arial" pitchFamily="34" charset="0"/>
                          <a:ea typeface="Arial" pitchFamily="34" charset="-122"/>
                          <a:cs typeface="Arial" pitchFamily="34" charset="-120"/>
                        </a:rPr>
                        <a:t>Grok 4.6 High Fast</a:t>
                      </a:r>
                      <a:endParaRPr lang="en-US" sz="23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tc>
                  <a:txBody>
                    <a:bodyPr/>
                    <a:lstStyle/>
                    <a:p>
                      <a:pPr indent="0" marL="0">
                        <a:buNone/>
                      </a:pPr>
                      <a:r>
                        <a:rPr lang="en-US" sz="2300" dirty="0">
                          <a:solidFill>
                            <a:srgbClr val="333F4B"/>
                          </a:solidFill>
                          <a:latin typeface="Arial" pitchFamily="34" charset="0"/>
                          <a:ea typeface="Arial" pitchFamily="34" charset="-122"/>
                          <a:cs typeface="Arial" pitchFamily="34" charset="-120"/>
                        </a:rPr>
                        <a:t>Editor</a:t>
                      </a:r>
                      <a:endParaRPr lang="en-US" sz="23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tc>
                  <a:txBody>
                    <a:bodyPr/>
                    <a:lstStyle/>
                    <a:p>
                      <a:pPr indent="0" marL="0">
                        <a:buNone/>
                      </a:pPr>
                      <a:r>
                        <a:rPr lang="en-US" sz="2300" dirty="0">
                          <a:solidFill>
                            <a:srgbClr val="333F4B"/>
                          </a:solidFill>
                          <a:latin typeface="Arial" pitchFamily="34" charset="0"/>
                          <a:ea typeface="Arial" pitchFamily="34" charset="-122"/>
                          <a:cs typeface="Arial" pitchFamily="34" charset="-120"/>
                        </a:rPr>
                        <a:t>74</a:t>
                      </a:r>
                      <a:endParaRPr lang="en-US" sz="23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tc>
                  <a:txBody>
                    <a:bodyPr/>
                    <a:lstStyle/>
                    <a:p>
                      <a:pPr indent="0" marL="0">
                        <a:buNone/>
                      </a:pPr>
                      <a:r>
                        <a:rPr lang="en-US" sz="2300" dirty="0">
                          <a:solidFill>
                            <a:srgbClr val="333F4B"/>
                          </a:solidFill>
                          <a:latin typeface="Arial" pitchFamily="34" charset="0"/>
                          <a:ea typeface="Arial" pitchFamily="34" charset="-122"/>
                          <a:cs typeface="Arial" pitchFamily="34" charset="-120"/>
                        </a:rPr>
                        <a:t>19</a:t>
                      </a:r>
                      <a:endParaRPr lang="en-US" sz="23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tc>
                  <a:txBody>
                    <a:bodyPr/>
                    <a:lstStyle/>
                    <a:p>
                      <a:pPr indent="0" marL="0">
                        <a:buNone/>
                      </a:pPr>
                      <a:r>
                        <a:rPr lang="en-US" sz="2300" dirty="0">
                          <a:solidFill>
                            <a:srgbClr val="333F4B"/>
                          </a:solidFill>
                          <a:latin typeface="Arial" pitchFamily="34" charset="0"/>
                          <a:ea typeface="Arial" pitchFamily="34" charset="-122"/>
                          <a:cs typeface="Arial" pitchFamily="34" charset="-120"/>
                        </a:rPr>
                        <a:t>9 / 9</a:t>
                      </a:r>
                      <a:endParaRPr lang="en-US" sz="23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tr>
              <a:tr h="621792">
                <a:tc>
                  <a:txBody>
                    <a:bodyPr/>
                    <a:lstStyle/>
                    <a:p>
                      <a:pPr indent="0" marL="0">
                        <a:buNone/>
                      </a:pPr>
                      <a:r>
                        <a:rPr lang="en-US" sz="2300" dirty="0">
                          <a:solidFill>
                            <a:srgbClr val="333F4B"/>
                          </a:solidFill>
                          <a:latin typeface="Arial" pitchFamily="34" charset="0"/>
                          <a:ea typeface="Arial" pitchFamily="34" charset="-122"/>
                          <a:cs typeface="Arial" pitchFamily="34" charset="-120"/>
                        </a:rPr>
                        <a:t>Auto (model not disclosed)</a:t>
                      </a:r>
                      <a:endParaRPr lang="en-US" sz="23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tc>
                  <a:txBody>
                    <a:bodyPr/>
                    <a:lstStyle/>
                    <a:p>
                      <a:pPr indent="0" marL="0">
                        <a:buNone/>
                      </a:pPr>
                      <a:r>
                        <a:rPr lang="en-US" sz="2300" dirty="0">
                          <a:solidFill>
                            <a:srgbClr val="333F4B"/>
                          </a:solidFill>
                          <a:latin typeface="Arial" pitchFamily="34" charset="0"/>
                          <a:ea typeface="Arial" pitchFamily="34" charset="-122"/>
                          <a:cs typeface="Arial" pitchFamily="34" charset="-120"/>
                        </a:rPr>
                        <a:t>CLI</a:t>
                      </a:r>
                      <a:endParaRPr lang="en-US" sz="23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tc>
                  <a:txBody>
                    <a:bodyPr/>
                    <a:lstStyle/>
                    <a:p>
                      <a:pPr indent="0" marL="0">
                        <a:buNone/>
                      </a:pPr>
                      <a:r>
                        <a:rPr lang="en-US" sz="2300" dirty="0">
                          <a:solidFill>
                            <a:srgbClr val="333F4B"/>
                          </a:solidFill>
                          <a:latin typeface="Arial" pitchFamily="34" charset="0"/>
                          <a:ea typeface="Arial" pitchFamily="34" charset="-122"/>
                          <a:cs typeface="Arial" pitchFamily="34" charset="-120"/>
                        </a:rPr>
                        <a:t>33.9</a:t>
                      </a:r>
                      <a:endParaRPr lang="en-US" sz="23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tc>
                  <a:txBody>
                    <a:bodyPr/>
                    <a:lstStyle/>
                    <a:p>
                      <a:pPr indent="0" marL="0">
                        <a:buNone/>
                      </a:pPr>
                      <a:r>
                        <a:rPr lang="en-US" sz="2300" dirty="0">
                          <a:solidFill>
                            <a:srgbClr val="333F4B"/>
                          </a:solidFill>
                          <a:latin typeface="Arial" pitchFamily="34" charset="0"/>
                          <a:ea typeface="Arial" pitchFamily="34" charset="-122"/>
                          <a:cs typeface="Arial" pitchFamily="34" charset="-120"/>
                        </a:rPr>
                        <a:t>14</a:t>
                      </a:r>
                      <a:endParaRPr lang="en-US" sz="23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tc>
                  <a:txBody>
                    <a:bodyPr/>
                    <a:lstStyle/>
                    <a:p>
                      <a:pPr indent="0" marL="0">
                        <a:buNone/>
                      </a:pPr>
                      <a:r>
                        <a:rPr lang="en-US" sz="2300" dirty="0">
                          <a:solidFill>
                            <a:srgbClr val="333F4B"/>
                          </a:solidFill>
                          <a:latin typeface="Arial" pitchFamily="34" charset="0"/>
                          <a:ea typeface="Arial" pitchFamily="34" charset="-122"/>
                          <a:cs typeface="Arial" pitchFamily="34" charset="-120"/>
                        </a:rPr>
                        <a:t>9 / 9</a:t>
                      </a:r>
                      <a:endParaRPr lang="en-US" sz="2300" dirty="0">
                        <a:latin typeface="Arial" charset="0"/>
                        <a:ea typeface="Arial" charset="0"/>
                        <a:cs typeface="Arial" charset="0"/>
                      </a:endParaRPr>
                    </a:p>
                  </a:txBody>
                  <a:tcPr marL="109728" marR="109728" marT="54864" marB="54864" anchor="ctr">
                    <a:lnL w="12700" cap="flat" cmpd="sng" algn="ctr">
                      <a:solidFill>
                        <a:srgbClr val="C9D3DD"/>
                      </a:solidFill>
                      <a:prstDash val="solid"/>
                      <a:round/>
                      <a:headEnd type="none" w="med" len="med"/>
                      <a:tailEnd type="none" w="med" len="med"/>
                    </a:lnL>
                    <a:lnR w="12700" cap="flat" cmpd="sng" algn="ctr">
                      <a:solidFill>
                        <a:srgbClr val="C9D3DD"/>
                      </a:solidFill>
                      <a:prstDash val="solid"/>
                      <a:round/>
                      <a:headEnd type="none" w="med" len="med"/>
                      <a:tailEnd type="none" w="med" len="med"/>
                    </a:lnR>
                    <a:lnT w="12700" cap="flat" cmpd="sng" algn="ctr">
                      <a:solidFill>
                        <a:srgbClr val="C9D3DD"/>
                      </a:solidFill>
                      <a:prstDash val="solid"/>
                      <a:round/>
                      <a:headEnd type="none" w="med" len="med"/>
                      <a:tailEnd type="none" w="med" len="med"/>
                    </a:lnT>
                    <a:lnB w="12700" cap="flat" cmpd="sng" algn="ctr">
                      <a:solidFill>
                        <a:srgbClr val="C9D3DD"/>
                      </a:solidFill>
                      <a:prstDash val="solid"/>
                      <a:round/>
                      <a:headEnd type="none" w="med" len="med"/>
                      <a:tailEnd type="none" w="med" len="med"/>
                    </a:lnB>
                  </a:tcPr>
                </a:tc>
              </a:tr>
            </a:tbl>
          </a:graphicData>
        </a:graphic>
      </p:graphicFrame>
      <p:sp>
        <p:nvSpPr>
          <p:cNvPr id="115" name="Self-report callout"/>
          <p:cNvSpPr/>
          <p:nvPr/>
        </p:nvSpPr>
        <p:spPr>
          <a:xfrm>
            <a:off x="29809440" y="20116800"/>
            <a:ext cx="13167360" cy="1234440"/>
          </a:xfrm>
          <a:prstGeom prst="roundRect">
            <a:avLst>
              <a:gd name="adj" fmla="val 11111"/>
            </a:avLst>
          </a:prstGeom>
          <a:solidFill>
            <a:srgbClr val="E8EEF4"/>
          </a:solidFill>
          <a:ln w="12700">
            <a:solidFill>
              <a:srgbClr val="E8EEF4"/>
            </a:solidFill>
            <a:prstDash val="solid"/>
          </a:ln>
        </p:spPr>
      </p:sp>
      <p:sp>
        <p:nvSpPr>
          <p:cNvPr id="116" name="Text 109"/>
          <p:cNvSpPr txBox="1"/>
          <p:nvPr/>
        </p:nvSpPr>
        <p:spPr>
          <a:xfrm>
            <a:off x="30083760" y="20208240"/>
            <a:ext cx="12618720" cy="1051560"/>
          </a:xfrm>
          <a:prstGeom prst="rect">
            <a:avLst/>
          </a:prstGeom>
          <a:noFill/>
          <a:ln/>
        </p:spPr>
        <p:txBody>
          <a:bodyPr wrap="square" lIns="0" tIns="0" rIns="0" bIns="0" rtlCol="0" anchor="ctr"/>
          <a:lstStyle/>
          <a:p>
            <a:pPr indent="0" marL="0">
              <a:buNone/>
            </a:pPr>
            <a:r>
              <a:rPr lang="en-US" sz="2200" b="1" dirty="0">
                <a:solidFill>
                  <a:srgbClr val="003057"/>
                </a:solidFill>
                <a:latin typeface="Arial" pitchFamily="34" charset="0"/>
                <a:ea typeface="Arial" pitchFamily="34" charset="-122"/>
                <a:cs typeface="Arial" pitchFamily="34" charset="-120"/>
              </a:rPr>
              <a:t>Self-report vs. measured: </a:t>
            </a:r>
            <a:pPr indent="0" marL="0">
              <a:buNone/>
            </a:pPr>
            <a:r>
              <a:rPr lang="en-US" sz="2200" dirty="0">
                <a:solidFill>
                  <a:srgbClr val="333F4B"/>
                </a:solidFill>
                <a:latin typeface="Arial" pitchFamily="34" charset="0"/>
                <a:ea typeface="Arial" pitchFamily="34" charset="-122"/>
                <a:cs typeface="Arial" pitchFamily="34" charset="-120"/>
              </a:rPr>
              <a:t>asked afterward, Auto estimated its run at 90 s, 2.65× the measured 33.9 s, while counting its 14 tool calls correctly.</a:t>
            </a:r>
            <a:endParaRPr lang="en-US" sz="2200" dirty="0"/>
          </a:p>
        </p:txBody>
      </p:sp>
      <p:sp>
        <p:nvSpPr>
          <p:cNvPr id="117" name="Text 110"/>
          <p:cNvSpPr txBox="1"/>
          <p:nvPr/>
        </p:nvSpPr>
        <p:spPr>
          <a:xfrm>
            <a:off x="29809440" y="21534120"/>
            <a:ext cx="13167360" cy="822960"/>
          </a:xfrm>
          <a:prstGeom prst="rect">
            <a:avLst/>
          </a:prstGeom>
          <a:noFill/>
          <a:ln/>
        </p:spPr>
        <p:txBody>
          <a:bodyPr wrap="square" lIns="0" tIns="0" rIns="0" bIns="0" rtlCol="0" anchor="t"/>
          <a:lstStyle/>
          <a:p>
            <a:pPr indent="0" marL="0">
              <a:buNone/>
            </a:pPr>
            <a:r>
              <a:rPr lang="en-US" sz="2000" i="1" dirty="0">
                <a:solidFill>
                  <a:srgbClr val="5B6670"/>
                </a:solidFill>
                <a:latin typeface="Arial" pitchFamily="34" charset="0"/>
                <a:ea typeface="Arial" pitchFamily="34" charset="-122"/>
                <a:cs typeface="Arial" pitchFamily="34" charset="-120"/>
              </a:rPr>
              <a:t>Table 3. Our runs, Oct 2026; one run each, different interfaces, so not a model ranking. The Free account rejected named models, and dollar costs were unavailable.</a:t>
            </a:r>
            <a:endParaRPr lang="en-US" sz="2000" dirty="0"/>
          </a:p>
        </p:txBody>
      </p:sp>
      <p:sp>
        <p:nvSpPr>
          <p:cNvPr id="118" name="Panel Conclusions"/>
          <p:cNvSpPr/>
          <p:nvPr/>
        </p:nvSpPr>
        <p:spPr>
          <a:xfrm>
            <a:off x="29443680" y="23545800"/>
            <a:ext cx="13898880" cy="4160520"/>
          </a:xfrm>
          <a:prstGeom prst="rect">
            <a:avLst/>
          </a:prstGeom>
          <a:solidFill>
            <a:srgbClr val="FFFFFF"/>
          </a:solidFill>
          <a:ln w="6350">
            <a:solidFill>
              <a:srgbClr val="FFFFFF"/>
            </a:solidFill>
            <a:prstDash val="solid"/>
          </a:ln>
        </p:spPr>
      </p:sp>
      <p:sp>
        <p:nvSpPr>
          <p:cNvPr id="119" name="Panel header Conclusions"/>
          <p:cNvSpPr/>
          <p:nvPr/>
        </p:nvSpPr>
        <p:spPr>
          <a:xfrm>
            <a:off x="29443680" y="23545800"/>
            <a:ext cx="13898880" cy="960120"/>
          </a:xfrm>
          <a:prstGeom prst="rect">
            <a:avLst/>
          </a:prstGeom>
          <a:solidFill>
            <a:srgbClr val="003057"/>
          </a:solidFill>
          <a:ln w="6350">
            <a:solidFill>
              <a:srgbClr val="003057"/>
            </a:solidFill>
            <a:prstDash val="solid"/>
          </a:ln>
        </p:spPr>
      </p:sp>
      <p:sp>
        <p:nvSpPr>
          <p:cNvPr id="120" name="Text 113"/>
          <p:cNvSpPr txBox="1"/>
          <p:nvPr/>
        </p:nvSpPr>
        <p:spPr>
          <a:xfrm>
            <a:off x="29443680" y="23545800"/>
            <a:ext cx="13898880" cy="960120"/>
          </a:xfrm>
          <a:prstGeom prst="rect">
            <a:avLst/>
          </a:prstGeom>
          <a:noFill/>
          <a:ln/>
        </p:spPr>
        <p:txBody>
          <a:bodyPr wrap="square" lIns="0" tIns="0" rIns="0" bIns="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Conclusions</a:t>
            </a:r>
            <a:endParaRPr lang="en-US" sz="4000" dirty="0"/>
          </a:p>
        </p:txBody>
      </p:sp>
      <p:sp>
        <p:nvSpPr>
          <p:cNvPr id="121" name="Text 114"/>
          <p:cNvSpPr txBox="1"/>
          <p:nvPr/>
        </p:nvSpPr>
        <p:spPr>
          <a:xfrm>
            <a:off x="29809440" y="24871680"/>
            <a:ext cx="13167360" cy="3108960"/>
          </a:xfrm>
          <a:prstGeom prst="rect">
            <a:avLst/>
          </a:prstGeom>
          <a:noFill/>
          <a:ln/>
        </p:spPr>
        <p:txBody>
          <a:bodyPr wrap="square" lIns="0" tIns="0" rIns="0" bIns="0" rtlCol="0" anchor="t"/>
          <a:lstStyle/>
          <a:p>
            <a:pPr marL="342900" indent="-342900">
              <a:spcAft>
                <a:spcPts val="1200"/>
              </a:spcAft>
              <a:buSzPct val="100000"/>
              <a:buChar char="•"/>
            </a:pPr>
            <a:r>
              <a:rPr lang="en-US" sz="2700" b="1" dirty="0">
                <a:solidFill>
                  <a:srgbClr val="003057"/>
                </a:solidFill>
                <a:latin typeface="Arial" pitchFamily="34" charset="0"/>
                <a:ea typeface="Arial" pitchFamily="34" charset="-122"/>
                <a:cs typeface="Arial" pitchFamily="34" charset="-120"/>
              </a:rPr>
              <a:t>Explicit: </a:t>
            </a:r>
            <a:pPr indent="0" marL="0">
              <a:spcAft>
                <a:spcPts val="1200"/>
              </a:spcAft>
              <a:buNone/>
            </a:pPr>
            <a:r>
              <a:rPr lang="en-US" sz="2700" dirty="0">
                <a:solidFill>
                  <a:srgbClr val="333F4B"/>
                </a:solidFill>
                <a:latin typeface="Arial" pitchFamily="34" charset="0"/>
                <a:ea typeface="Arial" pitchFamily="34" charset="-122"/>
                <a:cs typeface="Arial" pitchFamily="34" charset="-120"/>
              </a:rPr>
              <a:t>state and interfaces, engineered per vendor</a:t>
            </a:r>
            <a:endParaRPr lang="en-US" sz="2700" dirty="0"/>
          </a:p>
          <a:p>
            <a:pPr marL="342900" indent="-342900">
              <a:spcAft>
                <a:spcPts val="1200"/>
              </a:spcAft>
              <a:buSzPct val="100000"/>
              <a:buChar char="•"/>
            </a:pPr>
            <a:r>
              <a:rPr lang="en-US" sz="2700" b="1" dirty="0">
                <a:solidFill>
                  <a:srgbClr val="003057"/>
                </a:solidFill>
                <a:latin typeface="Arial" pitchFamily="34" charset="0"/>
                <a:ea typeface="Arial" pitchFamily="34" charset="-122"/>
                <a:cs typeface="Arial" pitchFamily="34" charset="-120"/>
              </a:rPr>
              <a:t>Latent but owned: </a:t>
            </a:r>
            <a:pPr indent="0" marL="0">
              <a:spcAft>
                <a:spcPts val="1200"/>
              </a:spcAft>
              <a:buNone/>
            </a:pPr>
            <a:r>
              <a:rPr lang="en-US" sz="2700" dirty="0">
                <a:solidFill>
                  <a:srgbClr val="333F4B"/>
                </a:solidFill>
                <a:latin typeface="Arial" pitchFamily="34" charset="0"/>
                <a:ea typeface="Arial" pitchFamily="34" charset="-122"/>
                <a:cs typeface="Arial" pitchFamily="34" charset="-120"/>
              </a:rPr>
              <a:t>policy, trained inside Cursor’s own harness</a:t>
            </a:r>
            <a:endParaRPr lang="en-US" sz="2700" dirty="0"/>
          </a:p>
          <a:p>
            <a:pPr marL="342900" indent="-342900">
              <a:spcAft>
                <a:spcPts val="1200"/>
              </a:spcAft>
              <a:buSzPct val="100000"/>
              <a:buChar char="•"/>
            </a:pPr>
            <a:r>
              <a:rPr lang="en-US" sz="2700" b="1" dirty="0">
                <a:solidFill>
                  <a:srgbClr val="003057"/>
                </a:solidFill>
                <a:latin typeface="Arial" pitchFamily="34" charset="0"/>
                <a:ea typeface="Arial" pitchFamily="34" charset="-122"/>
                <a:cs typeface="Arial" pitchFamily="34" charset="-120"/>
              </a:rPr>
              <a:t>Missing: </a:t>
            </a:r>
            <a:pPr indent="0" marL="0">
              <a:spcAft>
                <a:spcPts val="1200"/>
              </a:spcAft>
              <a:buNone/>
            </a:pPr>
            <a:r>
              <a:rPr lang="en-US" sz="2700" dirty="0">
                <a:solidFill>
                  <a:srgbClr val="333F4B"/>
                </a:solidFill>
                <a:latin typeface="Arial" pitchFamily="34" charset="0"/>
                <a:ea typeface="Arial" pitchFamily="34" charset="-122"/>
                <a:cs typeface="Arial" pitchFamily="34" charset="-120"/>
              </a:rPr>
              <a:t>grounding outside the repo; a measure of the user’s real goal</a:t>
            </a:r>
            <a:endParaRPr lang="en-US" sz="2700" dirty="0"/>
          </a:p>
          <a:p>
            <a:pPr marL="342900" indent="-342900">
              <a:spcAft>
                <a:spcPts val="1200"/>
              </a:spcAft>
              <a:buSzPct val="100000"/>
              <a:buChar char="•"/>
            </a:pPr>
            <a:r>
              <a:rPr lang="en-US" sz="2700" b="1" dirty="0">
                <a:solidFill>
                  <a:srgbClr val="003057"/>
                </a:solidFill>
                <a:latin typeface="Arial" pitchFamily="34" charset="0"/>
                <a:ea typeface="Arial" pitchFamily="34" charset="-122"/>
                <a:cs typeface="Arial" pitchFamily="34" charset="-120"/>
              </a:rPr>
              <a:t>Measured: </a:t>
            </a:r>
            <a:pPr indent="0" marL="0">
              <a:spcAft>
                <a:spcPts val="1200"/>
              </a:spcAft>
              <a:buNone/>
            </a:pPr>
            <a:r>
              <a:rPr lang="en-US" sz="2700" dirty="0">
                <a:solidFill>
                  <a:srgbClr val="333F4B"/>
                </a:solidFill>
                <a:latin typeface="Arial" pitchFamily="34" charset="0"/>
                <a:ea typeface="Arial" pitchFamily="34" charset="-122"/>
                <a:cs typeface="Arial" pitchFamily="34" charset="-120"/>
              </a:rPr>
              <a:t>both runs passed all 9 hidden tests, but Auto’s estimate of its own run time was 2.65× too long; the agent’s account of itself needs an outside check</a:t>
            </a:r>
            <a:endParaRPr lang="en-US" sz="2700" dirty="0"/>
          </a:p>
        </p:txBody>
      </p:sp>
      <p:sp>
        <p:nvSpPr>
          <p:cNvPr id="122" name="Panel References"/>
          <p:cNvSpPr/>
          <p:nvPr/>
        </p:nvSpPr>
        <p:spPr>
          <a:xfrm>
            <a:off x="29443680" y="28254960"/>
            <a:ext cx="13898880" cy="4114800"/>
          </a:xfrm>
          <a:prstGeom prst="rect">
            <a:avLst/>
          </a:prstGeom>
          <a:solidFill>
            <a:srgbClr val="FFFFFF"/>
          </a:solidFill>
          <a:ln w="6350">
            <a:solidFill>
              <a:srgbClr val="FFFFFF"/>
            </a:solidFill>
            <a:prstDash val="solid"/>
          </a:ln>
        </p:spPr>
      </p:sp>
      <p:sp>
        <p:nvSpPr>
          <p:cNvPr id="123" name="Panel header References"/>
          <p:cNvSpPr/>
          <p:nvPr/>
        </p:nvSpPr>
        <p:spPr>
          <a:xfrm>
            <a:off x="29443680" y="28254960"/>
            <a:ext cx="13898880" cy="960120"/>
          </a:xfrm>
          <a:prstGeom prst="rect">
            <a:avLst/>
          </a:prstGeom>
          <a:solidFill>
            <a:srgbClr val="003057"/>
          </a:solidFill>
          <a:ln w="6350">
            <a:solidFill>
              <a:srgbClr val="003057"/>
            </a:solidFill>
            <a:prstDash val="solid"/>
          </a:ln>
        </p:spPr>
      </p:sp>
      <p:sp>
        <p:nvSpPr>
          <p:cNvPr id="124" name="Text 117"/>
          <p:cNvSpPr txBox="1"/>
          <p:nvPr/>
        </p:nvSpPr>
        <p:spPr>
          <a:xfrm>
            <a:off x="29443680" y="28254960"/>
            <a:ext cx="13898880" cy="960120"/>
          </a:xfrm>
          <a:prstGeom prst="rect">
            <a:avLst/>
          </a:prstGeom>
          <a:noFill/>
          <a:ln/>
        </p:spPr>
        <p:txBody>
          <a:bodyPr wrap="square" lIns="0" tIns="0" rIns="0" bIns="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References</a:t>
            </a:r>
            <a:endParaRPr lang="en-US" sz="4000" dirty="0"/>
          </a:p>
        </p:txBody>
      </p:sp>
      <p:sp>
        <p:nvSpPr>
          <p:cNvPr id="125" name="Text 118"/>
          <p:cNvSpPr txBox="1"/>
          <p:nvPr/>
        </p:nvSpPr>
        <p:spPr>
          <a:xfrm>
            <a:off x="29809440" y="29397960"/>
            <a:ext cx="13167360" cy="2788920"/>
          </a:xfrm>
          <a:prstGeom prst="rect">
            <a:avLst/>
          </a:prstGeom>
          <a:noFill/>
          <a:ln/>
        </p:spPr>
        <p:txBody>
          <a:bodyPr wrap="square" lIns="0" tIns="0" rIns="0" bIns="0" rtlCol="0" anchor="t"/>
          <a:lstStyle/>
          <a:p>
            <a:pPr indent="0" marL="0">
              <a:buNone/>
            </a:pPr>
            <a:r>
              <a:rPr lang="en-US" sz="1550" dirty="0">
                <a:solidFill>
                  <a:srgbClr val="333F4B"/>
                </a:solidFill>
                <a:latin typeface="Arial" pitchFamily="34" charset="0"/>
                <a:ea typeface="Arial" pitchFamily="34" charset="-122"/>
                <a:cs typeface="Arial" pitchFamily="34" charset="-120"/>
              </a:rPr>
              <a:t>[1] Cursor, “Improving agent with semantic search,” Nov. 2025. cursor.com/blog/semsearch</a:t>
            </a:r>
            <a:endParaRPr lang="en-US" sz="1550" dirty="0"/>
          </a:p>
          <a:p>
            <a:pPr indent="0" marL="0">
              <a:buNone/>
            </a:pPr>
            <a:r>
              <a:rPr lang="en-US" sz="1550" dirty="0">
                <a:solidFill>
                  <a:srgbClr val="333F4B"/>
                </a:solidFill>
                <a:latin typeface="Arial" pitchFamily="34" charset="0"/>
                <a:ea typeface="Arial" pitchFamily="34" charset="-122"/>
                <a:cs typeface="Arial" pitchFamily="34" charset="-120"/>
              </a:rPr>
              <a:t>[2] Cursor, “Dynamic context discovery,” Jan. 2026. cursor.com/blog/dynamic-context-discovery</a:t>
            </a:r>
            <a:endParaRPr lang="en-US" sz="1550" dirty="0"/>
          </a:p>
          <a:p>
            <a:pPr indent="0" marL="0">
              <a:buNone/>
            </a:pPr>
            <a:r>
              <a:rPr lang="en-US" sz="1550" dirty="0">
                <a:solidFill>
                  <a:srgbClr val="333F4B"/>
                </a:solidFill>
                <a:latin typeface="Arial" pitchFamily="34" charset="0"/>
                <a:ea typeface="Arial" pitchFamily="34" charset="-122"/>
                <a:cs typeface="Arial" pitchFamily="34" charset="-120"/>
              </a:rPr>
              <a:t>[3] Cursor, “Continually improving our agent harness,” Apr. 2026. cursor.com/blog/continually-improving-agent-harness</a:t>
            </a:r>
            <a:endParaRPr lang="en-US" sz="1550" dirty="0"/>
          </a:p>
          <a:p>
            <a:pPr indent="0" marL="0">
              <a:buNone/>
            </a:pPr>
            <a:r>
              <a:rPr lang="en-US" sz="1550" dirty="0">
                <a:solidFill>
                  <a:srgbClr val="333F4B"/>
                </a:solidFill>
                <a:latin typeface="Arial" pitchFamily="34" charset="0"/>
                <a:ea typeface="Arial" pitchFamily="34" charset="-122"/>
                <a:cs typeface="Arial" pitchFamily="34" charset="-120"/>
              </a:rPr>
              <a:t>[4] Cursor, “Improving Cursor Tab with online RL,” Sep. 2025. cursor.com/blog/tab-rl</a:t>
            </a:r>
            <a:endParaRPr lang="en-US" sz="1550" dirty="0"/>
          </a:p>
          <a:p>
            <a:pPr indent="0" marL="0">
              <a:buNone/>
            </a:pPr>
            <a:r>
              <a:rPr lang="en-US" sz="1550" dirty="0">
                <a:solidFill>
                  <a:srgbClr val="333F4B"/>
                </a:solidFill>
                <a:latin typeface="Arial" pitchFamily="34" charset="0"/>
                <a:ea typeface="Arial" pitchFamily="34" charset="-122"/>
                <a:cs typeface="Arial" pitchFamily="34" charset="-120"/>
              </a:rPr>
              <a:t>[5] Cursor, “Composer: building a fast frontier model with RL,” Oct. 2025. cursor.com/blog/composer</a:t>
            </a:r>
            <a:endParaRPr lang="en-US" sz="1550" dirty="0"/>
          </a:p>
          <a:p>
            <a:pPr indent="0" marL="0">
              <a:buNone/>
            </a:pPr>
            <a:r>
              <a:rPr lang="en-US" sz="1550" dirty="0">
                <a:solidFill>
                  <a:srgbClr val="333F4B"/>
                </a:solidFill>
                <a:latin typeface="Arial" pitchFamily="34" charset="0"/>
                <a:ea typeface="Arial" pitchFamily="34" charset="-122"/>
                <a:cs typeface="Arial" pitchFamily="34" charset="-120"/>
              </a:rPr>
              <a:t>[6] Cursor, “Clarifying our pricing,” Jul. 2025. cursor.com/blog/june-2025-pricing</a:t>
            </a:r>
            <a:endParaRPr lang="en-US" sz="1550" dirty="0"/>
          </a:p>
          <a:p>
            <a:pPr indent="0" marL="0">
              <a:buNone/>
            </a:pPr>
            <a:r>
              <a:rPr lang="en-US" sz="1550" dirty="0">
                <a:solidFill>
                  <a:srgbClr val="333F4B"/>
                </a:solidFill>
                <a:latin typeface="Arial" pitchFamily="34" charset="0"/>
                <a:ea typeface="Arial" pitchFamily="34" charset="-122"/>
                <a:cs typeface="Arial" pitchFamily="34" charset="-120"/>
              </a:rPr>
              <a:t>[7] Fortune, “Cursor’s customer support AI went rogue,” Apr. 2025.</a:t>
            </a:r>
            <a:endParaRPr lang="en-US" sz="1550" dirty="0"/>
          </a:p>
          <a:p>
            <a:pPr indent="0" marL="0">
              <a:buNone/>
            </a:pPr>
            <a:r>
              <a:rPr lang="en-US" sz="1550" dirty="0">
                <a:solidFill>
                  <a:srgbClr val="333F4B"/>
                </a:solidFill>
                <a:latin typeface="Arial" pitchFamily="34" charset="0"/>
                <a:ea typeface="Arial" pitchFamily="34" charset="-122"/>
                <a:cs typeface="Arial" pitchFamily="34" charset="-120"/>
              </a:rPr>
              <a:t>[8] DataCamp, “Composer 2,” Mar. 2026. datacamp.com/blog/composer-2</a:t>
            </a:r>
            <a:endParaRPr lang="en-US" sz="1550" dirty="0"/>
          </a:p>
          <a:p>
            <a:pPr indent="0" marL="0">
              <a:buNone/>
            </a:pPr>
            <a:r>
              <a:rPr lang="en-US" sz="1550" dirty="0">
                <a:solidFill>
                  <a:srgbClr val="333F4B"/>
                </a:solidFill>
                <a:latin typeface="Arial" pitchFamily="34" charset="0"/>
                <a:ea typeface="Arial" pitchFamily="34" charset="-122"/>
                <a:cs typeface="Arial" pitchFamily="34" charset="-120"/>
              </a:rPr>
              <a:t>[9] Cursor, self-summarization research post, Mar. 2026. cursor.com/blog/self-summarization</a:t>
            </a:r>
            <a:endParaRPr lang="en-US" sz="1550" dirty="0"/>
          </a:p>
          <a:p>
            <a:pPr indent="0" marL="0">
              <a:buNone/>
            </a:pPr>
            <a:r>
              <a:rPr lang="en-US" sz="1550" dirty="0">
                <a:solidFill>
                  <a:srgbClr val="333F4B"/>
                </a:solidFill>
                <a:latin typeface="Arial" pitchFamily="34" charset="0"/>
                <a:ea typeface="Arial" pitchFamily="34" charset="-122"/>
                <a:cs typeface="Arial" pitchFamily="34" charset="-120"/>
              </a:rPr>
              <a:t>[10] Cursor, Plan Mode post, Oct. 2025. cursor.com/blog/plan-mode</a:t>
            </a:r>
            <a:endParaRPr lang="en-US" sz="1550" dirty="0"/>
          </a:p>
          <a:p>
            <a:pPr indent="0" marL="0">
              <a:buNone/>
            </a:pPr>
            <a:r>
              <a:rPr lang="en-US" sz="1550" dirty="0">
                <a:solidFill>
                  <a:srgbClr val="333F4B"/>
                </a:solidFill>
                <a:latin typeface="Arial" pitchFamily="34" charset="0"/>
                <a:ea typeface="Arial" pitchFamily="34" charset="-122"/>
                <a:cs typeface="Arial" pitchFamily="34" charset="-120"/>
              </a:rPr>
              <a:t>[11] Cursor, Cursor Router launch post, Jul. 2026. cursor.com/blog/router</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Cursor Case Study Poster (Fair A)</dc:title>
  <dc:subject>PptxGenJS Presentation</dc:subject>
  <dc:creator>PptxGenJS</dc:creator>
  <cp:lastModifiedBy>PptxGenJS</cp:lastModifiedBy>
  <cp:revision>1</cp:revision>
  <dcterms:created xsi:type="dcterms:W3CDTF">2026-10-28T19:35:26Z</dcterms:created>
  <dcterms:modified xsi:type="dcterms:W3CDTF">2026-10-28T19:35:26Z</dcterms:modified>
</cp:coreProperties>
</file>