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32bc169407a4ac5" /><Relationship Type="http://schemas.openxmlformats.org/officeDocument/2006/relationships/extended-properties" Target="/docProps/app.xml" Id="R8a7d293b1290464f" /><Relationship Type="http://schemas.openxmlformats.org/officeDocument/2006/relationships/officeDocument" Target="/ppt/presentation.xml" Id="Ra5c53d40cef14296" /></Relationships>
</file>

<file path=ppt/presentation.xml><?xml version="1.0" encoding="utf-8"?>
<p:presentation xmlns:p="http://schemas.openxmlformats.org/presentationml/2006/main">
  <p:sldMasterIdLst>
    <p:sldMasterId xmlns:r="http://schemas.openxmlformats.org/officeDocument/2006/relationships" id="2147483648" r:id="Rd0d7624d87b84116"/>
  </p:sldMasterIdLst>
  <p:notesMasterIdLst>
    <p:notesMasterId xmlns:r="http://schemas.openxmlformats.org/officeDocument/2006/relationships" r:id="R4a4cc83ce0c1478f"/>
  </p:notesMasterIdLst>
  <p:sldIdLst>
    <p:sldId xmlns:r="http://schemas.openxmlformats.org/officeDocument/2006/relationships" id="256" r:id="R641a0da0975b4c7d"/>
    <p:sldId xmlns:r="http://schemas.openxmlformats.org/officeDocument/2006/relationships" id="257" r:id="Rcfe6032710cb4919"/>
    <p:sldId xmlns:r="http://schemas.openxmlformats.org/officeDocument/2006/relationships" id="258" r:id="Rc670617b1f6e44fa"/>
    <p:sldId xmlns:r="http://schemas.openxmlformats.org/officeDocument/2006/relationships" id="259" r:id="R20eff1450e814e9b"/>
    <p:sldId xmlns:r="http://schemas.openxmlformats.org/officeDocument/2006/relationships" id="260" r:id="R3c1a2b8f12ac469e"/>
    <p:sldId xmlns:r="http://schemas.openxmlformats.org/officeDocument/2006/relationships" id="261" r:id="R7c64201bc2304b45"/>
    <p:sldId xmlns:r="http://schemas.openxmlformats.org/officeDocument/2006/relationships" id="262" r:id="Rd61a9e54cf534a33"/>
    <p:sldId xmlns:r="http://schemas.openxmlformats.org/officeDocument/2006/relationships" id="263" r:id="Rd58b2cd4459c45a2"/>
  </p:sldIdLst>
  <p:sldSz cx="12192000" cy="6858000"/>
  <p:notesSz cx="6858000" cy="9144000"/>
  <p:defaultText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8360bfeb0f542d1" /><Relationship Type="http://schemas.openxmlformats.org/officeDocument/2006/relationships/slideMaster" Target="/ppt/slideMasters/slideMaster1.xml" Id="Rd0d7624d87b84116" /><Relationship Type="http://schemas.openxmlformats.org/officeDocument/2006/relationships/notesMaster" Target="/ppt/notesMasters/notesMaster1.xml" Id="R4a4cc83ce0c1478f" /><Relationship Type="http://schemas.openxmlformats.org/officeDocument/2006/relationships/presProps" Target="/ppt/presProps.xml" Id="Rc7c4d960568c414e" /><Relationship Type="http://schemas.openxmlformats.org/officeDocument/2006/relationships/viewProps" Target="/ppt/viewProps.xml" Id="Rb66c095c33e64b44" /><Relationship Type="http://schemas.openxmlformats.org/officeDocument/2006/relationships/tableStyles" Target="/ppt/tableStyles.xml" Id="R99a9ab55d20d48aa" /><Relationship Type="http://schemas.openxmlformats.org/officeDocument/2006/relationships/slide" Target="/ppt/slides/slide1.xml" Id="R641a0da0975b4c7d" /><Relationship Type="http://schemas.openxmlformats.org/officeDocument/2006/relationships/slide" Target="/ppt/slides/slide2.xml" Id="Rcfe6032710cb4919" /><Relationship Type="http://schemas.openxmlformats.org/officeDocument/2006/relationships/slide" Target="/ppt/slides/slide3.xml" Id="Rc670617b1f6e44fa" /><Relationship Type="http://schemas.openxmlformats.org/officeDocument/2006/relationships/slide" Target="/ppt/slides/slide4.xml" Id="R20eff1450e814e9b" /><Relationship Type="http://schemas.openxmlformats.org/officeDocument/2006/relationships/slide" Target="/ppt/slides/slide5.xml" Id="R3c1a2b8f12ac469e" /><Relationship Type="http://schemas.openxmlformats.org/officeDocument/2006/relationships/slide" Target="/ppt/slides/slide6.xml" Id="R7c64201bc2304b45" /><Relationship Type="http://schemas.openxmlformats.org/officeDocument/2006/relationships/slide" Target="/ppt/slides/slide7.xml" Id="Rd61a9e54cf534a33" /><Relationship Type="http://schemas.openxmlformats.org/officeDocument/2006/relationships/slide" Target="/ppt/slides/slide8.xml" Id="Rd58b2cd4459c45a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80c681066734f9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ursor Case Study">
  <a:themeElements>
    <a:clrScheme name="Cursor Case Study">
      <a:dk1>
        <a:srgbClr val="161A22"/>
      </a:dk1>
      <a:lt1>
        <a:srgbClr val="FCFBF8"/>
      </a:lt1>
      <a:dk2>
        <a:srgbClr val="3D4452"/>
      </a:dk2>
      <a:lt2>
        <a:srgbClr val="F5F3EE"/>
      </a:lt2>
      <a:accent1>
        <a:srgbClr val="A84E14"/>
      </a:accent1>
      <a:accent2>
        <a:srgbClr val="2C64A8"/>
      </a:accent2>
      <a:accent3>
        <a:srgbClr val="F0A060"/>
      </a:accent3>
      <a:accent4>
        <a:srgbClr val="6B7280"/>
      </a:accent4>
      <a:accent5>
        <a:srgbClr val="DDD8CE"/>
      </a:accent5>
      <a:accent6>
        <a:srgbClr val="C9CED8"/>
      </a:accent6>
      <a:hlink>
        <a:srgbClr val="2C64A8"/>
      </a:hlink>
      <a:folHlink>
        <a:srgbClr val="6B7280"/>
      </a:folHlink>
    </a:clrScheme>
    <a:fontScheme name="Cursor Case Stud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rsor Case Stud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422bab29b64f95" /><Relationship Type="http://schemas.openxmlformats.org/officeDocument/2006/relationships/notesMaster" Target="/ppt/notesMasters/notesMaster1.xml" Id="R285edc75d141451c" /></Relationships>
</file>

<file path=ppt/notesSlides/_rels/notesSlide2.xml.rels>&#65279;<?xml version="1.0" encoding="utf-8"?><Relationships xmlns="http://schemas.openxmlformats.org/package/2006/relationships"><Relationship Type="http://schemas.openxmlformats.org/officeDocument/2006/relationships/slide" Target="/ppt/slides/slide2.xml" Id="Rd1b0dcf36d0947f9" /><Relationship Type="http://schemas.openxmlformats.org/officeDocument/2006/relationships/notesMaster" Target="/ppt/notesMasters/notesMaster1.xml" Id="R684135f1a5b446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8cb1f6b6e5c94ebe" /><Relationship Type="http://schemas.openxmlformats.org/officeDocument/2006/relationships/notesMaster" Target="/ppt/notesMasters/notesMaster1.xml" Id="R16028dac972f48ba" /></Relationships>
</file>

<file path=ppt/notesSlides/_rels/notesSlide4.xml.rels>&#65279;<?xml version="1.0" encoding="utf-8"?><Relationships xmlns="http://schemas.openxmlformats.org/package/2006/relationships"><Relationship Type="http://schemas.openxmlformats.org/officeDocument/2006/relationships/slide" Target="/ppt/slides/slide4.xml" Id="R05ca0b3968284922" /><Relationship Type="http://schemas.openxmlformats.org/officeDocument/2006/relationships/notesMaster" Target="/ppt/notesMasters/notesMaster1.xml" Id="Re543d8b6fede41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a0ebec57107d417d" /><Relationship Type="http://schemas.openxmlformats.org/officeDocument/2006/relationships/notesMaster" Target="/ppt/notesMasters/notesMaster1.xml" Id="R615b9e71be304a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f682d1bfac54b51" /><Relationship Type="http://schemas.openxmlformats.org/officeDocument/2006/relationships/notesMaster" Target="/ppt/notesMasters/notesMaster1.xml" Id="R3295a7829a424b37" /></Relationships>
</file>

<file path=ppt/notesSlides/_rels/notesSlide7.xml.rels>&#65279;<?xml version="1.0" encoding="utf-8"?><Relationships xmlns="http://schemas.openxmlformats.org/package/2006/relationships"><Relationship Type="http://schemas.openxmlformats.org/officeDocument/2006/relationships/slide" Target="/ppt/slides/slide7.xml" Id="Rbdfa8b71a4ea44bf" /><Relationship Type="http://schemas.openxmlformats.org/officeDocument/2006/relationships/notesMaster" Target="/ppt/notesMasters/notesMaster1.xml" Id="Rd8c108a3fee64939" /></Relationships>
</file>

<file path=ppt/notesSlides/_rels/notesSlide8.xml.rels>&#65279;<?xml version="1.0" encoding="utf-8"?><Relationships xmlns="http://schemas.openxmlformats.org/package/2006/relationships"><Relationship Type="http://schemas.openxmlformats.org/officeDocument/2006/relationships/slide" Target="/ppt/slides/slide8.xml" Id="R82ec72262fd64ba5" /><Relationship Type="http://schemas.openxmlformats.org/officeDocument/2006/relationships/notesMaster" Target="/ppt/notesMasters/notesMaster1.xml" Id="R2df1716f39c049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[Greyson] Opener, about 30 seconds. Name the system and the standing question: which boxes of the classical decomposition are explicit in Cursor, which went latent inside a model, and which are missing. Then go to the map.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[Greyson] About 1 minute. Thesis from the brief: Cursor rents understanding and generation from other labs' models, but builds an explicit, heavily engineered belief state around them, and is pulling policy in-house by training its own models inside its own harness. The moat is the harness, not the model. Walk the table top to bottom, then go straight into the context slide.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[Greyson] About 2 minutes. Left box: what Cursor always puts in the window, which shrank over time to the system prompt and tools, OS, git status and current files [3]. Right box: everything else the agent fetches while it works, mostly through files: long tool output written to a file it can tail, the chat history file it can search after a summary drops details, terminal sessions synced to files, and MCP tool details loaded only when needed [2]. Understanding is both explicit and latent: Cursor trained its own embedding model on agent sessions, and semantic search plus grep grounds the request in code before the model reasons over it [1]. State is explicit plumbing plus a latent choice: the model decides what to pull in. That is belief-state construction (L13, L14) done with files. Hand to Michael.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About 1 minute 20. In L3 the policy chooses ask, confirm or act. In Cursor the act is a tool call, and the model makes that choice, so the policy is latent. But Cursor works on that policy at three levels. Tab is the cleanest example: a two-action policy, accept +0.75, reject −0.25, silence 0. That is the L3 reward written down, and it learned to suggest 21% less with a 28% higher accept rate. Composer is Cursor training the policy inside its own harness, on the same tools you use. Composer 2 even learns to write its own summaries, so belief-state management becomes part of the policy; compaction error dropped 50%. For models Cursor rents, it uses controls instead: plan mode is a confirm-before-act switch, and Router is a learned policy that picks which model’s policy runs, about 60% savings at frontier quality in Cursor’s A/B tests. The catch: every one of these rewards is a proxy; none sees the user’s actual goal.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[Michael] About 1 minute 10. Point at the exhibit: here is one real run of our shared task. Policy turns are where it chose to search, to run tools in parallel, or to stop. Then the interfaces box: each vendor gets its own edit format, because each model was trained on its own and the unfamiliar one costs extra reasoning tokens and more mistakes. Tool errors come back typed, which is the closest thing in Cursor to L3’s observation back to the policy. The seam: switching models mid-chat puts a model on history it would never have written and breaks the prompt cache, so Cursor’s own advice is one model per chat. Hand off to Heeba on economics.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[Heeba] About 2 minutes. Sam (Apr 2025): no layer checked generation against real policy. Pricing (Jun to Jul 2025): hard requests cost about 10x simple ones, so Pro moved to $20 of usage at API rates. Composer 2 (Mar 2026): base found via an intercepted model ID; about a quarter of compute from the base, three quarters Cursor’s own training. The last column is the $20 Pro allowance divided by the cost of one run of our task on each model, from our runs. Hand to Canting.</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[Canting] About 2 minutes. We planned a four-model comparison, but this Free account rejected named-model access. We retained the team's archived Grok run and added one Auto CLI run; this is a descriptive case, not a controlled model ranking. The original code passed four of six visible tests and none of the nine held-out tests. Applying the archived Grok patch reproduced ten visible passes and nine hidden passes; four visible tests were additions in that patch. Grok's 74 seconds, 19 calls and 27.8k tokens are historical reported figures, not remeasured. Auto completed the coding invocation in 33.9 seconds, with 14 calls, and passed all six original and nine held-out tests. Auto's 81,079 tokens are the sum of input 11,663, output 2,856, cache read 66,560 and cache write zero, from the timed turn's final usage event. The Grok token convention is unknown, so do not compare totals as efficiency evidence. Auto reported only its route name; the actual model is undisclosed. The images are rendered excerpts of saved CLI logs, not native editor screenshots. Cost is unobserved. Tests assess these cases, not Keep Rate.</a:t>
            </a:r>
            <a:endParaRPr/>
          </a:p>
          <a:p xmlns:a="http://schemas.openxmlformats.org/drawingml/2006/main">
            <a:r>
              <a:t/>
            </a:r>
            <a:endParaRPr/>
          </a:p>
          <a:p xmlns:a="http://schemas.openxmlformats.org/drawingml/2006/main">
            <a:r>
              <a:t>Sources: caseStudyRun/runs_log.csv; manual_runs/run1_grok-4.6-high-fast.patch; Canting/verification/; runs/run2/events.ndjson, results.json, visible_tests.txt, hidden_tests.txt, usage.json; https://cursor.com/docs/sdk/typescript (token field definitions).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[Canting] About 1 minute. The concrete observation is a search-read-edit-test loop: explicit tools expose the codebase, while the model chooses actions. The held-out tests provide an external check on the generated change. Yet successful tests and a convincing summary do not establish every kind of success. Auto estimated that its run took 90 seconds; the harness measured 33.9 seconds, about 2.65 times less than that estimate. Its estimate of 14 tool calls matched the log. These observations show why we need independently recorded measurements rather than relying on self-report. We did not observe long-term code retention, validate the user's broader goal, or run the same models outside Cursor. The measurements therefore cannot isolate a harness advantage. The wider architectural thesis depends on the team's public engineering sources. Then open for questions.</a:t>
            </a:r>
            <a:endParaRPr/>
          </a:p>
          <a:p xmlns:a="http://schemas.openxmlformats.org/drawingml/2006/main">
            <a:r>
              <a:t/>
            </a:r>
            <a:endParaRPr/>
          </a:p>
          <a:p xmlns:a="http://schemas.openxmlformats.org/drawingml/2006/main">
            <a:r>
              <a:t>Sources: runs/run2/transcript.md, results.json, self_report.json, hidden_tests.txt. Latency excludes post-run self-report and evaluation. One Auto trial; archived Grok used editor mode. Code review: five bytecode artifacts should be excluded before merging; this is not a blind-model grade.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78b8a7239244b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304165647c4bb3"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b3818e443c54762"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preserve="1">
  <p:cSld name="CONTENT">
    <p:bg>
      <p:bgPr>
        <a:solidFill xmlns:a="http://schemas.openxmlformats.org/drawingml/2006/main">
          <a:srgbClr val="F5F3EE"/>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A87D14F-7C92-49C4-BAD7-90BDF16D3026}"/>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1200" b="1" kern="0" spc="200">
                <a:solidFill>
                  <a:schemeClr val="accent1"/>
                </a:solidFill>
              </a:defRPr>
            </a:lvl1pPr>
          </a:lstStyle>
          <a:p xmlns:a="http://schemas.openxmlformats.org/drawingml/2006/main">
            <a:pPr marL="0" indent="0" algn="l">
              <a:buNone/>
            </a:pPr>
            <a:endParaRPr sz="1200"/>
          </a:p>
        </p:txBody>
      </p:sp>
      <p:sp>
        <p:nvSpPr>
          <p:cNvPr id="3" name="Text 0">
            <a:extLst xmlns:a="http://schemas.openxmlformats.org/drawingml/2006/main">
              <a:ext uri="{FF2B5EF4-FFF2-40B4-BE49-F238E27FC236}">
                <a16:creationId xmlns:a16="http://schemas.microsoft.com/office/drawing/2014/main" id="{66722DED-1904-4792-B7CD-EAE14E8BFFD4}"/>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3200" b="1">
                <a:solidFill>
                  <a:schemeClr val="tx1"/>
                </a:solidFill>
              </a:defRPr>
            </a:lvl1pPr>
          </a:lstStyle>
          <a:p xmlns:a="http://schemas.openxmlformats.org/drawingml/2006/main">
            <a:pPr marL="0" indent="0" algn="l">
              <a:buNone/>
            </a:pPr>
            <a:endParaRPr sz="3200"/>
          </a:p>
        </p:txBody>
      </p:sp>
      <p:sp>
        <p:nvSpPr>
          <p:cNvPr id="4" name="Text 0">
            <a:extLst xmlns:a="http://schemas.openxmlformats.org/drawingml/2006/main">
              <a:ext uri="{FF2B5EF4-FFF2-40B4-BE49-F238E27FC236}">
                <a16:creationId xmlns:a16="http://schemas.microsoft.com/office/drawing/2014/main" id="{50671FE2-D609-4EFF-B02E-325A71BD8EE9}"/>
              </a:ext>
            </a:extLst>
          </p:cNvPr>
          <p:cNvSpPr>
            <a:spLocks xmlns:a="http://schemas.openxmlformats.org/drawingml/2006/main" noGrp="1"/>
          </p:cNvSpPr>
          <p:nvPr/>
        </p:nvSpPr>
        <p:spPr>
          <a:xfrm xmlns:a="http://schemas.openxmlformats.org/drawingml/2006/main">
            <a:off x="640080" y="6382512"/>
            <a:ext cx="2743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a:solidFill>
                  <a:schemeClr val="accent4"/>
                </a:solidFill>
              </a:rPr>
              <a:t>Cursor (A4) · Fair A</a:t>
            </a:r>
            <a:endParaRPr sz="1000"/>
          </a:p>
        </p:txBody>
      </p:sp>
      <p:sp>
        <p:nvSpPr>
          <p:cNvPr id="25" name="Slide Number Placeholder 0">
            <a:extLst xmlns:a="http://schemas.openxmlformats.org/drawingml/2006/main">
              <a:ext uri="{FF2B5EF4-FFF2-40B4-BE49-F238E27FC236}">
                <a16:creationId xmlns:a16="http://schemas.microsoft.com/office/drawing/2014/main" id="{9996DD2C-6556-483E-A207-5F87B74AD611}"/>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1002</a:t>
            </a:fld>
            <a:endParaRPr/>
          </a:p>
        </p:txBody>
      </p:sp>
    </p:spTree>
  </p:cSld>
</p:sldLayout>
</file>

<file path=ppt/slideLayouts/slideLayout3.xml><?xml version="1.0" encoding="utf-8"?>
<p:sldLayout xmlns:p="http://schemas.openxmlformats.org/presentationml/2006/main" preserve="1">
  <p:cSld name="DARK">
    <p:bg>
      <p:bgPr>
        <a:solidFill xmlns:a="http://schemas.openxmlformats.org/drawingml/2006/main">
          <a:srgbClr val="161A2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3769506-AD6A-4D79-9686-3F91DA06D218}"/>
              </a:ext>
            </a:extLst>
          </p:cNvPr>
          <p:cNvSpPr>
            <a:spLocks xmlns:a="http://schemas.openxmlformats.org/drawingml/2006/main" noGrp="1"/>
          </p:cNvSpPr>
          <p:nvPr>
            <p:ph type="body" idx="100" hasCustomPrompt="1"/>
          </p:nvPr>
        </p:nvSpPr>
        <p:spPr>
          <a:xfrm xmlns:a="http://schemas.openxmlformats.org/drawingml/2006/main">
            <a:off x="640080" y="548640"/>
            <a:ext cx="10911535" cy="292608"/>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1200" b="1" kern="0" spc="200">
                <a:solidFill>
                  <a:schemeClr val="accent3"/>
                </a:solidFill>
              </a:defRPr>
            </a:lvl1pPr>
          </a:lstStyle>
          <a:p xmlns:a="http://schemas.openxmlformats.org/drawingml/2006/main">
            <a:pPr marL="0" indent="0" algn="l">
              <a:buNone/>
            </a:pPr>
            <a:endParaRPr sz="1200"/>
          </a:p>
        </p:txBody>
      </p:sp>
      <p:sp>
        <p:nvSpPr>
          <p:cNvPr id="3" name="Text 0">
            <a:extLst xmlns:a="http://schemas.openxmlformats.org/drawingml/2006/main">
              <a:ext uri="{FF2B5EF4-FFF2-40B4-BE49-F238E27FC236}">
                <a16:creationId xmlns:a16="http://schemas.microsoft.com/office/drawing/2014/main" id="{338FD3D2-A5D4-4E4B-80F5-9ADADB793120}"/>
              </a:ext>
            </a:extLst>
          </p:cNvPr>
          <p:cNvSpPr>
            <a:spLocks xmlns:a="http://schemas.openxmlformats.org/drawingml/2006/main" noGrp="1"/>
          </p:cNvSpPr>
          <p:nvPr>
            <p:ph type="title" idx="101" hasCustomPrompt="1"/>
          </p:nvPr>
        </p:nvSpPr>
        <p:spPr>
          <a:xfrm xmlns:a="http://schemas.openxmlformats.org/drawingml/2006/main">
            <a:off x="640080" y="1737360"/>
            <a:ext cx="10911535" cy="1188720"/>
          </a:xfrm>
          <a:prstGeom xmlns:a="http://schemas.openxmlformats.org/drawingml/2006/main" prst="rect">
            <a:avLst/>
          </a:prstGeom>
          <a:noFill xmlns:a="http://schemas.openxmlformats.org/drawingml/2006/main"/>
        </p:spPr>
        <p:txBody>
          <a:bodyPr xmlns:a="http://schemas.openxmlformats.org/drawingml/2006/main" wrap="square"/>
          <a:lstStyle xmlns:a="http://schemas.openxmlformats.org/drawingml/2006/main">
            <a:lvl1pPr marL="0" indent="0" algn="l">
              <a:buNone/>
              <a:defRPr sz="4000" b="1">
                <a:solidFill>
                  <a:schemeClr val="bg2"/>
                </a:solidFill>
              </a:defRPr>
            </a:lvl1pPr>
          </a:lstStyle>
          <a:p xmlns:a="http://schemas.openxmlformats.org/drawingml/2006/main">
            <a:pPr marL="0" indent="0" algn="l">
              <a:buNone/>
            </a:pPr>
            <a:endParaRPr sz="4000"/>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7b92367f4e4489a" /><Relationship Type="http://schemas.openxmlformats.org/officeDocument/2006/relationships/slideLayout" Target="/ppt/slideLayouts/slideLayout1.xml" Id="Rf649e8ff7ba44cfe" /><Relationship Type="http://schemas.openxmlformats.org/officeDocument/2006/relationships/slideLayout" Target="/ppt/slideLayouts/slideLayout2.xml" Id="R8e5c554355a744bf" /><Relationship Type="http://schemas.openxmlformats.org/officeDocument/2006/relationships/slideLayout" Target="/ppt/slideLayouts/slideLayout3.xml" Id="R4867e0cb609a47fd"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
        <p:nvSpPr>
          <p:cNvPr id="25" name="Slide Number Placeholder 0">
            <a:extLst xmlns:a="http://schemas.openxmlformats.org/drawingml/2006/main">
              <a:ext uri="{FF2B5EF4-FFF2-40B4-BE49-F238E27FC236}">
                <a16:creationId xmlns:a16="http://schemas.microsoft.com/office/drawing/2014/main" id="{53347F04-BE66-41F7-BA2B-310296D2B7AB}"/>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null</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49e8ff7ba44cfe"/>
    <p:sldLayoutId xmlns:r="http://schemas.openxmlformats.org/officeDocument/2006/relationships" id="2147483650" r:id="R8e5c554355a744bf"/>
    <p:sldLayoutId xmlns:r="http://schemas.openxmlformats.org/officeDocument/2006/relationships" id="2147483651" r:id="R4867e0cb609a47f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ursor Case Study">
  <a:themeElements>
    <a:clrScheme name="Cursor Case Study">
      <a:dk1>
        <a:srgbClr val="161A22"/>
      </a:dk1>
      <a:lt1>
        <a:srgbClr val="FCFBF8"/>
      </a:lt1>
      <a:dk2>
        <a:srgbClr val="3D4452"/>
      </a:dk2>
      <a:lt2>
        <a:srgbClr val="F5F3EE"/>
      </a:lt2>
      <a:accent1>
        <a:srgbClr val="A84E14"/>
      </a:accent1>
      <a:accent2>
        <a:srgbClr val="2C64A8"/>
      </a:accent2>
      <a:accent3>
        <a:srgbClr val="F0A060"/>
      </a:accent3>
      <a:accent4>
        <a:srgbClr val="6B7280"/>
      </a:accent4>
      <a:accent5>
        <a:srgbClr val="DDD8CE"/>
      </a:accent5>
      <a:accent6>
        <a:srgbClr val="C9CED8"/>
      </a:accent6>
      <a:hlink>
        <a:srgbClr val="2C64A8"/>
      </a:hlink>
      <a:folHlink>
        <a:srgbClr val="6B7280"/>
      </a:folHlink>
    </a:clrScheme>
    <a:fontScheme name="Cursor Case Stud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rsor Case Stud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3.xml" Id="R8ac1f85a099f4458" /><Relationship Type="http://schemas.openxmlformats.org/officeDocument/2006/relationships/notesSlide" Target="/ppt/notesSlides/notesSlide1.xml" Id="Re796323e15e141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da10ee956cc34fd5" /><Relationship Type="http://schemas.openxmlformats.org/officeDocument/2006/relationships/notesSlide" Target="/ppt/notesSlides/notesSlide2.xml" Id="Rcf9665a2d51e4e92"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33669c69e145464e" /><Relationship Type="http://schemas.openxmlformats.org/officeDocument/2006/relationships/notesSlide" Target="/ppt/notesSlides/notesSlide3.xml" Id="R82da0d0d1b7b416b"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59c54976b3624448" /><Relationship Type="http://schemas.openxmlformats.org/officeDocument/2006/relationships/notesSlide" Target="/ppt/notesSlides/notesSlide4.xml" Id="Rc4b0c9ed691146a1"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1a38b4f6a9864782" /><Relationship Type="http://schemas.openxmlformats.org/officeDocument/2006/relationships/notesSlide" Target="/ppt/notesSlides/notesSlide5.xml" Id="R3c95a47b693b475c"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5ca3497161b248fb" /><Relationship Type="http://schemas.openxmlformats.org/officeDocument/2006/relationships/notesSlide" Target="/ppt/notesSlides/notesSlide6.xml" Id="Rc339dd18e75f4a27"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25199e9c74e444ec" /><Relationship Type="http://schemas.openxmlformats.org/officeDocument/2006/relationships/image" Target="/ppt/media/image.png" Id="Rc291cb05f5844c33" /><Relationship Type="http://schemas.openxmlformats.org/officeDocument/2006/relationships/image" Target="/ppt/media/image2.png" Id="R47ec017bbd984b30" /><Relationship Type="http://schemas.openxmlformats.org/officeDocument/2006/relationships/image" Target="/ppt/media/image3.png" Id="R802329c601ae4b3d" /><Relationship Type="http://schemas.openxmlformats.org/officeDocument/2006/relationships/image" Target="/ppt/media/image4.png" Id="R23c99d21ad2e4f56" /><Relationship Type="http://schemas.openxmlformats.org/officeDocument/2006/relationships/notesSlide" Target="/ppt/notesSlides/notesSlide7.xml" Id="R9071a7fe84714437"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3dbab07090b94ab0" /><Relationship Type="http://schemas.openxmlformats.org/officeDocument/2006/relationships/notesSlide" Target="/ppt/notesSlides/notesSlide8.xml" Id="R2f97799c80a24169"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A497EBE-00F6-4047-9D3E-0851990FF0A8}"/>
              </a:ext>
            </a:extLst>
          </p:cNvPr>
          <p:cNvSpPr>
            <a:spLocks xmlns:a="http://schemas.openxmlformats.org/drawingml/2006/main" noGrp="1"/>
          </p:cNvSpPr>
          <p:nvPr>
            <p:ph type="body" idx="100" hasCustomPrompt="1"/>
          </p:nvPr>
        </p:nvSpPr>
        <p:spPr>
          <a:xfrm xmlns:a="http://schemas.openxmlformats.org/drawingml/2006/main">
            <a:off x="640080" y="54864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3"/>
                </a:solidFill>
              </a:rPr>
              <a:t>ECE 6256 / CS 6604 · CASE-STUDY FAIR A · SYSTEM A4</a:t>
            </a:r>
            <a:endParaRPr sz="1200"/>
          </a:p>
        </p:txBody>
      </p:sp>
      <p:sp>
        <p:nvSpPr>
          <p:cNvPr id="3" name="Text 0">
            <a:extLst xmlns:a="http://schemas.openxmlformats.org/drawingml/2006/main">
              <a:ext uri="{FF2B5EF4-FFF2-40B4-BE49-F238E27FC236}">
                <a16:creationId xmlns:a16="http://schemas.microsoft.com/office/drawing/2014/main" id="{58A555D2-8DE0-46AF-BB87-E63D3F45E23F}"/>
              </a:ext>
            </a:extLst>
          </p:cNvPr>
          <p:cNvSpPr>
            <a:spLocks xmlns:a="http://schemas.openxmlformats.org/drawingml/2006/main" noGrp="1"/>
          </p:cNvSpPr>
          <p:nvPr>
            <p:ph type="title" idx="101" hasCustomPrompt="1"/>
          </p:nvPr>
        </p:nvSpPr>
        <p:spPr>
          <a:xfrm xmlns:a="http://schemas.openxmlformats.org/drawingml/2006/main">
            <a:off x="640080" y="1737360"/>
            <a:ext cx="10911535"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4000" b="1">
                <a:solidFill>
                  <a:schemeClr val="bg2"/>
                </a:solidFill>
              </a:rPr>
              <a:t>Cursor</a:t>
            </a:r>
            <a:endParaRPr sz="4000"/>
          </a:p>
        </p:txBody>
      </p:sp>
      <p:sp>
        <p:nvSpPr>
          <p:cNvPr id="4" name="Text 2">
            <a:extLst xmlns:a="http://schemas.openxmlformats.org/drawingml/2006/main">
              <a:ext uri="{FF2B5EF4-FFF2-40B4-BE49-F238E27FC236}">
                <a16:creationId xmlns:a16="http://schemas.microsoft.com/office/drawing/2014/main" id="{EAD8FAE2-266C-45BF-B6F8-F6A112CF00C8}"/>
              </a:ext>
            </a:extLst>
          </p:cNvPr>
          <p:cNvSpPr>
            <a:spLocks xmlns:a="http://schemas.openxmlformats.org/drawingml/2006/main" noGrp="1"/>
          </p:cNvSpPr>
          <p:nvPr/>
        </p:nvSpPr>
        <p:spPr>
          <a:xfrm xmlns:a="http://schemas.openxmlformats.org/drawingml/2006/main">
            <a:off x="640080" y="2971800"/>
            <a:ext cx="804672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a:solidFill>
                  <a:schemeClr val="accent6"/>
                </a:solidFill>
              </a:rPr>
              <a:t>An agent harness around rented models: what is explicit, what went latent, and where the seams show</a:t>
            </a:r>
            <a:endParaRPr sz="2200"/>
          </a:p>
        </p:txBody>
      </p:sp>
      <p:sp>
        <p:nvSpPr>
          <p:cNvPr id="5" name="Text 3">
            <a:extLst xmlns:a="http://schemas.openxmlformats.org/drawingml/2006/main">
              <a:ext uri="{FF2B5EF4-FFF2-40B4-BE49-F238E27FC236}">
                <a16:creationId xmlns:a16="http://schemas.microsoft.com/office/drawing/2014/main" id="{1BC95550-DDA3-415D-8A31-6FDF2BD728AF}"/>
              </a:ext>
            </a:extLst>
          </p:cNvPr>
          <p:cNvSpPr>
            <a:spLocks xmlns:a="http://schemas.openxmlformats.org/drawingml/2006/main" noGrp="1"/>
          </p:cNvSpPr>
          <p:nvPr/>
        </p:nvSpPr>
        <p:spPr>
          <a:xfrm xmlns:a="http://schemas.openxmlformats.org/drawingml/2006/main">
            <a:off x="640080" y="5852160"/>
            <a:ext cx="64008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600">
                <a:solidFill>
                  <a:schemeClr val="bg2"/>
                </a:solidFill>
              </a:rPr>
              <a:t>Greyson · Michael · Heeba · Canting</a:t>
            </a:r>
            <a:endParaRPr sz="1600"/>
          </a:p>
        </p:txBody>
      </p:sp>
      <p:sp>
        <p:nvSpPr>
          <p:cNvPr id="6" name="Text 4">
            <a:extLst xmlns:a="http://schemas.openxmlformats.org/drawingml/2006/main">
              <a:ext uri="{FF2B5EF4-FFF2-40B4-BE49-F238E27FC236}">
                <a16:creationId xmlns:a16="http://schemas.microsoft.com/office/drawing/2014/main" id="{51FC6402-D2D0-4762-B356-FDB1A4EA6468}"/>
              </a:ext>
            </a:extLst>
          </p:cNvPr>
          <p:cNvSpPr>
            <a:spLocks xmlns:a="http://schemas.openxmlformats.org/drawingml/2006/main" noGrp="1"/>
          </p:cNvSpPr>
          <p:nvPr/>
        </p:nvSpPr>
        <p:spPr>
          <a:xfrm xmlns:a="http://schemas.openxmlformats.org/drawingml/2006/main">
            <a:off x="8778240" y="5897880"/>
            <a:ext cx="2773375"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200">
                <a:solidFill>
                  <a:schemeClr val="accent4"/>
                </a:solidFill>
              </a:rPr>
              <a:t>Thu Oct 29, 2026</a:t>
            </a:r>
            <a:endParaRPr sz="1200"/>
          </a:p>
        </p:txBody>
      </p:sp>
    </p:spTree>
    <p:extLst>
      <p:ext uri="{BB962C8B-B14F-4D97-AF65-F5344CB8AC3E}">
        <p14:creationId xmlns:p14="http://schemas.microsoft.com/office/powerpoint/2010/main" val="53786180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8F1E00B-719E-4937-84C3-B7964AB0A698}"/>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THE MAP · GREYSON</a:t>
            </a:r>
            <a:endParaRPr sz="1200"/>
          </a:p>
        </p:txBody>
      </p:sp>
      <p:sp>
        <p:nvSpPr>
          <p:cNvPr id="3" name="Text 0">
            <a:extLst xmlns:a="http://schemas.openxmlformats.org/drawingml/2006/main">
              <a:ext uri="{FF2B5EF4-FFF2-40B4-BE49-F238E27FC236}">
                <a16:creationId xmlns:a16="http://schemas.microsoft.com/office/drawing/2014/main" id="{668D24A6-1070-455E-9CDF-FFBDF54DBE96}"/>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Cursor rents the model and builds the harness</a:t>
            </a:r>
            <a:endParaRPr sz="3200"/>
          </a:p>
        </p:txBody>
      </p:sp>
      <p:graphicFrame>
        <p:nvGraphicFramePr>
          <p:cNvPr id="26" name="Decomposition map">
            <a:extLst xmlns:a="http://schemas.openxmlformats.org/drawingml/2006/main">
              <a:ext uri="{FF2B5EF4-FFF2-40B4-BE49-F238E27FC236}">
                <a16:creationId xmlns:a16="http://schemas.microsoft.com/office/drawing/2014/main" id="{B5D089E0-E1A2-4F8B-BBD7-8BB474D005A9}"/>
              </a:ext>
            </a:extLst>
          </p:cNvPr>
          <p:cNvGraphicFramePr/>
          <p:nvPr/>
        </p:nvGraphicFramePr>
        <p:xfrm>
          <a:off xmlns:a="http://schemas.openxmlformats.org/drawingml/2006/main" x="640080" y="1783080"/>
          <a:ext xmlns:a="http://schemas.openxmlformats.org/drawingml/2006/main" cx="10911535" cy="914400"/>
        </p:xfrm>
        <a:graphic xmlns:a="http://schemas.openxmlformats.org/drawingml/2006/main">
          <a:graphicData uri="http://schemas.openxmlformats.org/drawingml/2006/table">
            <a:tbl>
              <a:tblPr/>
              <a:tblGrid>
                <a:gridCol w="2011680"/>
                <a:gridCol w="1828800"/>
                <a:gridCol w="5425135"/>
                <a:gridCol w="1645920"/>
              </a:tblGrid>
              <a:tr h="548640">
                <a:tc>
                  <a:txBody>
                    <a:bodyPr/>
                    <a:lstStyle/>
                    <a:p>
                      <a:pPr marL="0" indent="0">
                        <a:buNone/>
                      </a:pPr>
                      <a:r>
                        <a:rPr sz="1400" b="1">
                          <a:solidFill>
                            <a:schemeClr val="tx1"/>
                          </a:solidFill>
                          <a:latin typeface="Calibri"/>
                          <a:ea typeface="Calibri"/>
                          <a:cs typeface="Calibri"/>
                        </a:rPr>
                        <a:t>Box</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Status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In Cursor</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Covered by</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r>
              <a:tr h="548640">
                <a:tc>
                  <a:txBody>
                    <a:bodyPr/>
                    <a:lstStyle/>
                    <a:p>
                      <a:pPr marL="0" indent="0">
                        <a:buNone/>
                      </a:pPr>
                      <a:r>
                        <a:rPr sz="1400">
                          <a:solidFill>
                            <a:schemeClr val="tx2"/>
                          </a:solidFill>
                          <a:latin typeface="Calibri"/>
                          <a:ea typeface="Calibri"/>
                          <a:cs typeface="Calibri"/>
                        </a:rPr>
                        <a:t>Understanding</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Both</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Trained embedding model + fast index ground the request; the semantics stay latent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Greyson</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548640">
                <a:tc>
                  <a:txBody>
                    <a:bodyPr/>
                    <a:lstStyle/>
                    <a:p>
                      <a:pPr marL="0" indent="0">
                        <a:buNone/>
                      </a:pPr>
                      <a:r>
                        <a:rPr sz="1400">
                          <a:solidFill>
                            <a:schemeClr val="tx2"/>
                          </a:solidFill>
                          <a:latin typeface="Calibri"/>
                          <a:ea typeface="Calibri"/>
                          <a:cs typeface="Calibri"/>
                        </a:rPr>
                        <a:t>State</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Both</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Fixed static context and file-based updates; the model picks what else to fetch</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Greyson</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548640">
                <a:tc>
                  <a:txBody>
                    <a:bodyPr/>
                    <a:lstStyle/>
                    <a:p>
                      <a:pPr marL="0" indent="0">
                        <a:buNone/>
                      </a:pPr>
                      <a:r>
                        <a:rPr sz="1400">
                          <a:solidFill>
                            <a:schemeClr val="tx2"/>
                          </a:solidFill>
                          <a:latin typeface="Calibri"/>
                          <a:ea typeface="Calibri"/>
                          <a:cs typeface="Calibri"/>
                        </a:rPr>
                        <a:t>Policy</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Split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Model picks the next tool; Cursor trains it (Tab, Composer) and fences it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Michael</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548640">
                <a:tc>
                  <a:txBody>
                    <a:bodyPr/>
                    <a:lstStyle/>
                    <a:p>
                      <a:pPr marL="0" indent="0">
                        <a:buNone/>
                      </a:pPr>
                      <a:r>
                        <a:rPr sz="1400">
                          <a:solidFill>
                            <a:schemeClr val="tx2"/>
                          </a:solidFill>
                          <a:latin typeface="Calibri"/>
                          <a:ea typeface="Calibri"/>
                          <a:cs typeface="Calibri"/>
                        </a:rPr>
                        <a:t>Generation</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Latent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Output lands as diffs the user reviews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Michael</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548640">
                <a:tc>
                  <a:txBody>
                    <a:bodyPr/>
                    <a:lstStyle/>
                    <a:p>
                      <a:pPr marL="0" indent="0">
                        <a:buNone/>
                      </a:pPr>
                      <a:r>
                        <a:rPr sz="1400">
                          <a:solidFill>
                            <a:schemeClr val="tx2"/>
                          </a:solidFill>
                          <a:latin typeface="Calibri"/>
                          <a:ea typeface="Calibri"/>
                          <a:cs typeface="Calibri"/>
                        </a:rPr>
                        <a:t>Interfaces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Explicit, per vendor</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Edit format and prompts tuned per model; typed tool errors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Michael</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548640">
                <a:tc>
                  <a:txBody>
                    <a:bodyPr/>
                    <a:lstStyle/>
                    <a:p>
                      <a:pPr marL="0" indent="0">
                        <a:buNone/>
                      </a:pPr>
                      <a:r>
                        <a:rPr sz="1400">
                          <a:solidFill>
                            <a:schemeClr val="tx2"/>
                          </a:solidFill>
                          <a:latin typeface="Calibri"/>
                          <a:ea typeface="Calibri"/>
                          <a:cs typeface="Calibri"/>
                        </a:rPr>
                        <a:t>Missing</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Missing</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Grounding outside the repo; a real measure of task success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Heeba, Canting</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bl>
          </a:graphicData>
        </a:graphic>
      </p:graphicFrame>
      <p:sp>
        <p:nvSpPr>
          <p:cNvPr id="25" name="Slide Number Placeholder 0">
            <a:extLst xmlns:a="http://schemas.openxmlformats.org/drawingml/2006/main">
              <a:ext uri="{FF2B5EF4-FFF2-40B4-BE49-F238E27FC236}">
                <a16:creationId xmlns:a16="http://schemas.microsoft.com/office/drawing/2014/main" id="{84DAE40B-D247-442A-9E55-046CBA22B202}"/>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2</a:t>
            </a:fld>
            <a:endParaRPr/>
          </a:p>
        </p:txBody>
      </p:sp>
    </p:spTree>
    <p:extLst>
      <p:ext uri="{BB962C8B-B14F-4D97-AF65-F5344CB8AC3E}">
        <p14:creationId xmlns:p14="http://schemas.microsoft.com/office/powerpoint/2010/main" val="20154412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BD015C-67AB-453C-A985-FC59C04DC0AC}"/>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UNDERSTANDING + STATE · GREYSON</a:t>
            </a:r>
            <a:endParaRPr sz="1200"/>
          </a:p>
        </p:txBody>
      </p:sp>
      <p:sp>
        <p:nvSpPr>
          <p:cNvPr id="3" name="Text 0">
            <a:extLst xmlns:a="http://schemas.openxmlformats.org/drawingml/2006/main">
              <a:ext uri="{FF2B5EF4-FFF2-40B4-BE49-F238E27FC236}">
                <a16:creationId xmlns:a16="http://schemas.microsoft.com/office/drawing/2014/main" id="{E39A1D0C-B5DD-48EC-BA87-62F6A7D2D8D4}"/>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What goes in the context window for one request</a:t>
            </a:r>
            <a:endParaRPr sz="3200"/>
          </a:p>
        </p:txBody>
      </p:sp>
      <p:sp>
        <p:nvSpPr>
          <p:cNvPr id="4" name="Always sent">
            <a:extLst xmlns:a="http://schemas.openxmlformats.org/drawingml/2006/main">
              <a:ext uri="{FF2B5EF4-FFF2-40B4-BE49-F238E27FC236}">
                <a16:creationId xmlns:a16="http://schemas.microsoft.com/office/drawing/2014/main" id="{FF820148-F6D2-4012-A069-DD19570EE578}"/>
              </a:ext>
            </a:extLst>
          </p:cNvPr>
          <p:cNvSpPr>
            <a:spLocks xmlns:a="http://schemas.openxmlformats.org/drawingml/2006/main" noGrp="1"/>
          </p:cNvSpPr>
          <p:nvPr/>
        </p:nvSpPr>
        <p:spPr>
          <a:xfrm xmlns:a="http://schemas.openxmlformats.org/drawingml/2006/main">
            <a:off x="640080" y="1783080"/>
            <a:ext cx="3566160" cy="4069080"/>
          </a:xfrm>
          <a:prstGeom xmlns:a="http://schemas.openxmlformats.org/drawingml/2006/main" prst="roundRect">
            <a:avLst>
              <a:gd name="adj" fmla="val 3077"/>
            </a:avLst>
          </a:prstGeom>
          <a:solidFill xmlns:a="http://schemas.openxmlformats.org/drawingml/2006/main">
            <a:schemeClr val="bg1"/>
          </a:solidFill>
          <a:ln xmlns:a="http://schemas.openxmlformats.org/drawingml/2006/main" w="9525">
            <a:solidFill>
              <a:srgbClr val="DDD8CE"/>
            </a:solidFill>
            <a:prstDash val="solid"/>
          </a:ln>
        </p:spPr>
      </p:sp>
      <p:sp>
        <p:nvSpPr>
          <p:cNvPr id="5" name="Text 3">
            <a:extLst xmlns:a="http://schemas.openxmlformats.org/drawingml/2006/main">
              <a:ext uri="{FF2B5EF4-FFF2-40B4-BE49-F238E27FC236}">
                <a16:creationId xmlns:a16="http://schemas.microsoft.com/office/drawing/2014/main" id="{8EEF339D-1982-4541-BB98-7953564B4215}"/>
              </a:ext>
            </a:extLst>
          </p:cNvPr>
          <p:cNvSpPr>
            <a:spLocks xmlns:a="http://schemas.openxmlformats.org/drawingml/2006/main" noGrp="1"/>
          </p:cNvSpPr>
          <p:nvPr/>
        </p:nvSpPr>
        <p:spPr>
          <a:xfrm xmlns:a="http://schemas.openxmlformats.org/drawingml/2006/main">
            <a:off x="914400" y="2011680"/>
            <a:ext cx="3017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tx1"/>
                </a:solidFill>
              </a:rPr>
              <a:t>Always sent</a:t>
            </a:r>
            <a:endParaRPr sz="1800"/>
          </a:p>
        </p:txBody>
      </p:sp>
      <p:sp>
        <p:nvSpPr>
          <p:cNvPr id="6" name="Always sent chip 1">
            <a:extLst xmlns:a="http://schemas.openxmlformats.org/drawingml/2006/main">
              <a:ext uri="{FF2B5EF4-FFF2-40B4-BE49-F238E27FC236}">
                <a16:creationId xmlns:a16="http://schemas.microsoft.com/office/drawing/2014/main" id="{3ECDC5BF-5647-4BB7-A322-D7B66DAF9B5E}"/>
              </a:ext>
            </a:extLst>
          </p:cNvPr>
          <p:cNvSpPr>
            <a:spLocks xmlns:a="http://schemas.openxmlformats.org/drawingml/2006/main" noGrp="1"/>
          </p:cNvSpPr>
          <p:nvPr/>
        </p:nvSpPr>
        <p:spPr>
          <a:xfrm xmlns:a="http://schemas.openxmlformats.org/drawingml/2006/main">
            <a:off x="914400" y="2560320"/>
            <a:ext cx="3017520" cy="475488"/>
          </a:xfrm>
          <a:prstGeom xmlns:a="http://schemas.openxmlformats.org/drawingml/2006/main" prst="roundRect">
            <a:avLst>
              <a:gd name="adj" fmla="val 15385"/>
            </a:avLst>
          </a:prstGeom>
          <a:solidFill xmlns:a="http://schemas.openxmlformats.org/drawingml/2006/main">
            <a:srgbClr val="E6E3DC"/>
          </a:solidFill>
          <a:ln xmlns:a="http://schemas.openxmlformats.org/drawingml/2006/main" w="12700">
            <a:solidFill>
              <a:srgbClr val="E6E3DC"/>
            </a:solidFill>
            <a:prstDash val="solid"/>
          </a:ln>
        </p:spPr>
      </p:sp>
      <p:sp>
        <p:nvSpPr>
          <p:cNvPr id="7" name="Text 5">
            <a:extLst xmlns:a="http://schemas.openxmlformats.org/drawingml/2006/main">
              <a:ext uri="{FF2B5EF4-FFF2-40B4-BE49-F238E27FC236}">
                <a16:creationId xmlns:a16="http://schemas.microsoft.com/office/drawing/2014/main" id="{3D5BDE57-DBDA-4A2E-85B0-B5DC5510F612}"/>
              </a:ext>
            </a:extLst>
          </p:cNvPr>
          <p:cNvSpPr>
            <a:spLocks xmlns:a="http://schemas.openxmlformats.org/drawingml/2006/main" noGrp="1"/>
          </p:cNvSpPr>
          <p:nvPr/>
        </p:nvSpPr>
        <p:spPr>
          <a:xfrm xmlns:a="http://schemas.openxmlformats.org/drawingml/2006/main">
            <a:off x="1051560" y="2560320"/>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61A22"/>
                </a:solidFill>
              </a:rPr>
              <a:t>System prompt + tool list</a:t>
            </a:r>
            <a:endParaRPr sz="1400"/>
          </a:p>
        </p:txBody>
      </p:sp>
      <p:sp>
        <p:nvSpPr>
          <p:cNvPr id="8" name="Always sent chip 2">
            <a:extLst xmlns:a="http://schemas.openxmlformats.org/drawingml/2006/main">
              <a:ext uri="{FF2B5EF4-FFF2-40B4-BE49-F238E27FC236}">
                <a16:creationId xmlns:a16="http://schemas.microsoft.com/office/drawing/2014/main" id="{CDC35C83-645E-454F-A446-9DA7EFD35CB8}"/>
              </a:ext>
            </a:extLst>
          </p:cNvPr>
          <p:cNvSpPr>
            <a:spLocks xmlns:a="http://schemas.openxmlformats.org/drawingml/2006/main" noGrp="1"/>
          </p:cNvSpPr>
          <p:nvPr/>
        </p:nvSpPr>
        <p:spPr>
          <a:xfrm xmlns:a="http://schemas.openxmlformats.org/drawingml/2006/main">
            <a:off x="914400" y="3182112"/>
            <a:ext cx="3017520" cy="475488"/>
          </a:xfrm>
          <a:prstGeom xmlns:a="http://schemas.openxmlformats.org/drawingml/2006/main" prst="roundRect">
            <a:avLst>
              <a:gd name="adj" fmla="val 15385"/>
            </a:avLst>
          </a:prstGeom>
          <a:solidFill xmlns:a="http://schemas.openxmlformats.org/drawingml/2006/main">
            <a:srgbClr val="E6E3DC"/>
          </a:solidFill>
          <a:ln xmlns:a="http://schemas.openxmlformats.org/drawingml/2006/main" w="12700">
            <a:solidFill>
              <a:srgbClr val="E6E3DC"/>
            </a:solidFill>
            <a:prstDash val="solid"/>
          </a:ln>
        </p:spPr>
      </p:sp>
      <p:sp>
        <p:nvSpPr>
          <p:cNvPr id="9" name="Text 7">
            <a:extLst xmlns:a="http://schemas.openxmlformats.org/drawingml/2006/main">
              <a:ext uri="{FF2B5EF4-FFF2-40B4-BE49-F238E27FC236}">
                <a16:creationId xmlns:a16="http://schemas.microsoft.com/office/drawing/2014/main" id="{CDB2B7ED-EEB1-48FA-AD4A-7BC751AFA3F5}"/>
              </a:ext>
            </a:extLst>
          </p:cNvPr>
          <p:cNvSpPr>
            <a:spLocks xmlns:a="http://schemas.openxmlformats.org/drawingml/2006/main" noGrp="1"/>
          </p:cNvSpPr>
          <p:nvPr/>
        </p:nvSpPr>
        <p:spPr>
          <a:xfrm xmlns:a="http://schemas.openxmlformats.org/drawingml/2006/main">
            <a:off x="1051560" y="3182112"/>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61A22"/>
                </a:solidFill>
              </a:rPr>
              <a:t>OS and git status</a:t>
            </a:r>
            <a:endParaRPr sz="1400"/>
          </a:p>
        </p:txBody>
      </p:sp>
      <p:sp>
        <p:nvSpPr>
          <p:cNvPr id="10" name="Always sent chip 3">
            <a:extLst xmlns:a="http://schemas.openxmlformats.org/drawingml/2006/main">
              <a:ext uri="{FF2B5EF4-FFF2-40B4-BE49-F238E27FC236}">
                <a16:creationId xmlns:a16="http://schemas.microsoft.com/office/drawing/2014/main" id="{98B3A8B4-A697-40A4-AC1E-2B8EF9D465ED}"/>
              </a:ext>
            </a:extLst>
          </p:cNvPr>
          <p:cNvSpPr>
            <a:spLocks xmlns:a="http://schemas.openxmlformats.org/drawingml/2006/main" noGrp="1"/>
          </p:cNvSpPr>
          <p:nvPr/>
        </p:nvSpPr>
        <p:spPr>
          <a:xfrm xmlns:a="http://schemas.openxmlformats.org/drawingml/2006/main">
            <a:off x="914400" y="3803904"/>
            <a:ext cx="3017520" cy="475488"/>
          </a:xfrm>
          <a:prstGeom xmlns:a="http://schemas.openxmlformats.org/drawingml/2006/main" prst="roundRect">
            <a:avLst>
              <a:gd name="adj" fmla="val 15385"/>
            </a:avLst>
          </a:prstGeom>
          <a:solidFill xmlns:a="http://schemas.openxmlformats.org/drawingml/2006/main">
            <a:srgbClr val="E6E3DC"/>
          </a:solidFill>
          <a:ln xmlns:a="http://schemas.openxmlformats.org/drawingml/2006/main" w="12700">
            <a:solidFill>
              <a:srgbClr val="E6E3DC"/>
            </a:solidFill>
            <a:prstDash val="solid"/>
          </a:ln>
        </p:spPr>
      </p:sp>
      <p:sp>
        <p:nvSpPr>
          <p:cNvPr id="11" name="Text 9">
            <a:extLst xmlns:a="http://schemas.openxmlformats.org/drawingml/2006/main">
              <a:ext uri="{FF2B5EF4-FFF2-40B4-BE49-F238E27FC236}">
                <a16:creationId xmlns:a16="http://schemas.microsoft.com/office/drawing/2014/main" id="{3C4AC5FC-9B2D-4D84-AD5C-265A28CCEE7C}"/>
              </a:ext>
            </a:extLst>
          </p:cNvPr>
          <p:cNvSpPr>
            <a:spLocks xmlns:a="http://schemas.openxmlformats.org/drawingml/2006/main" noGrp="1"/>
          </p:cNvSpPr>
          <p:nvPr/>
        </p:nvSpPr>
        <p:spPr>
          <a:xfrm xmlns:a="http://schemas.openxmlformats.org/drawingml/2006/main">
            <a:off x="1051560" y="3803904"/>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61A22"/>
                </a:solidFill>
              </a:rPr>
              <a:t>Current and recent files</a:t>
            </a:r>
            <a:endParaRPr sz="1400"/>
          </a:p>
        </p:txBody>
      </p:sp>
      <p:sp>
        <p:nvSpPr>
          <p:cNvPr id="12" name="Always sent chip 4">
            <a:extLst xmlns:a="http://schemas.openxmlformats.org/drawingml/2006/main">
              <a:ext uri="{FF2B5EF4-FFF2-40B4-BE49-F238E27FC236}">
                <a16:creationId xmlns:a16="http://schemas.microsoft.com/office/drawing/2014/main" id="{1089C751-58CB-4AF6-BCE8-2D84BD1612F2}"/>
              </a:ext>
            </a:extLst>
          </p:cNvPr>
          <p:cNvSpPr>
            <a:spLocks xmlns:a="http://schemas.openxmlformats.org/drawingml/2006/main" noGrp="1"/>
          </p:cNvSpPr>
          <p:nvPr/>
        </p:nvSpPr>
        <p:spPr>
          <a:xfrm xmlns:a="http://schemas.openxmlformats.org/drawingml/2006/main">
            <a:off x="914400" y="4425696"/>
            <a:ext cx="3017520" cy="475488"/>
          </a:xfrm>
          <a:prstGeom xmlns:a="http://schemas.openxmlformats.org/drawingml/2006/main" prst="roundRect">
            <a:avLst>
              <a:gd name="adj" fmla="val 15385"/>
            </a:avLst>
          </a:prstGeom>
          <a:solidFill xmlns:a="http://schemas.openxmlformats.org/drawingml/2006/main">
            <a:srgbClr val="E6E3DC"/>
          </a:solidFill>
          <a:ln xmlns:a="http://schemas.openxmlformats.org/drawingml/2006/main" w="12700">
            <a:solidFill>
              <a:srgbClr val="E6E3DC"/>
            </a:solidFill>
            <a:prstDash val="solid"/>
          </a:ln>
        </p:spPr>
      </p:sp>
      <p:sp>
        <p:nvSpPr>
          <p:cNvPr id="13" name="Text 11">
            <a:extLst xmlns:a="http://schemas.openxmlformats.org/drawingml/2006/main">
              <a:ext uri="{FF2B5EF4-FFF2-40B4-BE49-F238E27FC236}">
                <a16:creationId xmlns:a16="http://schemas.microsoft.com/office/drawing/2014/main" id="{072F277C-9262-4629-870C-2A9C4FE97081}"/>
              </a:ext>
            </a:extLst>
          </p:cNvPr>
          <p:cNvSpPr>
            <a:spLocks xmlns:a="http://schemas.openxmlformats.org/drawingml/2006/main" noGrp="1"/>
          </p:cNvSpPr>
          <p:nvPr/>
        </p:nvSpPr>
        <p:spPr>
          <a:xfrm xmlns:a="http://schemas.openxmlformats.org/drawingml/2006/main">
            <a:off x="1051560" y="4425696"/>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61A22"/>
                </a:solidFill>
              </a:rPr>
              <a:t>Skill names, MCP tool names</a:t>
            </a:r>
            <a:endParaRPr sz="1400"/>
          </a:p>
        </p:txBody>
      </p:sp>
      <p:sp>
        <p:nvSpPr>
          <p:cNvPr id="14" name="Fetched">
            <a:extLst xmlns:a="http://schemas.openxmlformats.org/drawingml/2006/main">
              <a:ext uri="{FF2B5EF4-FFF2-40B4-BE49-F238E27FC236}">
                <a16:creationId xmlns:a16="http://schemas.microsoft.com/office/drawing/2014/main" id="{3E9B9B95-C9D2-4E61-B842-2DCC4F098702}"/>
              </a:ext>
            </a:extLst>
          </p:cNvPr>
          <p:cNvSpPr>
            <a:spLocks xmlns:a="http://schemas.openxmlformats.org/drawingml/2006/main" noGrp="1"/>
          </p:cNvSpPr>
          <p:nvPr/>
        </p:nvSpPr>
        <p:spPr>
          <a:xfrm xmlns:a="http://schemas.openxmlformats.org/drawingml/2006/main">
            <a:off x="4434840" y="1783080"/>
            <a:ext cx="3566160" cy="4069080"/>
          </a:xfrm>
          <a:prstGeom xmlns:a="http://schemas.openxmlformats.org/drawingml/2006/main" prst="roundRect">
            <a:avLst>
              <a:gd name="adj" fmla="val 3077"/>
            </a:avLst>
          </a:prstGeom>
          <a:solidFill xmlns:a="http://schemas.openxmlformats.org/drawingml/2006/main">
            <a:schemeClr val="bg1"/>
          </a:solidFill>
          <a:ln xmlns:a="http://schemas.openxmlformats.org/drawingml/2006/main" w="19050">
            <a:solidFill>
              <a:srgbClr val="2C64A8"/>
            </a:solidFill>
            <a:prstDash val="solid"/>
          </a:ln>
        </p:spPr>
      </p:sp>
      <p:sp>
        <p:nvSpPr>
          <p:cNvPr id="15" name="Text 13">
            <a:extLst xmlns:a="http://schemas.openxmlformats.org/drawingml/2006/main">
              <a:ext uri="{FF2B5EF4-FFF2-40B4-BE49-F238E27FC236}">
                <a16:creationId xmlns:a16="http://schemas.microsoft.com/office/drawing/2014/main" id="{83A4DACC-A2FF-486D-AD7D-6CE1511C11B2}"/>
              </a:ext>
            </a:extLst>
          </p:cNvPr>
          <p:cNvSpPr>
            <a:spLocks xmlns:a="http://schemas.openxmlformats.org/drawingml/2006/main" noGrp="1"/>
          </p:cNvSpPr>
          <p:nvPr/>
        </p:nvSpPr>
        <p:spPr>
          <a:xfrm xmlns:a="http://schemas.openxmlformats.org/drawingml/2006/main">
            <a:off x="4709160" y="2011680"/>
            <a:ext cx="30175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tx1"/>
                </a:solidFill>
              </a:rPr>
              <a:t>Fetched when needed</a:t>
            </a:r>
            <a:endParaRPr sz="1800"/>
          </a:p>
        </p:txBody>
      </p:sp>
      <p:sp>
        <p:nvSpPr>
          <p:cNvPr id="16" name="Fetched chip 1">
            <a:extLst xmlns:a="http://schemas.openxmlformats.org/drawingml/2006/main">
              <a:ext uri="{FF2B5EF4-FFF2-40B4-BE49-F238E27FC236}">
                <a16:creationId xmlns:a16="http://schemas.microsoft.com/office/drawing/2014/main" id="{5515358F-254E-4F2B-AFF1-092C3A6E52CD}"/>
              </a:ext>
            </a:extLst>
          </p:cNvPr>
          <p:cNvSpPr>
            <a:spLocks xmlns:a="http://schemas.openxmlformats.org/drawingml/2006/main" noGrp="1"/>
          </p:cNvSpPr>
          <p:nvPr/>
        </p:nvSpPr>
        <p:spPr>
          <a:xfrm xmlns:a="http://schemas.openxmlformats.org/drawingml/2006/main">
            <a:off x="4709160" y="2560320"/>
            <a:ext cx="3017520" cy="475488"/>
          </a:xfrm>
          <a:prstGeom xmlns:a="http://schemas.openxmlformats.org/drawingml/2006/main" prst="roundRect">
            <a:avLst>
              <a:gd name="adj" fmla="val 15385"/>
            </a:avLst>
          </a:prstGeom>
          <a:solidFill xmlns:a="http://schemas.openxmlformats.org/drawingml/2006/main">
            <a:srgbClr val="DCE7F5"/>
          </a:solidFill>
          <a:ln xmlns:a="http://schemas.openxmlformats.org/drawingml/2006/main" w="12700">
            <a:solidFill>
              <a:srgbClr val="DCE7F5"/>
            </a:solidFill>
            <a:prstDash val="solid"/>
          </a:ln>
        </p:spPr>
      </p:sp>
      <p:sp>
        <p:nvSpPr>
          <p:cNvPr id="17" name="Text 15">
            <a:extLst xmlns:a="http://schemas.openxmlformats.org/drawingml/2006/main">
              <a:ext uri="{FF2B5EF4-FFF2-40B4-BE49-F238E27FC236}">
                <a16:creationId xmlns:a16="http://schemas.microsoft.com/office/drawing/2014/main" id="{EB9B1148-936D-4792-8C73-F27488D1A00D}"/>
              </a:ext>
            </a:extLst>
          </p:cNvPr>
          <p:cNvSpPr>
            <a:spLocks xmlns:a="http://schemas.openxmlformats.org/drawingml/2006/main" noGrp="1"/>
          </p:cNvSpPr>
          <p:nvPr/>
        </p:nvSpPr>
        <p:spPr>
          <a:xfrm xmlns:a="http://schemas.openxmlformats.org/drawingml/2006/main">
            <a:off x="4846320" y="2560320"/>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E4A80"/>
                </a:solidFill>
              </a:rPr>
              <a:t>Semantic search + grep hits</a:t>
            </a:r>
            <a:endParaRPr sz="1400"/>
          </a:p>
        </p:txBody>
      </p:sp>
      <p:sp>
        <p:nvSpPr>
          <p:cNvPr id="18" name="Fetched chip 2">
            <a:extLst xmlns:a="http://schemas.openxmlformats.org/drawingml/2006/main">
              <a:ext uri="{FF2B5EF4-FFF2-40B4-BE49-F238E27FC236}">
                <a16:creationId xmlns:a16="http://schemas.microsoft.com/office/drawing/2014/main" id="{DCF14BF9-F09A-41D2-87D0-95005F697E25}"/>
              </a:ext>
            </a:extLst>
          </p:cNvPr>
          <p:cNvSpPr>
            <a:spLocks xmlns:a="http://schemas.openxmlformats.org/drawingml/2006/main" noGrp="1"/>
          </p:cNvSpPr>
          <p:nvPr/>
        </p:nvSpPr>
        <p:spPr>
          <a:xfrm xmlns:a="http://schemas.openxmlformats.org/drawingml/2006/main">
            <a:off x="4709160" y="3182112"/>
            <a:ext cx="3017520" cy="475488"/>
          </a:xfrm>
          <a:prstGeom xmlns:a="http://schemas.openxmlformats.org/drawingml/2006/main" prst="roundRect">
            <a:avLst>
              <a:gd name="adj" fmla="val 15385"/>
            </a:avLst>
          </a:prstGeom>
          <a:solidFill xmlns:a="http://schemas.openxmlformats.org/drawingml/2006/main">
            <a:srgbClr val="DCE7F5"/>
          </a:solidFill>
          <a:ln xmlns:a="http://schemas.openxmlformats.org/drawingml/2006/main" w="12700">
            <a:solidFill>
              <a:srgbClr val="DCE7F5"/>
            </a:solidFill>
            <a:prstDash val="solid"/>
          </a:ln>
        </p:spPr>
      </p:sp>
      <p:sp>
        <p:nvSpPr>
          <p:cNvPr id="19" name="Text 17">
            <a:extLst xmlns:a="http://schemas.openxmlformats.org/drawingml/2006/main">
              <a:ext uri="{FF2B5EF4-FFF2-40B4-BE49-F238E27FC236}">
                <a16:creationId xmlns:a16="http://schemas.microsoft.com/office/drawing/2014/main" id="{73496E3F-5CEF-463A-9AE9-6CCAC50834D2}"/>
              </a:ext>
            </a:extLst>
          </p:cNvPr>
          <p:cNvSpPr>
            <a:spLocks xmlns:a="http://schemas.openxmlformats.org/drawingml/2006/main" noGrp="1"/>
          </p:cNvSpPr>
          <p:nvPr/>
        </p:nvSpPr>
        <p:spPr>
          <a:xfrm xmlns:a="http://schemas.openxmlformats.org/drawingml/2006/main">
            <a:off x="4846320" y="3182112"/>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E4A80"/>
                </a:solidFill>
              </a:rPr>
              <a:t>Long tool output, as a file</a:t>
            </a:r>
            <a:endParaRPr sz="1400"/>
          </a:p>
        </p:txBody>
      </p:sp>
      <p:sp>
        <p:nvSpPr>
          <p:cNvPr id="20" name="Fetched chip 3">
            <a:extLst xmlns:a="http://schemas.openxmlformats.org/drawingml/2006/main">
              <a:ext uri="{FF2B5EF4-FFF2-40B4-BE49-F238E27FC236}">
                <a16:creationId xmlns:a16="http://schemas.microsoft.com/office/drawing/2014/main" id="{6A64614A-1ED9-4F72-AF0D-8E42C696C2BC}"/>
              </a:ext>
            </a:extLst>
          </p:cNvPr>
          <p:cNvSpPr>
            <a:spLocks xmlns:a="http://schemas.openxmlformats.org/drawingml/2006/main" noGrp="1"/>
          </p:cNvSpPr>
          <p:nvPr/>
        </p:nvSpPr>
        <p:spPr>
          <a:xfrm xmlns:a="http://schemas.openxmlformats.org/drawingml/2006/main">
            <a:off x="4709160" y="3803904"/>
            <a:ext cx="3017520" cy="475488"/>
          </a:xfrm>
          <a:prstGeom xmlns:a="http://schemas.openxmlformats.org/drawingml/2006/main" prst="roundRect">
            <a:avLst>
              <a:gd name="adj" fmla="val 15385"/>
            </a:avLst>
          </a:prstGeom>
          <a:solidFill xmlns:a="http://schemas.openxmlformats.org/drawingml/2006/main">
            <a:srgbClr val="DCE7F5"/>
          </a:solidFill>
          <a:ln xmlns:a="http://schemas.openxmlformats.org/drawingml/2006/main" w="12700">
            <a:solidFill>
              <a:srgbClr val="DCE7F5"/>
            </a:solidFill>
            <a:prstDash val="solid"/>
          </a:ln>
        </p:spPr>
      </p:sp>
      <p:sp>
        <p:nvSpPr>
          <p:cNvPr id="21" name="Text 19">
            <a:extLst xmlns:a="http://schemas.openxmlformats.org/drawingml/2006/main">
              <a:ext uri="{FF2B5EF4-FFF2-40B4-BE49-F238E27FC236}">
                <a16:creationId xmlns:a16="http://schemas.microsoft.com/office/drawing/2014/main" id="{CC15989D-0D26-4AC5-A68F-F909E14539B8}"/>
              </a:ext>
            </a:extLst>
          </p:cNvPr>
          <p:cNvSpPr>
            <a:spLocks xmlns:a="http://schemas.openxmlformats.org/drawingml/2006/main" noGrp="1"/>
          </p:cNvSpPr>
          <p:nvPr/>
        </p:nvSpPr>
        <p:spPr>
          <a:xfrm xmlns:a="http://schemas.openxmlformats.org/drawingml/2006/main">
            <a:off x="4846320" y="3803904"/>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E4A80"/>
                </a:solidFill>
              </a:rPr>
              <a:t>Chat history file after a summary</a:t>
            </a:r>
            <a:endParaRPr sz="1400"/>
          </a:p>
        </p:txBody>
      </p:sp>
      <p:sp>
        <p:nvSpPr>
          <p:cNvPr id="22" name="Fetched chip 4">
            <a:extLst xmlns:a="http://schemas.openxmlformats.org/drawingml/2006/main">
              <a:ext uri="{FF2B5EF4-FFF2-40B4-BE49-F238E27FC236}">
                <a16:creationId xmlns:a16="http://schemas.microsoft.com/office/drawing/2014/main" id="{659BE343-303B-4F31-B059-A80EF93531A0}"/>
              </a:ext>
            </a:extLst>
          </p:cNvPr>
          <p:cNvSpPr>
            <a:spLocks xmlns:a="http://schemas.openxmlformats.org/drawingml/2006/main" noGrp="1"/>
          </p:cNvSpPr>
          <p:nvPr/>
        </p:nvSpPr>
        <p:spPr>
          <a:xfrm xmlns:a="http://schemas.openxmlformats.org/drawingml/2006/main">
            <a:off x="4709160" y="4425696"/>
            <a:ext cx="3017520" cy="475488"/>
          </a:xfrm>
          <a:prstGeom xmlns:a="http://schemas.openxmlformats.org/drawingml/2006/main" prst="roundRect">
            <a:avLst>
              <a:gd name="adj" fmla="val 15385"/>
            </a:avLst>
          </a:prstGeom>
          <a:solidFill xmlns:a="http://schemas.openxmlformats.org/drawingml/2006/main">
            <a:srgbClr val="DCE7F5"/>
          </a:solidFill>
          <a:ln xmlns:a="http://schemas.openxmlformats.org/drawingml/2006/main" w="12700">
            <a:solidFill>
              <a:srgbClr val="DCE7F5"/>
            </a:solidFill>
            <a:prstDash val="solid"/>
          </a:ln>
        </p:spPr>
      </p:sp>
      <p:sp>
        <p:nvSpPr>
          <p:cNvPr id="23" name="Text 21">
            <a:extLst xmlns:a="http://schemas.openxmlformats.org/drawingml/2006/main">
              <a:ext uri="{FF2B5EF4-FFF2-40B4-BE49-F238E27FC236}">
                <a16:creationId xmlns:a16="http://schemas.microsoft.com/office/drawing/2014/main" id="{631CEEAB-1D89-4E8C-84B5-C51B7326D393}"/>
              </a:ext>
            </a:extLst>
          </p:cNvPr>
          <p:cNvSpPr>
            <a:spLocks xmlns:a="http://schemas.openxmlformats.org/drawingml/2006/main" noGrp="1"/>
          </p:cNvSpPr>
          <p:nvPr/>
        </p:nvSpPr>
        <p:spPr>
          <a:xfrm xmlns:a="http://schemas.openxmlformats.org/drawingml/2006/main">
            <a:off x="4846320" y="4425696"/>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E4A80"/>
                </a:solidFill>
              </a:rPr>
              <a:t>Terminal sessions, as files</a:t>
            </a:r>
            <a:endParaRPr sz="1400"/>
          </a:p>
        </p:txBody>
      </p:sp>
      <p:sp>
        <p:nvSpPr>
          <p:cNvPr id="24" name="Fetched chip 5">
            <a:extLst xmlns:a="http://schemas.openxmlformats.org/drawingml/2006/main">
              <a:ext uri="{FF2B5EF4-FFF2-40B4-BE49-F238E27FC236}">
                <a16:creationId xmlns:a16="http://schemas.microsoft.com/office/drawing/2014/main" id="{A8D5E803-C6FE-4779-808A-92DFBC107A72}"/>
              </a:ext>
            </a:extLst>
          </p:cNvPr>
          <p:cNvSpPr>
            <a:spLocks xmlns:a="http://schemas.openxmlformats.org/drawingml/2006/main" noGrp="1"/>
          </p:cNvSpPr>
          <p:nvPr/>
        </p:nvSpPr>
        <p:spPr>
          <a:xfrm xmlns:a="http://schemas.openxmlformats.org/drawingml/2006/main">
            <a:off x="4709160" y="5047488"/>
            <a:ext cx="3017520" cy="475488"/>
          </a:xfrm>
          <a:prstGeom xmlns:a="http://schemas.openxmlformats.org/drawingml/2006/main" prst="roundRect">
            <a:avLst>
              <a:gd name="adj" fmla="val 15385"/>
            </a:avLst>
          </a:prstGeom>
          <a:solidFill xmlns:a="http://schemas.openxmlformats.org/drawingml/2006/main">
            <a:srgbClr val="DCE7F5"/>
          </a:solidFill>
          <a:ln xmlns:a="http://schemas.openxmlformats.org/drawingml/2006/main" w="12700">
            <a:solidFill>
              <a:srgbClr val="DCE7F5"/>
            </a:solidFill>
            <a:prstDash val="solid"/>
          </a:ln>
        </p:spPr>
      </p:sp>
      <p:sp>
        <p:nvSpPr>
          <p:cNvPr id="25" name="Text 23">
            <a:extLst xmlns:a="http://schemas.openxmlformats.org/drawingml/2006/main">
              <a:ext uri="{FF2B5EF4-FFF2-40B4-BE49-F238E27FC236}">
                <a16:creationId xmlns:a16="http://schemas.microsoft.com/office/drawing/2014/main" id="{614F3E7B-DE00-497E-A1EA-79824C70AD00}"/>
              </a:ext>
            </a:extLst>
          </p:cNvPr>
          <p:cNvSpPr>
            <a:spLocks xmlns:a="http://schemas.openxmlformats.org/drawingml/2006/main" noGrp="1"/>
          </p:cNvSpPr>
          <p:nvPr/>
        </p:nvSpPr>
        <p:spPr>
          <a:xfrm xmlns:a="http://schemas.openxmlformats.org/drawingml/2006/main">
            <a:off x="4846320" y="5047488"/>
            <a:ext cx="274320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1E4A80"/>
                </a:solidFill>
              </a:rPr>
              <a:t>Full skill files, MCP tool details</a:t>
            </a:r>
            <a:endParaRPr sz="1400"/>
          </a:p>
        </p:txBody>
      </p:sp>
      <p:sp>
        <p:nvSpPr>
          <p:cNvPr id="26" name="Text 24">
            <a:extLst xmlns:a="http://schemas.openxmlformats.org/drawingml/2006/main">
              <a:ext uri="{FF2B5EF4-FFF2-40B4-BE49-F238E27FC236}">
                <a16:creationId xmlns:a16="http://schemas.microsoft.com/office/drawing/2014/main" id="{77BF406C-F0A5-452C-9B1D-75BDAED323F9}"/>
              </a:ext>
            </a:extLst>
          </p:cNvPr>
          <p:cNvSpPr>
            <a:spLocks xmlns:a="http://schemas.openxmlformats.org/drawingml/2006/main" noGrp="1"/>
          </p:cNvSpPr>
          <p:nvPr/>
        </p:nvSpPr>
        <p:spPr>
          <a:xfrm xmlns:a="http://schemas.openxmlformats.org/drawingml/2006/main">
            <a:off x="8412480" y="2103120"/>
            <a:ext cx="313913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chemeClr val="tx1"/>
                </a:solidFill>
              </a:rPr>
              <a:t>+12.5%</a:t>
            </a:r>
            <a:endParaRPr sz="4000"/>
          </a:p>
        </p:txBody>
      </p:sp>
      <p:sp>
        <p:nvSpPr>
          <p:cNvPr id="27" name="Text 25">
            <a:extLst xmlns:a="http://schemas.openxmlformats.org/drawingml/2006/main">
              <a:ext uri="{FF2B5EF4-FFF2-40B4-BE49-F238E27FC236}">
                <a16:creationId xmlns:a16="http://schemas.microsoft.com/office/drawing/2014/main" id="{80AEA40F-D490-442E-9A88-EDD9012E07BB}"/>
              </a:ext>
            </a:extLst>
          </p:cNvPr>
          <p:cNvSpPr>
            <a:spLocks xmlns:a="http://schemas.openxmlformats.org/drawingml/2006/main" noGrp="1"/>
          </p:cNvSpPr>
          <p:nvPr/>
        </p:nvSpPr>
        <p:spPr>
          <a:xfrm xmlns:a="http://schemas.openxmlformats.org/drawingml/2006/main">
            <a:off x="8412480" y="2834640"/>
            <a:ext cx="313913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tx2"/>
                </a:solidFill>
              </a:rPr>
              <a:t>answer accuracy with semantic search, average across models (6.5–23.5%) [1]</a:t>
            </a:r>
            <a:endParaRPr sz="1300"/>
          </a:p>
        </p:txBody>
      </p:sp>
      <p:sp>
        <p:nvSpPr>
          <p:cNvPr id="28" name="Text 26">
            <a:extLst xmlns:a="http://schemas.openxmlformats.org/drawingml/2006/main">
              <a:ext uri="{FF2B5EF4-FFF2-40B4-BE49-F238E27FC236}">
                <a16:creationId xmlns:a16="http://schemas.microsoft.com/office/drawing/2014/main" id="{92295104-1643-45FB-B18E-59E9B3956D98}"/>
              </a:ext>
            </a:extLst>
          </p:cNvPr>
          <p:cNvSpPr>
            <a:spLocks xmlns:a="http://schemas.openxmlformats.org/drawingml/2006/main" noGrp="1"/>
          </p:cNvSpPr>
          <p:nvPr/>
        </p:nvSpPr>
        <p:spPr>
          <a:xfrm xmlns:a="http://schemas.openxmlformats.org/drawingml/2006/main">
            <a:off x="8412480" y="3886200"/>
            <a:ext cx="313913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4000" b="1">
                <a:solidFill>
                  <a:schemeClr val="tx1"/>
                </a:solidFill>
              </a:rPr>
              <a:t>−46.9%</a:t>
            </a:r>
            <a:endParaRPr sz="4000"/>
          </a:p>
        </p:txBody>
      </p:sp>
      <p:sp>
        <p:nvSpPr>
          <p:cNvPr id="29" name="Text 27">
            <a:extLst xmlns:a="http://schemas.openxmlformats.org/drawingml/2006/main">
              <a:ext uri="{FF2B5EF4-FFF2-40B4-BE49-F238E27FC236}">
                <a16:creationId xmlns:a16="http://schemas.microsoft.com/office/drawing/2014/main" id="{5C51FBE0-E36C-481A-9260-7F8A45F6AF43}"/>
              </a:ext>
            </a:extLst>
          </p:cNvPr>
          <p:cNvSpPr>
            <a:spLocks xmlns:a="http://schemas.openxmlformats.org/drawingml/2006/main" noGrp="1"/>
          </p:cNvSpPr>
          <p:nvPr/>
        </p:nvSpPr>
        <p:spPr>
          <a:xfrm xmlns:a="http://schemas.openxmlformats.org/drawingml/2006/main">
            <a:off x="8412480" y="4617720"/>
            <a:ext cx="3139135"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tx2"/>
                </a:solidFill>
              </a:rPr>
              <a:t>total agent tokens on MCP runs, with tools loaded on demand [2]</a:t>
            </a:r>
            <a:endParaRPr sz="1300"/>
          </a:p>
        </p:txBody>
      </p:sp>
      <p:sp>
        <p:nvSpPr>
          <p:cNvPr id="30" name="Text 28">
            <a:extLst xmlns:a="http://schemas.openxmlformats.org/drawingml/2006/main">
              <a:ext uri="{FF2B5EF4-FFF2-40B4-BE49-F238E27FC236}">
                <a16:creationId xmlns:a16="http://schemas.microsoft.com/office/drawing/2014/main" id="{EFD0E90D-B8E8-464B-B174-298F36BBC0BA}"/>
              </a:ext>
            </a:extLst>
          </p:cNvPr>
          <p:cNvSpPr>
            <a:spLocks xmlns:a="http://schemas.openxmlformats.org/drawingml/2006/main" noGrp="1"/>
          </p:cNvSpPr>
          <p:nvPr/>
        </p:nvSpPr>
        <p:spPr>
          <a:xfrm xmlns:a="http://schemas.openxmlformats.org/drawingml/2006/main">
            <a:off x="3474720" y="6382512"/>
            <a:ext cx="7498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accent4"/>
                </a:solidFill>
              </a:rPr>
              <a:t>[1] Semantic search (Nov 2025) · [2] Dynamic context discovery (Jan 2026) · [3] Agent harness (Apr 2026)</a:t>
            </a:r>
            <a:endParaRPr sz="1000"/>
          </a:p>
        </p:txBody>
      </p:sp>
      <p:sp>
        <p:nvSpPr>
          <p:cNvPr id="31" name="Slide Number Placeholder 0">
            <a:extLst xmlns:a="http://schemas.openxmlformats.org/drawingml/2006/main">
              <a:ext uri="{FF2B5EF4-FFF2-40B4-BE49-F238E27FC236}">
                <a16:creationId xmlns:a16="http://schemas.microsoft.com/office/drawing/2014/main" id="{4F670639-4DD4-4972-A1EE-710A4C35E5C1}"/>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3</a:t>
            </a:fld>
            <a:endParaRPr/>
          </a:p>
        </p:txBody>
      </p:sp>
    </p:spTree>
    <p:extLst>
      <p:ext uri="{BB962C8B-B14F-4D97-AF65-F5344CB8AC3E}">
        <p14:creationId xmlns:p14="http://schemas.microsoft.com/office/powerpoint/2010/main" val="99055620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7DA1DD7-CD36-430B-92D6-324B0A83534D}"/>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POLICY · MICHAEL</a:t>
            </a:r>
            <a:endParaRPr sz="1200"/>
          </a:p>
        </p:txBody>
      </p:sp>
      <p:sp>
        <p:nvSpPr>
          <p:cNvPr id="3" name="Text 0">
            <a:extLst xmlns:a="http://schemas.openxmlformats.org/drawingml/2006/main">
              <a:ext uri="{FF2B5EF4-FFF2-40B4-BE49-F238E27FC236}">
                <a16:creationId xmlns:a16="http://schemas.microsoft.com/office/drawing/2014/main" id="{2CFD7215-1900-4A0F-A39D-8D05AF2A4970}"/>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Policy: latent, but trained and fenced</a:t>
            </a:r>
            <a:endParaRPr sz="3200"/>
          </a:p>
        </p:txBody>
      </p:sp>
      <p:sp>
        <p:nvSpPr>
          <p:cNvPr id="4" name="Policy row Tab">
            <a:extLst xmlns:a="http://schemas.openxmlformats.org/drawingml/2006/main">
              <a:ext uri="{FF2B5EF4-FFF2-40B4-BE49-F238E27FC236}">
                <a16:creationId xmlns:a16="http://schemas.microsoft.com/office/drawing/2014/main" id="{CD20BE15-E485-4DED-A5ED-7F3684EEB867}"/>
              </a:ext>
            </a:extLst>
          </p:cNvPr>
          <p:cNvSpPr>
            <a:spLocks xmlns:a="http://schemas.openxmlformats.org/drawingml/2006/main" noGrp="1"/>
          </p:cNvSpPr>
          <p:nvPr/>
        </p:nvSpPr>
        <p:spPr>
          <a:xfrm xmlns:a="http://schemas.openxmlformats.org/drawingml/2006/main">
            <a:off x="640080" y="1783080"/>
            <a:ext cx="10911535" cy="1115568"/>
          </a:xfrm>
          <a:prstGeom xmlns:a="http://schemas.openxmlformats.org/drawingml/2006/main" prst="roundRect">
            <a:avLst>
              <a:gd name="adj" fmla="val 9836"/>
            </a:avLst>
          </a:prstGeom>
          <a:solidFill xmlns:a="http://schemas.openxmlformats.org/drawingml/2006/main">
            <a:schemeClr val="bg1"/>
          </a:solidFill>
          <a:ln xmlns:a="http://schemas.openxmlformats.org/drawingml/2006/main" w="9525">
            <a:solidFill>
              <a:schemeClr val="accent5"/>
            </a:solidFill>
            <a:prstDash val="solid"/>
          </a:ln>
        </p:spPr>
      </p:sp>
      <p:sp>
        <p:nvSpPr>
          <p:cNvPr id="5" name="Text 3">
            <a:extLst xmlns:a="http://schemas.openxmlformats.org/drawingml/2006/main">
              <a:ext uri="{FF2B5EF4-FFF2-40B4-BE49-F238E27FC236}">
                <a16:creationId xmlns:a16="http://schemas.microsoft.com/office/drawing/2014/main" id="{A79B5F67-67E9-4157-8972-F7751349131E}"/>
              </a:ext>
            </a:extLst>
          </p:cNvPr>
          <p:cNvSpPr>
            <a:spLocks xmlns:a="http://schemas.openxmlformats.org/drawingml/2006/main" noGrp="1"/>
          </p:cNvSpPr>
          <p:nvPr/>
        </p:nvSpPr>
        <p:spPr>
          <a:xfrm xmlns:a="http://schemas.openxmlformats.org/drawingml/2006/main">
            <a:off x="914400" y="2011680"/>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chemeClr val="tx1"/>
                </a:solidFill>
              </a:rPr>
              <a:t>Tab</a:t>
            </a:r>
            <a:endParaRPr sz="2200"/>
          </a:p>
        </p:txBody>
      </p:sp>
      <p:sp>
        <p:nvSpPr>
          <p:cNvPr id="6" name="Text 4">
            <a:extLst xmlns:a="http://schemas.openxmlformats.org/drawingml/2006/main">
              <a:ext uri="{FF2B5EF4-FFF2-40B4-BE49-F238E27FC236}">
                <a16:creationId xmlns:a16="http://schemas.microsoft.com/office/drawing/2014/main" id="{CDCC147F-C728-4923-9BDC-8DDF73532040}"/>
              </a:ext>
            </a:extLst>
          </p:cNvPr>
          <p:cNvSpPr>
            <a:spLocks xmlns:a="http://schemas.openxmlformats.org/drawingml/2006/main" noGrp="1"/>
          </p:cNvSpPr>
          <p:nvPr/>
        </p:nvSpPr>
        <p:spPr>
          <a:xfrm xmlns:a="http://schemas.openxmlformats.org/drawingml/2006/main">
            <a:off x="914400" y="2441448"/>
            <a:ext cx="2103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2"/>
                </a:solidFill>
              </a:rPr>
              <a:t>Hand-written reward</a:t>
            </a:r>
            <a:endParaRPr sz="1200"/>
          </a:p>
        </p:txBody>
      </p:sp>
      <p:sp>
        <p:nvSpPr>
          <p:cNvPr id="7" name="Text 5">
            <a:extLst xmlns:a="http://schemas.openxmlformats.org/drawingml/2006/main">
              <a:ext uri="{FF2B5EF4-FFF2-40B4-BE49-F238E27FC236}">
                <a16:creationId xmlns:a16="http://schemas.microsoft.com/office/drawing/2014/main" id="{617DBD86-3D81-4123-AA5C-8A41463F7794}"/>
              </a:ext>
            </a:extLst>
          </p:cNvPr>
          <p:cNvSpPr>
            <a:spLocks xmlns:a="http://schemas.openxmlformats.org/drawingml/2006/main" noGrp="1"/>
          </p:cNvSpPr>
          <p:nvPr/>
        </p:nvSpPr>
        <p:spPr>
          <a:xfrm xmlns:a="http://schemas.openxmlformats.org/drawingml/2006/main">
            <a:off x="3154680" y="1965960"/>
            <a:ext cx="52578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a:solidFill>
                  <a:schemeClr val="tx2"/>
                </a:solidFill>
              </a:rPr>
              <a:t>Two actions, suggest or stay silent: +0.75 accept, −0.25 reject, 0 silence. L3’s r(s,a) written down.</a:t>
            </a:r>
            <a:endParaRPr sz="1500"/>
          </a:p>
        </p:txBody>
      </p:sp>
      <p:sp>
        <p:nvSpPr>
          <p:cNvPr id="8" name="Text 6">
            <a:extLst xmlns:a="http://schemas.openxmlformats.org/drawingml/2006/main">
              <a:ext uri="{FF2B5EF4-FFF2-40B4-BE49-F238E27FC236}">
                <a16:creationId xmlns:a16="http://schemas.microsoft.com/office/drawing/2014/main" id="{FF131B44-FFA0-4B2F-B37E-DB8EE8FE6886}"/>
              </a:ext>
            </a:extLst>
          </p:cNvPr>
          <p:cNvSpPr>
            <a:spLocks xmlns:a="http://schemas.openxmlformats.org/drawingml/2006/main" noGrp="1"/>
          </p:cNvSpPr>
          <p:nvPr/>
        </p:nvSpPr>
        <p:spPr>
          <a:xfrm xmlns:a="http://schemas.openxmlformats.org/drawingml/2006/main">
            <a:off x="8732520" y="1947672"/>
            <a:ext cx="2743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3000" b="1">
                <a:solidFill>
                  <a:schemeClr val="tx1"/>
                </a:solidFill>
              </a:rPr>
              <a:t>28% ↑</a:t>
            </a:r>
            <a:endParaRPr sz="3000"/>
          </a:p>
        </p:txBody>
      </p:sp>
      <p:sp>
        <p:nvSpPr>
          <p:cNvPr id="9" name="Text 7">
            <a:extLst xmlns:a="http://schemas.openxmlformats.org/drawingml/2006/main">
              <a:ext uri="{FF2B5EF4-FFF2-40B4-BE49-F238E27FC236}">
                <a16:creationId xmlns:a16="http://schemas.microsoft.com/office/drawing/2014/main" id="{7CEBF436-3055-4070-9834-7FAAF1EAC08C}"/>
              </a:ext>
            </a:extLst>
          </p:cNvPr>
          <p:cNvSpPr>
            <a:spLocks xmlns:a="http://schemas.openxmlformats.org/drawingml/2006/main" noGrp="1"/>
          </p:cNvSpPr>
          <p:nvPr/>
        </p:nvSpPr>
        <p:spPr>
          <a:xfrm xmlns:a="http://schemas.openxmlformats.org/drawingml/2006/main">
            <a:off x="8732520" y="2478024"/>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accent4"/>
                </a:solidFill>
              </a:rPr>
              <a:t>accept rate; 21% fewer suggestions shown</a:t>
            </a:r>
            <a:endParaRPr sz="1100"/>
          </a:p>
        </p:txBody>
      </p:sp>
      <p:sp>
        <p:nvSpPr>
          <p:cNvPr id="10" name="Policy row Composer">
            <a:extLst xmlns:a="http://schemas.openxmlformats.org/drawingml/2006/main">
              <a:ext uri="{FF2B5EF4-FFF2-40B4-BE49-F238E27FC236}">
                <a16:creationId xmlns:a16="http://schemas.microsoft.com/office/drawing/2014/main" id="{094A3A91-3A64-42D7-A35E-7E2919E09695}"/>
              </a:ext>
            </a:extLst>
          </p:cNvPr>
          <p:cNvSpPr>
            <a:spLocks xmlns:a="http://schemas.openxmlformats.org/drawingml/2006/main" noGrp="1"/>
          </p:cNvSpPr>
          <p:nvPr/>
        </p:nvSpPr>
        <p:spPr>
          <a:xfrm xmlns:a="http://schemas.openxmlformats.org/drawingml/2006/main">
            <a:off x="640080" y="3063240"/>
            <a:ext cx="10911535" cy="1115568"/>
          </a:xfrm>
          <a:prstGeom xmlns:a="http://schemas.openxmlformats.org/drawingml/2006/main" prst="roundRect">
            <a:avLst>
              <a:gd name="adj" fmla="val 9836"/>
            </a:avLst>
          </a:prstGeom>
          <a:solidFill xmlns:a="http://schemas.openxmlformats.org/drawingml/2006/main">
            <a:schemeClr val="bg1"/>
          </a:solidFill>
          <a:ln xmlns:a="http://schemas.openxmlformats.org/drawingml/2006/main" w="9525">
            <a:solidFill>
              <a:schemeClr val="accent5"/>
            </a:solidFill>
            <a:prstDash val="solid"/>
          </a:ln>
        </p:spPr>
      </p:sp>
      <p:sp>
        <p:nvSpPr>
          <p:cNvPr id="11" name="Text 9">
            <a:extLst xmlns:a="http://schemas.openxmlformats.org/drawingml/2006/main">
              <a:ext uri="{FF2B5EF4-FFF2-40B4-BE49-F238E27FC236}">
                <a16:creationId xmlns:a16="http://schemas.microsoft.com/office/drawing/2014/main" id="{5A9BB4F6-270E-4561-A0F1-1CBE3EFE4B24}"/>
              </a:ext>
            </a:extLst>
          </p:cNvPr>
          <p:cNvSpPr>
            <a:spLocks xmlns:a="http://schemas.openxmlformats.org/drawingml/2006/main" noGrp="1"/>
          </p:cNvSpPr>
          <p:nvPr/>
        </p:nvSpPr>
        <p:spPr>
          <a:xfrm xmlns:a="http://schemas.openxmlformats.org/drawingml/2006/main">
            <a:off x="914400" y="3291840"/>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chemeClr val="tx1"/>
                </a:solidFill>
              </a:rPr>
              <a:t>Composer</a:t>
            </a:r>
            <a:endParaRPr sz="2200"/>
          </a:p>
        </p:txBody>
      </p:sp>
      <p:sp>
        <p:nvSpPr>
          <p:cNvPr id="12" name="Text 10">
            <a:extLst xmlns:a="http://schemas.openxmlformats.org/drawingml/2006/main">
              <a:ext uri="{FF2B5EF4-FFF2-40B4-BE49-F238E27FC236}">
                <a16:creationId xmlns:a16="http://schemas.microsoft.com/office/drawing/2014/main" id="{9CAC1BE7-2364-4C0A-9C12-C7E039E7D361}"/>
              </a:ext>
            </a:extLst>
          </p:cNvPr>
          <p:cNvSpPr>
            <a:spLocks xmlns:a="http://schemas.openxmlformats.org/drawingml/2006/main" noGrp="1"/>
          </p:cNvSpPr>
          <p:nvPr/>
        </p:nvSpPr>
        <p:spPr>
          <a:xfrm xmlns:a="http://schemas.openxmlformats.org/drawingml/2006/main">
            <a:off x="914400" y="3721608"/>
            <a:ext cx="2103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2"/>
                </a:solidFill>
              </a:rPr>
              <a:t>RL in Cursor’s harness</a:t>
            </a:r>
            <a:endParaRPr sz="1200"/>
          </a:p>
        </p:txBody>
      </p:sp>
      <p:sp>
        <p:nvSpPr>
          <p:cNvPr id="13" name="Text 11">
            <a:extLst xmlns:a="http://schemas.openxmlformats.org/drawingml/2006/main">
              <a:ext uri="{FF2B5EF4-FFF2-40B4-BE49-F238E27FC236}">
                <a16:creationId xmlns:a16="http://schemas.microsoft.com/office/drawing/2014/main" id="{940DC22E-2680-41F3-9D1B-708C9F001A8B}"/>
              </a:ext>
            </a:extLst>
          </p:cNvPr>
          <p:cNvSpPr>
            <a:spLocks xmlns:a="http://schemas.openxmlformats.org/drawingml/2006/main" noGrp="1"/>
          </p:cNvSpPr>
          <p:nvPr/>
        </p:nvSpPr>
        <p:spPr>
          <a:xfrm xmlns:a="http://schemas.openxmlformats.org/drawingml/2006/main">
            <a:off x="3154680" y="3246120"/>
            <a:ext cx="52578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a:solidFill>
                  <a:schemeClr val="tx2"/>
                </a:solidFill>
              </a:rPr>
              <a:t>Trained on the product’s own tools in sandboxes. Composer 2 also learns to write its own summaries.</a:t>
            </a:r>
            <a:endParaRPr sz="1500"/>
          </a:p>
        </p:txBody>
      </p:sp>
      <p:sp>
        <p:nvSpPr>
          <p:cNvPr id="14" name="Text 12">
            <a:extLst xmlns:a="http://schemas.openxmlformats.org/drawingml/2006/main">
              <a:ext uri="{FF2B5EF4-FFF2-40B4-BE49-F238E27FC236}">
                <a16:creationId xmlns:a16="http://schemas.microsoft.com/office/drawing/2014/main" id="{0E6DFCD5-9189-4562-9D8E-CBB5D301AE97}"/>
              </a:ext>
            </a:extLst>
          </p:cNvPr>
          <p:cNvSpPr>
            <a:spLocks xmlns:a="http://schemas.openxmlformats.org/drawingml/2006/main" noGrp="1"/>
          </p:cNvSpPr>
          <p:nvPr/>
        </p:nvSpPr>
        <p:spPr>
          <a:xfrm xmlns:a="http://schemas.openxmlformats.org/drawingml/2006/main">
            <a:off x="8732520" y="3227832"/>
            <a:ext cx="2743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3000" b="1">
                <a:solidFill>
                  <a:schemeClr val="tx1"/>
                </a:solidFill>
              </a:rPr>
              <a:t>50% ↓</a:t>
            </a:r>
            <a:endParaRPr sz="3000"/>
          </a:p>
        </p:txBody>
      </p:sp>
      <p:sp>
        <p:nvSpPr>
          <p:cNvPr id="15" name="Text 13">
            <a:extLst xmlns:a="http://schemas.openxmlformats.org/drawingml/2006/main">
              <a:ext uri="{FF2B5EF4-FFF2-40B4-BE49-F238E27FC236}">
                <a16:creationId xmlns:a16="http://schemas.microsoft.com/office/drawing/2014/main" id="{6F8EF6F0-23B1-4063-8F0A-7C44BA455011}"/>
              </a:ext>
            </a:extLst>
          </p:cNvPr>
          <p:cNvSpPr>
            <a:spLocks xmlns:a="http://schemas.openxmlformats.org/drawingml/2006/main" noGrp="1"/>
          </p:cNvSpPr>
          <p:nvPr/>
        </p:nvSpPr>
        <p:spPr>
          <a:xfrm xmlns:a="http://schemas.openxmlformats.org/drawingml/2006/main">
            <a:off x="8732520" y="3758184"/>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accent4"/>
                </a:solidFill>
              </a:rPr>
              <a:t>compaction error, at one fifth the tokens</a:t>
            </a:r>
            <a:endParaRPr sz="1100"/>
          </a:p>
        </p:txBody>
      </p:sp>
      <p:sp>
        <p:nvSpPr>
          <p:cNvPr id="16" name="Policy row Controls">
            <a:extLst xmlns:a="http://schemas.openxmlformats.org/drawingml/2006/main">
              <a:ext uri="{FF2B5EF4-FFF2-40B4-BE49-F238E27FC236}">
                <a16:creationId xmlns:a16="http://schemas.microsoft.com/office/drawing/2014/main" id="{E48CC66C-9B37-402D-8105-C56B53741750}"/>
              </a:ext>
            </a:extLst>
          </p:cNvPr>
          <p:cNvSpPr>
            <a:spLocks xmlns:a="http://schemas.openxmlformats.org/drawingml/2006/main" noGrp="1"/>
          </p:cNvSpPr>
          <p:nvPr/>
        </p:nvSpPr>
        <p:spPr>
          <a:xfrm xmlns:a="http://schemas.openxmlformats.org/drawingml/2006/main">
            <a:off x="640080" y="4343400"/>
            <a:ext cx="10911535" cy="1115568"/>
          </a:xfrm>
          <a:prstGeom xmlns:a="http://schemas.openxmlformats.org/drawingml/2006/main" prst="roundRect">
            <a:avLst>
              <a:gd name="adj" fmla="val 9836"/>
            </a:avLst>
          </a:prstGeom>
          <a:solidFill xmlns:a="http://schemas.openxmlformats.org/drawingml/2006/main">
            <a:schemeClr val="bg1"/>
          </a:solidFill>
          <a:ln xmlns:a="http://schemas.openxmlformats.org/drawingml/2006/main" w="9525">
            <a:solidFill>
              <a:schemeClr val="accent5"/>
            </a:solidFill>
            <a:prstDash val="solid"/>
          </a:ln>
        </p:spPr>
      </p:sp>
      <p:sp>
        <p:nvSpPr>
          <p:cNvPr id="17" name="Text 15">
            <a:extLst xmlns:a="http://schemas.openxmlformats.org/drawingml/2006/main">
              <a:ext uri="{FF2B5EF4-FFF2-40B4-BE49-F238E27FC236}">
                <a16:creationId xmlns:a16="http://schemas.microsoft.com/office/drawing/2014/main" id="{55467467-22DF-4F46-8001-2BC3DA7D2947}"/>
              </a:ext>
            </a:extLst>
          </p:cNvPr>
          <p:cNvSpPr>
            <a:spLocks xmlns:a="http://schemas.openxmlformats.org/drawingml/2006/main" noGrp="1"/>
          </p:cNvSpPr>
          <p:nvPr/>
        </p:nvSpPr>
        <p:spPr>
          <a:xfrm xmlns:a="http://schemas.openxmlformats.org/drawingml/2006/main">
            <a:off x="914400" y="4572000"/>
            <a:ext cx="210312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200" b="1">
                <a:solidFill>
                  <a:schemeClr val="tx1"/>
                </a:solidFill>
              </a:rPr>
              <a:t>Controls</a:t>
            </a:r>
            <a:endParaRPr sz="2200"/>
          </a:p>
        </p:txBody>
      </p:sp>
      <p:sp>
        <p:nvSpPr>
          <p:cNvPr id="18" name="Text 16">
            <a:extLst xmlns:a="http://schemas.openxmlformats.org/drawingml/2006/main">
              <a:ext uri="{FF2B5EF4-FFF2-40B4-BE49-F238E27FC236}">
                <a16:creationId xmlns:a16="http://schemas.microsoft.com/office/drawing/2014/main" id="{8452FFEF-1A79-441B-AE55-48934C1A6729}"/>
              </a:ext>
            </a:extLst>
          </p:cNvPr>
          <p:cNvSpPr>
            <a:spLocks xmlns:a="http://schemas.openxmlformats.org/drawingml/2006/main" noGrp="1"/>
          </p:cNvSpPr>
          <p:nvPr/>
        </p:nvSpPr>
        <p:spPr>
          <a:xfrm xmlns:a="http://schemas.openxmlformats.org/drawingml/2006/main">
            <a:off x="914400" y="5001768"/>
            <a:ext cx="2103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chemeClr val="accent2"/>
                </a:solidFill>
              </a:rPr>
              <a:t>Fences on rented models</a:t>
            </a:r>
            <a:endParaRPr sz="1200"/>
          </a:p>
        </p:txBody>
      </p:sp>
      <p:sp>
        <p:nvSpPr>
          <p:cNvPr id="19" name="Text 17">
            <a:extLst xmlns:a="http://schemas.openxmlformats.org/drawingml/2006/main">
              <a:ext uri="{FF2B5EF4-FFF2-40B4-BE49-F238E27FC236}">
                <a16:creationId xmlns:a16="http://schemas.microsoft.com/office/drawing/2014/main" id="{B93228AC-6826-4A9A-8552-A40EA79363D9}"/>
              </a:ext>
            </a:extLst>
          </p:cNvPr>
          <p:cNvSpPr>
            <a:spLocks xmlns:a="http://schemas.openxmlformats.org/drawingml/2006/main" noGrp="1"/>
          </p:cNvSpPr>
          <p:nvPr/>
        </p:nvSpPr>
        <p:spPr>
          <a:xfrm xmlns:a="http://schemas.openxmlformats.org/drawingml/2006/main">
            <a:off x="3154680" y="4526280"/>
            <a:ext cx="52578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a:solidFill>
                  <a:schemeClr val="tx2"/>
                </a:solidFill>
              </a:rPr>
              <a:t>Plan mode: ask and plan before acting. Router: a learned classifier picks the model per request.</a:t>
            </a:r>
            <a:endParaRPr sz="1500"/>
          </a:p>
        </p:txBody>
      </p:sp>
      <p:sp>
        <p:nvSpPr>
          <p:cNvPr id="20" name="Text 18">
            <a:extLst xmlns:a="http://schemas.openxmlformats.org/drawingml/2006/main">
              <a:ext uri="{FF2B5EF4-FFF2-40B4-BE49-F238E27FC236}">
                <a16:creationId xmlns:a16="http://schemas.microsoft.com/office/drawing/2014/main" id="{3DA7A859-48BD-4242-8A87-6EF02420934D}"/>
              </a:ext>
            </a:extLst>
          </p:cNvPr>
          <p:cNvSpPr>
            <a:spLocks xmlns:a="http://schemas.openxmlformats.org/drawingml/2006/main" noGrp="1"/>
          </p:cNvSpPr>
          <p:nvPr/>
        </p:nvSpPr>
        <p:spPr>
          <a:xfrm xmlns:a="http://schemas.openxmlformats.org/drawingml/2006/main">
            <a:off x="8732520" y="4507992"/>
            <a:ext cx="2743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3000" b="1">
                <a:solidFill>
                  <a:schemeClr val="tx1"/>
                </a:solidFill>
              </a:rPr>
              <a:t>~60% ↓</a:t>
            </a:r>
            <a:endParaRPr sz="3000"/>
          </a:p>
        </p:txBody>
      </p:sp>
      <p:sp>
        <p:nvSpPr>
          <p:cNvPr id="21" name="Text 19">
            <a:extLst xmlns:a="http://schemas.openxmlformats.org/drawingml/2006/main">
              <a:ext uri="{FF2B5EF4-FFF2-40B4-BE49-F238E27FC236}">
                <a16:creationId xmlns:a16="http://schemas.microsoft.com/office/drawing/2014/main" id="{28C07CBC-3F32-4FA2-8B32-D50F2CD7DD25}"/>
              </a:ext>
            </a:extLst>
          </p:cNvPr>
          <p:cNvSpPr>
            <a:spLocks xmlns:a="http://schemas.openxmlformats.org/drawingml/2006/main" noGrp="1"/>
          </p:cNvSpPr>
          <p:nvPr/>
        </p:nvSpPr>
        <p:spPr>
          <a:xfrm xmlns:a="http://schemas.openxmlformats.org/drawingml/2006/main">
            <a:off x="8732520" y="5038344"/>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a:solidFill>
                  <a:schemeClr val="accent4"/>
                </a:solidFill>
              </a:rPr>
              <a:t>cost at frontier quality (Router A/B)</a:t>
            </a:r>
            <a:endParaRPr sz="1100"/>
          </a:p>
        </p:txBody>
      </p:sp>
      <p:sp>
        <p:nvSpPr>
          <p:cNvPr id="22" name="Text 20">
            <a:extLst xmlns:a="http://schemas.openxmlformats.org/drawingml/2006/main">
              <a:ext uri="{FF2B5EF4-FFF2-40B4-BE49-F238E27FC236}">
                <a16:creationId xmlns:a16="http://schemas.microsoft.com/office/drawing/2014/main" id="{7649C9E8-EA09-45B5-86FF-316E11A1418B}"/>
              </a:ext>
            </a:extLst>
          </p:cNvPr>
          <p:cNvSpPr>
            <a:spLocks xmlns:a="http://schemas.openxmlformats.org/drawingml/2006/main" noGrp="1"/>
          </p:cNvSpPr>
          <p:nvPr/>
        </p:nvSpPr>
        <p:spPr>
          <a:xfrm xmlns:a="http://schemas.openxmlformats.org/drawingml/2006/main">
            <a:off x="640080" y="5715000"/>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b="1">
                <a:solidFill>
                  <a:schemeClr val="tx1"/>
                </a:solidFill>
              </a:rPr>
              <a:t>The arc: </a:t>
            </a:r>
            <a:r>
              <a:rPr sz="1500">
                <a:solidFill>
                  <a:schemeClr val="tx2"/>
                </a:solidFill>
              </a:rPr>
              <a:t>hand-written reward (L3) → task reward in a sandbox → learned satisfaction proxy (L10)</a:t>
            </a:r>
            <a:endParaRPr sz="1500"/>
          </a:p>
        </p:txBody>
      </p:sp>
      <p:sp>
        <p:nvSpPr>
          <p:cNvPr id="23" name="Text 21">
            <a:extLst xmlns:a="http://schemas.openxmlformats.org/drawingml/2006/main">
              <a:ext uri="{FF2B5EF4-FFF2-40B4-BE49-F238E27FC236}">
                <a16:creationId xmlns:a16="http://schemas.microsoft.com/office/drawing/2014/main" id="{237F0F98-3110-4265-B5BE-72F495E74B9A}"/>
              </a:ext>
            </a:extLst>
          </p:cNvPr>
          <p:cNvSpPr>
            <a:spLocks xmlns:a="http://schemas.openxmlformats.org/drawingml/2006/main" noGrp="1"/>
          </p:cNvSpPr>
          <p:nvPr/>
        </p:nvSpPr>
        <p:spPr>
          <a:xfrm xmlns:a="http://schemas.openxmlformats.org/drawingml/2006/main">
            <a:off x="3474720" y="6382512"/>
            <a:ext cx="7498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accent4"/>
                </a:solidFill>
              </a:rPr>
              <a:t>Cursor blog: Tab RL (Sep 2025), Composer (Oct 2025), self-summarization (Mar 2026), Plan Mode (Oct 2025), Router (Jul 2026)</a:t>
            </a:r>
            <a:endParaRPr sz="1000"/>
          </a:p>
        </p:txBody>
      </p:sp>
      <p:sp>
        <p:nvSpPr>
          <p:cNvPr id="25" name="Slide Number Placeholder 0">
            <a:extLst xmlns:a="http://schemas.openxmlformats.org/drawingml/2006/main">
              <a:ext uri="{FF2B5EF4-FFF2-40B4-BE49-F238E27FC236}">
                <a16:creationId xmlns:a16="http://schemas.microsoft.com/office/drawing/2014/main" id="{4AE8B09B-4580-4CB2-9131-655072C33932}"/>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4</a:t>
            </a:fld>
            <a:endParaRPr/>
          </a:p>
        </p:txBody>
      </p:sp>
    </p:spTree>
    <p:extLst>
      <p:ext uri="{BB962C8B-B14F-4D97-AF65-F5344CB8AC3E}">
        <p14:creationId xmlns:p14="http://schemas.microsoft.com/office/powerpoint/2010/main" val="162824516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BA2B5997-6782-4925-9796-A97CFCEE35B6}"/>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EXHIBIT + INTERFACES · MICHAEL</a:t>
            </a:r>
            <a:endParaRPr sz="1200"/>
          </a:p>
        </p:txBody>
      </p:sp>
      <p:sp>
        <p:nvSpPr>
          <p:cNvPr id="3" name="Text 0">
            <a:extLst xmlns:a="http://schemas.openxmlformats.org/drawingml/2006/main">
              <a:ext uri="{FF2B5EF4-FFF2-40B4-BE49-F238E27FC236}">
                <a16:creationId xmlns:a16="http://schemas.microsoft.com/office/drawing/2014/main" id="{04F69E92-1701-403F-8123-47505D4ECF32}"/>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One real session, every turn labeled</a:t>
            </a:r>
            <a:endParaRPr sz="3200"/>
          </a:p>
        </p:txBody>
      </p:sp>
      <p:sp>
        <p:nvSpPr>
          <p:cNvPr id="4" name="Transcript placeholder">
            <a:extLst xmlns:a="http://schemas.openxmlformats.org/drawingml/2006/main">
              <a:ext uri="{FF2B5EF4-FFF2-40B4-BE49-F238E27FC236}">
                <a16:creationId xmlns:a16="http://schemas.microsoft.com/office/drawing/2014/main" id="{707681D4-4291-46DB-BD27-3D2CD33EC75B}"/>
              </a:ext>
            </a:extLst>
          </p:cNvPr>
          <p:cNvSpPr>
            <a:spLocks xmlns:a="http://schemas.openxmlformats.org/drawingml/2006/main" noGrp="1"/>
          </p:cNvSpPr>
          <p:nvPr/>
        </p:nvSpPr>
        <p:spPr>
          <a:xfrm xmlns:a="http://schemas.openxmlformats.org/drawingml/2006/main">
            <a:off x="640080" y="1783080"/>
            <a:ext cx="6903720" cy="3337560"/>
          </a:xfrm>
          <a:prstGeom xmlns:a="http://schemas.openxmlformats.org/drawingml/2006/main" prst="roundRect">
            <a:avLst>
              <a:gd name="adj" fmla="val 3288"/>
            </a:avLst>
          </a:prstGeom>
          <a:solidFill xmlns:a="http://schemas.openxmlformats.org/drawingml/2006/main">
            <a:schemeClr val="bg1"/>
          </a:solidFill>
          <a:ln xmlns:a="http://schemas.openxmlformats.org/drawingml/2006/main" w="19050">
            <a:solidFill>
              <a:srgbClr val="B9B2A5"/>
            </a:solidFill>
            <a:prstDash val="dash"/>
          </a:ln>
        </p:spPr>
      </p:sp>
      <p:sp>
        <p:nvSpPr>
          <p:cNvPr id="5" name="Text 3">
            <a:extLst xmlns:a="http://schemas.openxmlformats.org/drawingml/2006/main">
              <a:ext uri="{FF2B5EF4-FFF2-40B4-BE49-F238E27FC236}">
                <a16:creationId xmlns:a16="http://schemas.microsoft.com/office/drawing/2014/main" id="{AEFCC990-0F8D-4B49-8BF6-E181E5224DA7}"/>
              </a:ext>
            </a:extLst>
          </p:cNvPr>
          <p:cNvSpPr>
            <a:spLocks xmlns:a="http://schemas.openxmlformats.org/drawingml/2006/main" noGrp="1"/>
          </p:cNvSpPr>
          <p:nvPr/>
        </p:nvSpPr>
        <p:spPr>
          <a:xfrm xmlns:a="http://schemas.openxmlformats.org/drawingml/2006/main">
            <a:off x="1005840" y="2743200"/>
            <a:ext cx="617220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a:solidFill>
                  <a:schemeClr val="accent4"/>
                </a:solidFill>
              </a:rPr>
              <a:t>[Annotated transcript: 8 to 12 turns from one run, one tag per turn]</a:t>
            </a:r>
            <a:endParaRPr sz="1800"/>
          </a:p>
        </p:txBody>
      </p:sp>
      <p:sp>
        <p:nvSpPr>
          <p:cNvPr id="6" name="Text 4">
            <a:extLst xmlns:a="http://schemas.openxmlformats.org/drawingml/2006/main">
              <a:ext uri="{FF2B5EF4-FFF2-40B4-BE49-F238E27FC236}">
                <a16:creationId xmlns:a16="http://schemas.microsoft.com/office/drawing/2014/main" id="{0B80258A-FC61-4811-9C12-D06BF3BBD2C5}"/>
              </a:ext>
            </a:extLst>
          </p:cNvPr>
          <p:cNvSpPr>
            <a:spLocks xmlns:a="http://schemas.openxmlformats.org/drawingml/2006/main" noGrp="1"/>
          </p:cNvSpPr>
          <p:nvPr/>
        </p:nvSpPr>
        <p:spPr>
          <a:xfrm xmlns:a="http://schemas.openxmlformats.org/drawingml/2006/main">
            <a:off x="1005840" y="3520440"/>
            <a:ext cx="61722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ctr">
              <a:buNone/>
            </a:pPr>
            <a:r>
              <a:rPr sz="1300">
                <a:solidFill>
                  <a:schemeClr val="accent4"/>
                </a:solidFill>
              </a:rPr>
              <a:t>Callouts: the first search (U) · the first parallel tool batch (P) · the diff landing (G, I)</a:t>
            </a:r>
            <a:endParaRPr sz="1300"/>
          </a:p>
        </p:txBody>
      </p:sp>
      <p:sp>
        <p:nvSpPr>
          <p:cNvPr id="7" name="Tag U · understanding">
            <a:extLst xmlns:a="http://schemas.openxmlformats.org/drawingml/2006/main">
              <a:ext uri="{FF2B5EF4-FFF2-40B4-BE49-F238E27FC236}">
                <a16:creationId xmlns:a16="http://schemas.microsoft.com/office/drawing/2014/main" id="{F31D79F1-20DC-437D-ADF4-E12AE5D87E4E}"/>
              </a:ext>
            </a:extLst>
          </p:cNvPr>
          <p:cNvSpPr>
            <a:spLocks xmlns:a="http://schemas.openxmlformats.org/drawingml/2006/main" noGrp="1"/>
          </p:cNvSpPr>
          <p:nvPr/>
        </p:nvSpPr>
        <p:spPr>
          <a:xfrm xmlns:a="http://schemas.openxmlformats.org/drawingml/2006/main">
            <a:off x="640080" y="5303520"/>
            <a:ext cx="1600200" cy="384048"/>
          </a:xfrm>
          <a:prstGeom xmlns:a="http://schemas.openxmlformats.org/drawingml/2006/main" prst="roundRect">
            <a:avLst>
              <a:gd name="adj" fmla="val 19048"/>
            </a:avLst>
          </a:prstGeom>
          <a:solidFill xmlns:a="http://schemas.openxmlformats.org/drawingml/2006/main">
            <a:srgbClr val="DCE7F5"/>
          </a:solidFill>
          <a:ln xmlns:a="http://schemas.openxmlformats.org/drawingml/2006/main" w="12700">
            <a:solidFill>
              <a:srgbClr val="DCE7F5"/>
            </a:solidFill>
            <a:prstDash val="solid"/>
          </a:ln>
        </p:spPr>
      </p:sp>
      <p:sp>
        <p:nvSpPr>
          <p:cNvPr id="8" name="Text 6">
            <a:extLst xmlns:a="http://schemas.openxmlformats.org/drawingml/2006/main">
              <a:ext uri="{FF2B5EF4-FFF2-40B4-BE49-F238E27FC236}">
                <a16:creationId xmlns:a16="http://schemas.microsoft.com/office/drawing/2014/main" id="{DFEA3428-A090-4619-A027-EC7F9348CE3F}"/>
              </a:ext>
            </a:extLst>
          </p:cNvPr>
          <p:cNvSpPr>
            <a:spLocks xmlns:a="http://schemas.openxmlformats.org/drawingml/2006/main" noGrp="1"/>
          </p:cNvSpPr>
          <p:nvPr/>
        </p:nvSpPr>
        <p:spPr>
          <a:xfrm xmlns:a="http://schemas.openxmlformats.org/drawingml/2006/main">
            <a:off x="640080" y="5303520"/>
            <a:ext cx="160020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E4A80"/>
                </a:solidFill>
              </a:rPr>
              <a:t>U · understanding</a:t>
            </a:r>
            <a:endParaRPr sz="1200"/>
          </a:p>
        </p:txBody>
      </p:sp>
      <p:sp>
        <p:nvSpPr>
          <p:cNvPr id="9" name="Tag S · state">
            <a:extLst xmlns:a="http://schemas.openxmlformats.org/drawingml/2006/main">
              <a:ext uri="{FF2B5EF4-FFF2-40B4-BE49-F238E27FC236}">
                <a16:creationId xmlns:a16="http://schemas.microsoft.com/office/drawing/2014/main" id="{CD774FDC-299C-4A88-A8E8-55380133309A}"/>
              </a:ext>
            </a:extLst>
          </p:cNvPr>
          <p:cNvSpPr>
            <a:spLocks xmlns:a="http://schemas.openxmlformats.org/drawingml/2006/main" noGrp="1"/>
          </p:cNvSpPr>
          <p:nvPr/>
        </p:nvSpPr>
        <p:spPr>
          <a:xfrm xmlns:a="http://schemas.openxmlformats.org/drawingml/2006/main">
            <a:off x="2377440" y="5303520"/>
            <a:ext cx="960120" cy="384048"/>
          </a:xfrm>
          <a:prstGeom xmlns:a="http://schemas.openxmlformats.org/drawingml/2006/main" prst="roundRect">
            <a:avLst>
              <a:gd name="adj" fmla="val 19048"/>
            </a:avLst>
          </a:prstGeom>
          <a:solidFill xmlns:a="http://schemas.openxmlformats.org/drawingml/2006/main">
            <a:srgbClr val="E3EEDF"/>
          </a:solidFill>
          <a:ln xmlns:a="http://schemas.openxmlformats.org/drawingml/2006/main" w="12700">
            <a:solidFill>
              <a:srgbClr val="E3EEDF"/>
            </a:solidFill>
            <a:prstDash val="solid"/>
          </a:ln>
        </p:spPr>
      </p:sp>
      <p:sp>
        <p:nvSpPr>
          <p:cNvPr id="10" name="Text 8">
            <a:extLst xmlns:a="http://schemas.openxmlformats.org/drawingml/2006/main">
              <a:ext uri="{FF2B5EF4-FFF2-40B4-BE49-F238E27FC236}">
                <a16:creationId xmlns:a16="http://schemas.microsoft.com/office/drawing/2014/main" id="{955F4AE6-D09D-4CE9-985B-44D7A40DD69A}"/>
              </a:ext>
            </a:extLst>
          </p:cNvPr>
          <p:cNvSpPr>
            <a:spLocks xmlns:a="http://schemas.openxmlformats.org/drawingml/2006/main" noGrp="1"/>
          </p:cNvSpPr>
          <p:nvPr/>
        </p:nvSpPr>
        <p:spPr>
          <a:xfrm xmlns:a="http://schemas.openxmlformats.org/drawingml/2006/main">
            <a:off x="2377440" y="5303520"/>
            <a:ext cx="96012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2F5A23"/>
                </a:solidFill>
              </a:rPr>
              <a:t>S · state</a:t>
            </a:r>
            <a:endParaRPr sz="1200"/>
          </a:p>
        </p:txBody>
      </p:sp>
      <p:sp>
        <p:nvSpPr>
          <p:cNvPr id="11" name="Tag P · policy">
            <a:extLst xmlns:a="http://schemas.openxmlformats.org/drawingml/2006/main">
              <a:ext uri="{FF2B5EF4-FFF2-40B4-BE49-F238E27FC236}">
                <a16:creationId xmlns:a16="http://schemas.microsoft.com/office/drawing/2014/main" id="{92895593-DD03-4EC8-AD80-D7CBE5C8402B}"/>
              </a:ext>
            </a:extLst>
          </p:cNvPr>
          <p:cNvSpPr>
            <a:spLocks xmlns:a="http://schemas.openxmlformats.org/drawingml/2006/main" noGrp="1"/>
          </p:cNvSpPr>
          <p:nvPr/>
        </p:nvSpPr>
        <p:spPr>
          <a:xfrm xmlns:a="http://schemas.openxmlformats.org/drawingml/2006/main">
            <a:off x="3474720" y="5303520"/>
            <a:ext cx="1051560" cy="384048"/>
          </a:xfrm>
          <a:prstGeom xmlns:a="http://schemas.openxmlformats.org/drawingml/2006/main" prst="roundRect">
            <a:avLst>
              <a:gd name="adj" fmla="val 19048"/>
            </a:avLst>
          </a:prstGeom>
          <a:solidFill xmlns:a="http://schemas.openxmlformats.org/drawingml/2006/main">
            <a:srgbClr val="F6DFCB"/>
          </a:solidFill>
          <a:ln xmlns:a="http://schemas.openxmlformats.org/drawingml/2006/main" w="12700">
            <a:solidFill>
              <a:srgbClr val="F6DFCB"/>
            </a:solidFill>
            <a:prstDash val="solid"/>
          </a:ln>
        </p:spPr>
      </p:sp>
      <p:sp>
        <p:nvSpPr>
          <p:cNvPr id="12" name="Text 10">
            <a:extLst xmlns:a="http://schemas.openxmlformats.org/drawingml/2006/main">
              <a:ext uri="{FF2B5EF4-FFF2-40B4-BE49-F238E27FC236}">
                <a16:creationId xmlns:a16="http://schemas.microsoft.com/office/drawing/2014/main" id="{F0A46357-F43E-4D50-AC56-6749BD8597E1}"/>
              </a:ext>
            </a:extLst>
          </p:cNvPr>
          <p:cNvSpPr>
            <a:spLocks xmlns:a="http://schemas.openxmlformats.org/drawingml/2006/main" noGrp="1"/>
          </p:cNvSpPr>
          <p:nvPr/>
        </p:nvSpPr>
        <p:spPr>
          <a:xfrm xmlns:a="http://schemas.openxmlformats.org/drawingml/2006/main">
            <a:off x="3474720" y="5303520"/>
            <a:ext cx="10515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8A3D0C"/>
                </a:solidFill>
              </a:rPr>
              <a:t>P · policy</a:t>
            </a:r>
            <a:endParaRPr sz="1200"/>
          </a:p>
        </p:txBody>
      </p:sp>
      <p:sp>
        <p:nvSpPr>
          <p:cNvPr id="13" name="Tag G · generation">
            <a:extLst xmlns:a="http://schemas.openxmlformats.org/drawingml/2006/main">
              <a:ext uri="{FF2B5EF4-FFF2-40B4-BE49-F238E27FC236}">
                <a16:creationId xmlns:a16="http://schemas.microsoft.com/office/drawing/2014/main" id="{F3B8DAFF-A0F2-44D3-92D7-603FB326DBEE}"/>
              </a:ext>
            </a:extLst>
          </p:cNvPr>
          <p:cNvSpPr>
            <a:spLocks xmlns:a="http://schemas.openxmlformats.org/drawingml/2006/main" noGrp="1"/>
          </p:cNvSpPr>
          <p:nvPr/>
        </p:nvSpPr>
        <p:spPr>
          <a:xfrm xmlns:a="http://schemas.openxmlformats.org/drawingml/2006/main">
            <a:off x="4663440" y="5303520"/>
            <a:ext cx="1463040" cy="384048"/>
          </a:xfrm>
          <a:prstGeom xmlns:a="http://schemas.openxmlformats.org/drawingml/2006/main" prst="roundRect">
            <a:avLst>
              <a:gd name="adj" fmla="val 19048"/>
            </a:avLst>
          </a:prstGeom>
          <a:solidFill xmlns:a="http://schemas.openxmlformats.org/drawingml/2006/main">
            <a:srgbClr val="E7E3F3"/>
          </a:solidFill>
          <a:ln xmlns:a="http://schemas.openxmlformats.org/drawingml/2006/main" w="12700">
            <a:solidFill>
              <a:srgbClr val="E7E3F3"/>
            </a:solidFill>
            <a:prstDash val="solid"/>
          </a:ln>
        </p:spPr>
      </p:sp>
      <p:sp>
        <p:nvSpPr>
          <p:cNvPr id="14" name="Text 12">
            <a:extLst xmlns:a="http://schemas.openxmlformats.org/drawingml/2006/main">
              <a:ext uri="{FF2B5EF4-FFF2-40B4-BE49-F238E27FC236}">
                <a16:creationId xmlns:a16="http://schemas.microsoft.com/office/drawing/2014/main" id="{F60F294A-700F-4455-9713-ACF7B4C3B4A0}"/>
              </a:ext>
            </a:extLst>
          </p:cNvPr>
          <p:cNvSpPr>
            <a:spLocks xmlns:a="http://schemas.openxmlformats.org/drawingml/2006/main" noGrp="1"/>
          </p:cNvSpPr>
          <p:nvPr/>
        </p:nvSpPr>
        <p:spPr>
          <a:xfrm xmlns:a="http://schemas.openxmlformats.org/drawingml/2006/main">
            <a:off x="4663440" y="5303520"/>
            <a:ext cx="14630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4A3B85"/>
                </a:solidFill>
              </a:rPr>
              <a:t>G · generation</a:t>
            </a:r>
            <a:endParaRPr sz="1200"/>
          </a:p>
        </p:txBody>
      </p:sp>
      <p:sp>
        <p:nvSpPr>
          <p:cNvPr id="15" name="Tag I · interface">
            <a:extLst xmlns:a="http://schemas.openxmlformats.org/drawingml/2006/main">
              <a:ext uri="{FF2B5EF4-FFF2-40B4-BE49-F238E27FC236}">
                <a16:creationId xmlns:a16="http://schemas.microsoft.com/office/drawing/2014/main" id="{533C58E8-C6F3-4406-B698-50DB0263B05F}"/>
              </a:ext>
            </a:extLst>
          </p:cNvPr>
          <p:cNvSpPr>
            <a:spLocks xmlns:a="http://schemas.openxmlformats.org/drawingml/2006/main" noGrp="1"/>
          </p:cNvSpPr>
          <p:nvPr/>
        </p:nvSpPr>
        <p:spPr>
          <a:xfrm xmlns:a="http://schemas.openxmlformats.org/drawingml/2006/main">
            <a:off x="6263640" y="5303520"/>
            <a:ext cx="1280160" cy="384048"/>
          </a:xfrm>
          <a:prstGeom xmlns:a="http://schemas.openxmlformats.org/drawingml/2006/main" prst="roundRect">
            <a:avLst>
              <a:gd name="adj" fmla="val 19048"/>
            </a:avLst>
          </a:prstGeom>
          <a:solidFill xmlns:a="http://schemas.openxmlformats.org/drawingml/2006/main">
            <a:srgbClr val="E6E3DC"/>
          </a:solidFill>
          <a:ln xmlns:a="http://schemas.openxmlformats.org/drawingml/2006/main" w="12700">
            <a:solidFill>
              <a:srgbClr val="E6E3DC"/>
            </a:solidFill>
            <a:prstDash val="solid"/>
          </a:ln>
        </p:spPr>
      </p:sp>
      <p:sp>
        <p:nvSpPr>
          <p:cNvPr id="16" name="Text 14">
            <a:extLst xmlns:a="http://schemas.openxmlformats.org/drawingml/2006/main">
              <a:ext uri="{FF2B5EF4-FFF2-40B4-BE49-F238E27FC236}">
                <a16:creationId xmlns:a16="http://schemas.microsoft.com/office/drawing/2014/main" id="{E4D68435-29E9-43EE-B36B-A85FE04F1A84}"/>
              </a:ext>
            </a:extLst>
          </p:cNvPr>
          <p:cNvSpPr>
            <a:spLocks xmlns:a="http://schemas.openxmlformats.org/drawingml/2006/main" noGrp="1"/>
          </p:cNvSpPr>
          <p:nvPr/>
        </p:nvSpPr>
        <p:spPr>
          <a:xfrm xmlns:a="http://schemas.openxmlformats.org/drawingml/2006/main">
            <a:off x="6263640" y="5303520"/>
            <a:ext cx="128016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3D4452"/>
                </a:solidFill>
              </a:rPr>
              <a:t>I · interface</a:t>
            </a:r>
            <a:endParaRPr sz="1200"/>
          </a:p>
        </p:txBody>
      </p:sp>
      <p:sp>
        <p:nvSpPr>
          <p:cNvPr id="17" name="Interfaces panel">
            <a:extLst xmlns:a="http://schemas.openxmlformats.org/drawingml/2006/main">
              <a:ext uri="{FF2B5EF4-FFF2-40B4-BE49-F238E27FC236}">
                <a16:creationId xmlns:a16="http://schemas.microsoft.com/office/drawing/2014/main" id="{DCE8A9F8-E53E-411D-976B-27EEBA2D9428}"/>
              </a:ext>
            </a:extLst>
          </p:cNvPr>
          <p:cNvSpPr>
            <a:spLocks xmlns:a="http://schemas.openxmlformats.org/drawingml/2006/main" noGrp="1"/>
          </p:cNvSpPr>
          <p:nvPr/>
        </p:nvSpPr>
        <p:spPr>
          <a:xfrm xmlns:a="http://schemas.openxmlformats.org/drawingml/2006/main">
            <a:off x="7818120" y="1783080"/>
            <a:ext cx="3733495" cy="3904488"/>
          </a:xfrm>
          <a:prstGeom xmlns:a="http://schemas.openxmlformats.org/drawingml/2006/main" prst="roundRect">
            <a:avLst>
              <a:gd name="adj" fmla="val 2939"/>
            </a:avLst>
          </a:prstGeom>
          <a:solidFill xmlns:a="http://schemas.openxmlformats.org/drawingml/2006/main">
            <a:schemeClr val="tx1"/>
          </a:solidFill>
          <a:ln xmlns:a="http://schemas.openxmlformats.org/drawingml/2006/main" w="12700">
            <a:solidFill>
              <a:srgbClr val="161A22"/>
            </a:solidFill>
            <a:prstDash val="solid"/>
          </a:ln>
        </p:spPr>
      </p:sp>
      <p:sp>
        <p:nvSpPr>
          <p:cNvPr id="18" name="Text 16">
            <a:extLst xmlns:a="http://schemas.openxmlformats.org/drawingml/2006/main">
              <a:ext uri="{FF2B5EF4-FFF2-40B4-BE49-F238E27FC236}">
                <a16:creationId xmlns:a16="http://schemas.microsoft.com/office/drawing/2014/main" id="{B437628B-4F33-4768-A54B-6D0E9AF4CDC2}"/>
              </a:ext>
            </a:extLst>
          </p:cNvPr>
          <p:cNvSpPr>
            <a:spLocks xmlns:a="http://schemas.openxmlformats.org/drawingml/2006/main" noGrp="1"/>
          </p:cNvSpPr>
          <p:nvPr/>
        </p:nvSpPr>
        <p:spPr>
          <a:xfrm xmlns:a="http://schemas.openxmlformats.org/drawingml/2006/main">
            <a:off x="8092440" y="1965960"/>
            <a:ext cx="320040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bg2"/>
                </a:solidFill>
              </a:rPr>
              <a:t>Interfaces are written per vendor</a:t>
            </a:r>
            <a:endParaRPr sz="1800"/>
          </a:p>
        </p:txBody>
      </p:sp>
      <p:sp>
        <p:nvSpPr>
          <p:cNvPr id="19" name="Text 17">
            <a:extLst xmlns:a="http://schemas.openxmlformats.org/drawingml/2006/main">
              <a:ext uri="{FF2B5EF4-FFF2-40B4-BE49-F238E27FC236}">
                <a16:creationId xmlns:a16="http://schemas.microsoft.com/office/drawing/2014/main" id="{C8FA97BB-ECB0-4940-BD9B-B8027919E82A}"/>
              </a:ext>
            </a:extLst>
          </p:cNvPr>
          <p:cNvSpPr>
            <a:spLocks xmlns:a="http://schemas.openxmlformats.org/drawingml/2006/main" noGrp="1"/>
          </p:cNvSpPr>
          <p:nvPr/>
        </p:nvSpPr>
        <p:spPr>
          <a:xfrm xmlns:a="http://schemas.openxmlformats.org/drawingml/2006/main">
            <a:off x="8092440" y="2743200"/>
            <a:ext cx="3200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chemeClr val="accent3"/>
                </a:solidFill>
              </a:rPr>
              <a:t>EDIT FORMAT</a:t>
            </a:r>
            <a:endParaRPr sz="1100"/>
          </a:p>
        </p:txBody>
      </p:sp>
      <p:sp>
        <p:nvSpPr>
          <p:cNvPr id="20" name="Text 18">
            <a:extLst xmlns:a="http://schemas.openxmlformats.org/drawingml/2006/main">
              <a:ext uri="{FF2B5EF4-FFF2-40B4-BE49-F238E27FC236}">
                <a16:creationId xmlns:a16="http://schemas.microsoft.com/office/drawing/2014/main" id="{76594B17-4F4C-46F1-9A78-626059EB2EAC}"/>
              </a:ext>
            </a:extLst>
          </p:cNvPr>
          <p:cNvSpPr>
            <a:spLocks xmlns:a="http://schemas.openxmlformats.org/drawingml/2006/main" noGrp="1"/>
          </p:cNvSpPr>
          <p:nvPr/>
        </p:nvSpPr>
        <p:spPr>
          <a:xfrm xmlns:a="http://schemas.openxmlformats.org/drawingml/2006/main">
            <a:off x="8092440" y="3017520"/>
            <a:ext cx="3200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accent6"/>
                </a:solidFill>
              </a:rPr>
              <a:t>Patch format for OpenAI models, string replace for Anthropic models</a:t>
            </a:r>
            <a:endParaRPr sz="1300"/>
          </a:p>
        </p:txBody>
      </p:sp>
      <p:sp>
        <p:nvSpPr>
          <p:cNvPr id="21" name="Text 19">
            <a:extLst xmlns:a="http://schemas.openxmlformats.org/drawingml/2006/main">
              <a:ext uri="{FF2B5EF4-FFF2-40B4-BE49-F238E27FC236}">
                <a16:creationId xmlns:a16="http://schemas.microsoft.com/office/drawing/2014/main" id="{3FCF5546-231E-4A13-A570-B4FC6946DB74}"/>
              </a:ext>
            </a:extLst>
          </p:cNvPr>
          <p:cNvSpPr>
            <a:spLocks xmlns:a="http://schemas.openxmlformats.org/drawingml/2006/main" noGrp="1"/>
          </p:cNvSpPr>
          <p:nvPr/>
        </p:nvSpPr>
        <p:spPr>
          <a:xfrm xmlns:a="http://schemas.openxmlformats.org/drawingml/2006/main">
            <a:off x="8092440" y="3703320"/>
            <a:ext cx="3200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chemeClr val="accent3"/>
                </a:solidFill>
              </a:rPr>
              <a:t>TOOL ERRORS</a:t>
            </a:r>
            <a:endParaRPr sz="1100"/>
          </a:p>
        </p:txBody>
      </p:sp>
      <p:sp>
        <p:nvSpPr>
          <p:cNvPr id="22" name="Text 20">
            <a:extLst xmlns:a="http://schemas.openxmlformats.org/drawingml/2006/main">
              <a:ext uri="{FF2B5EF4-FFF2-40B4-BE49-F238E27FC236}">
                <a16:creationId xmlns:a16="http://schemas.microsoft.com/office/drawing/2014/main" id="{11BB3A3B-901A-4F1A-B1D0-C193BD0CAC17}"/>
              </a:ext>
            </a:extLst>
          </p:cNvPr>
          <p:cNvSpPr>
            <a:spLocks xmlns:a="http://schemas.openxmlformats.org/drawingml/2006/main" noGrp="1"/>
          </p:cNvSpPr>
          <p:nvPr/>
        </p:nvSpPr>
        <p:spPr>
          <a:xfrm xmlns:a="http://schemas.openxmlformats.org/drawingml/2006/main">
            <a:off x="8092440" y="3977640"/>
            <a:ext cx="3200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accent6"/>
                </a:solidFill>
              </a:rPr>
              <a:t>Typed: InvalidArguments, Timeout, ProviderError, …; anything else is a harness bug</a:t>
            </a:r>
            <a:endParaRPr sz="1300"/>
          </a:p>
        </p:txBody>
      </p:sp>
      <p:sp>
        <p:nvSpPr>
          <p:cNvPr id="23" name="Text 21">
            <a:extLst xmlns:a="http://schemas.openxmlformats.org/drawingml/2006/main">
              <a:ext uri="{FF2B5EF4-FFF2-40B4-BE49-F238E27FC236}">
                <a16:creationId xmlns:a16="http://schemas.microsoft.com/office/drawing/2014/main" id="{ACDE6485-DD3C-431A-A782-9C5CD0F8A480}"/>
              </a:ext>
            </a:extLst>
          </p:cNvPr>
          <p:cNvSpPr>
            <a:spLocks xmlns:a="http://schemas.openxmlformats.org/drawingml/2006/main" noGrp="1"/>
          </p:cNvSpPr>
          <p:nvPr/>
        </p:nvSpPr>
        <p:spPr>
          <a:xfrm xmlns:a="http://schemas.openxmlformats.org/drawingml/2006/main">
            <a:off x="8092440" y="4663440"/>
            <a:ext cx="3200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100" b="1">
                <a:solidFill>
                  <a:schemeClr val="accent3"/>
                </a:solidFill>
              </a:rPr>
              <a:t>THE SEAM</a:t>
            </a:r>
            <a:endParaRPr sz="1100"/>
          </a:p>
        </p:txBody>
      </p:sp>
      <p:sp>
        <p:nvSpPr>
          <p:cNvPr id="24" name="Text 22">
            <a:extLst xmlns:a="http://schemas.openxmlformats.org/drawingml/2006/main">
              <a:ext uri="{FF2B5EF4-FFF2-40B4-BE49-F238E27FC236}">
                <a16:creationId xmlns:a16="http://schemas.microsoft.com/office/drawing/2014/main" id="{563C7156-DF80-4D56-9D65-5E936577ED69}"/>
              </a:ext>
            </a:extLst>
          </p:cNvPr>
          <p:cNvSpPr>
            <a:spLocks xmlns:a="http://schemas.openxmlformats.org/drawingml/2006/main" noGrp="1"/>
          </p:cNvSpPr>
          <p:nvPr/>
        </p:nvSpPr>
        <p:spPr>
          <a:xfrm xmlns:a="http://schemas.openxmlformats.org/drawingml/2006/main">
            <a:off x="8092440" y="4937760"/>
            <a:ext cx="3200400" cy="65836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300">
                <a:solidFill>
                  <a:schemeClr val="accent6"/>
                </a:solidFill>
              </a:rPr>
              <a:t>Switch models mid-chat and the new one reads foreign history and misses the cache. Cursor’s advice: one model per chat.</a:t>
            </a:r>
            <a:endParaRPr sz="1300"/>
          </a:p>
        </p:txBody>
      </p:sp>
      <p:sp>
        <p:nvSpPr>
          <p:cNvPr id="25" name="Text 23">
            <a:extLst xmlns:a="http://schemas.openxmlformats.org/drawingml/2006/main">
              <a:ext uri="{FF2B5EF4-FFF2-40B4-BE49-F238E27FC236}">
                <a16:creationId xmlns:a16="http://schemas.microsoft.com/office/drawing/2014/main" id="{73955FA5-27B3-446C-8498-C3B068EA55AC}"/>
              </a:ext>
            </a:extLst>
          </p:cNvPr>
          <p:cNvSpPr>
            <a:spLocks xmlns:a="http://schemas.openxmlformats.org/drawingml/2006/main" noGrp="1"/>
          </p:cNvSpPr>
          <p:nvPr/>
        </p:nvSpPr>
        <p:spPr>
          <a:xfrm xmlns:a="http://schemas.openxmlformats.org/drawingml/2006/main">
            <a:off x="3474720" y="6382512"/>
            <a:ext cx="7498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accent4"/>
                </a:solidFill>
              </a:rPr>
              <a:t>Source: Cursor, “Continually improving our agent harness” (Apr 2026)</a:t>
            </a:r>
            <a:endParaRPr sz="1000"/>
          </a:p>
        </p:txBody>
      </p:sp>
      <p:sp>
        <p:nvSpPr>
          <p:cNvPr id="26" name="Slide Number Placeholder 0">
            <a:extLst xmlns:a="http://schemas.openxmlformats.org/drawingml/2006/main">
              <a:ext uri="{FF2B5EF4-FFF2-40B4-BE49-F238E27FC236}">
                <a16:creationId xmlns:a16="http://schemas.microsoft.com/office/drawing/2014/main" id="{9E517485-303E-4614-A21D-1F4E6E4DDF49}"/>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5</a:t>
            </a:fld>
            <a:endParaRPr/>
          </a:p>
        </p:txBody>
      </p:sp>
    </p:spTree>
    <p:extLst>
      <p:ext uri="{BB962C8B-B14F-4D97-AF65-F5344CB8AC3E}">
        <p14:creationId xmlns:p14="http://schemas.microsoft.com/office/powerpoint/2010/main" val="70099197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86BAA3A-D291-4D85-A200-B6CADDB712B9}"/>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SEAMS + ECONOMICS · HEEBA</a:t>
            </a:r>
            <a:endParaRPr sz="1200"/>
          </a:p>
        </p:txBody>
      </p:sp>
      <p:sp>
        <p:nvSpPr>
          <p:cNvPr id="3" name="Text 0">
            <a:extLst xmlns:a="http://schemas.openxmlformats.org/drawingml/2006/main">
              <a:ext uri="{FF2B5EF4-FFF2-40B4-BE49-F238E27FC236}">
                <a16:creationId xmlns:a16="http://schemas.microsoft.com/office/drawing/2014/main" id="{380EB0C2-2052-4E4D-A324-3C9500F0952E}"/>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Where the seams show, and what they cost</a:t>
            </a:r>
            <a:endParaRPr sz="3200"/>
          </a:p>
        </p:txBody>
      </p:sp>
      <p:sp>
        <p:nvSpPr>
          <p:cNvPr id="4" name="Seam Ungrounded support bot">
            <a:extLst xmlns:a="http://schemas.openxmlformats.org/drawingml/2006/main">
              <a:ext uri="{FF2B5EF4-FFF2-40B4-BE49-F238E27FC236}">
                <a16:creationId xmlns:a16="http://schemas.microsoft.com/office/drawing/2014/main" id="{8FA54980-15CA-441C-9653-2F1AED0D324E}"/>
              </a:ext>
            </a:extLst>
          </p:cNvPr>
          <p:cNvSpPr>
            <a:spLocks xmlns:a="http://schemas.openxmlformats.org/drawingml/2006/main" noGrp="1"/>
          </p:cNvSpPr>
          <p:nvPr/>
        </p:nvSpPr>
        <p:spPr>
          <a:xfrm xmlns:a="http://schemas.openxmlformats.org/drawingml/2006/main">
            <a:off x="640080" y="1783080"/>
            <a:ext cx="3484778" cy="178308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9525">
            <a:solidFill>
              <a:schemeClr val="accent5"/>
            </a:solidFill>
            <a:prstDash val="solid"/>
          </a:ln>
        </p:spPr>
      </p:sp>
      <p:sp>
        <p:nvSpPr>
          <p:cNvPr id="5" name="Text 3">
            <a:extLst xmlns:a="http://schemas.openxmlformats.org/drawingml/2006/main">
              <a:ext uri="{FF2B5EF4-FFF2-40B4-BE49-F238E27FC236}">
                <a16:creationId xmlns:a16="http://schemas.microsoft.com/office/drawing/2014/main" id="{16E9EE30-3D48-4515-8D54-8B1B78D87E36}"/>
              </a:ext>
            </a:extLst>
          </p:cNvPr>
          <p:cNvSpPr>
            <a:spLocks xmlns:a="http://schemas.openxmlformats.org/drawingml/2006/main" noGrp="1"/>
          </p:cNvSpPr>
          <p:nvPr/>
        </p:nvSpPr>
        <p:spPr>
          <a:xfrm xmlns:a="http://schemas.openxmlformats.org/drawingml/2006/main">
            <a:off x="868680" y="1965960"/>
            <a:ext cx="302757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2"/>
                </a:solidFill>
              </a:rPr>
              <a:t>APR 2025</a:t>
            </a:r>
            <a:endParaRPr sz="1200"/>
          </a:p>
        </p:txBody>
      </p:sp>
      <p:sp>
        <p:nvSpPr>
          <p:cNvPr id="6" name="Text 4">
            <a:extLst xmlns:a="http://schemas.openxmlformats.org/drawingml/2006/main">
              <a:ext uri="{FF2B5EF4-FFF2-40B4-BE49-F238E27FC236}">
                <a16:creationId xmlns:a16="http://schemas.microsoft.com/office/drawing/2014/main" id="{B3B4C689-6C81-4BB4-9045-E9194B58BCEE}"/>
              </a:ext>
            </a:extLst>
          </p:cNvPr>
          <p:cNvSpPr>
            <a:spLocks xmlns:a="http://schemas.openxmlformats.org/drawingml/2006/main" noGrp="1"/>
          </p:cNvSpPr>
          <p:nvPr/>
        </p:nvSpPr>
        <p:spPr>
          <a:xfrm xmlns:a="http://schemas.openxmlformats.org/drawingml/2006/main">
            <a:off x="868680" y="2258568"/>
            <a:ext cx="302757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tx1"/>
                </a:solidFill>
              </a:rPr>
              <a:t>Ungrounded support bot</a:t>
            </a:r>
            <a:endParaRPr sz="1800"/>
          </a:p>
        </p:txBody>
      </p:sp>
      <p:sp>
        <p:nvSpPr>
          <p:cNvPr id="7" name="Text 5">
            <a:extLst xmlns:a="http://schemas.openxmlformats.org/drawingml/2006/main">
              <a:ext uri="{FF2B5EF4-FFF2-40B4-BE49-F238E27FC236}">
                <a16:creationId xmlns:a16="http://schemas.microsoft.com/office/drawing/2014/main" id="{C420B0C8-656F-4EB4-8C76-390D80AC2F6E}"/>
              </a:ext>
            </a:extLst>
          </p:cNvPr>
          <p:cNvSpPr>
            <a:spLocks xmlns:a="http://schemas.openxmlformats.org/drawingml/2006/main" noGrp="1"/>
          </p:cNvSpPr>
          <p:nvPr/>
        </p:nvSpPr>
        <p:spPr>
          <a:xfrm xmlns:a="http://schemas.openxmlformats.org/drawingml/2006/main">
            <a:off x="868680" y="2670048"/>
            <a:ext cx="30275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chemeClr val="tx2"/>
                </a:solidFill>
              </a:rPr>
              <a:t>“Sam” invented a one-device policy to explain a logout bug; users cancelled</a:t>
            </a:r>
            <a:endParaRPr sz="1400"/>
          </a:p>
        </p:txBody>
      </p:sp>
      <p:sp>
        <p:nvSpPr>
          <p:cNvPr id="8" name="Seam Renting the model">
            <a:extLst xmlns:a="http://schemas.openxmlformats.org/drawingml/2006/main">
              <a:ext uri="{FF2B5EF4-FFF2-40B4-BE49-F238E27FC236}">
                <a16:creationId xmlns:a16="http://schemas.microsoft.com/office/drawing/2014/main" id="{52393CAF-06BB-4209-892F-F207F5381FFD}"/>
              </a:ext>
            </a:extLst>
          </p:cNvPr>
          <p:cNvSpPr>
            <a:spLocks xmlns:a="http://schemas.openxmlformats.org/drawingml/2006/main" noGrp="1"/>
          </p:cNvSpPr>
          <p:nvPr/>
        </p:nvSpPr>
        <p:spPr>
          <a:xfrm xmlns:a="http://schemas.openxmlformats.org/drawingml/2006/main">
            <a:off x="4353458" y="1783080"/>
            <a:ext cx="3484778" cy="178308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9525">
            <a:solidFill>
              <a:schemeClr val="accent5"/>
            </a:solidFill>
            <a:prstDash val="solid"/>
          </a:ln>
        </p:spPr>
      </p:sp>
      <p:sp>
        <p:nvSpPr>
          <p:cNvPr id="9" name="Text 7">
            <a:extLst xmlns:a="http://schemas.openxmlformats.org/drawingml/2006/main">
              <a:ext uri="{FF2B5EF4-FFF2-40B4-BE49-F238E27FC236}">
                <a16:creationId xmlns:a16="http://schemas.microsoft.com/office/drawing/2014/main" id="{E5043B06-9E57-4799-84B3-5FF8AFC6B3D8}"/>
              </a:ext>
            </a:extLst>
          </p:cNvPr>
          <p:cNvSpPr>
            <a:spLocks xmlns:a="http://schemas.openxmlformats.org/drawingml/2006/main" noGrp="1"/>
          </p:cNvSpPr>
          <p:nvPr/>
        </p:nvSpPr>
        <p:spPr>
          <a:xfrm xmlns:a="http://schemas.openxmlformats.org/drawingml/2006/main">
            <a:off x="4582058" y="1965960"/>
            <a:ext cx="302757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2"/>
                </a:solidFill>
              </a:rPr>
              <a:t>JUN–JUL 2025</a:t>
            </a:r>
            <a:endParaRPr sz="1200"/>
          </a:p>
        </p:txBody>
      </p:sp>
      <p:sp>
        <p:nvSpPr>
          <p:cNvPr id="10" name="Text 8">
            <a:extLst xmlns:a="http://schemas.openxmlformats.org/drawingml/2006/main">
              <a:ext uri="{FF2B5EF4-FFF2-40B4-BE49-F238E27FC236}">
                <a16:creationId xmlns:a16="http://schemas.microsoft.com/office/drawing/2014/main" id="{B9331C1D-3EE8-4809-AB26-3E81E96ECC8E}"/>
              </a:ext>
            </a:extLst>
          </p:cNvPr>
          <p:cNvSpPr>
            <a:spLocks xmlns:a="http://schemas.openxmlformats.org/drawingml/2006/main" noGrp="1"/>
          </p:cNvSpPr>
          <p:nvPr/>
        </p:nvSpPr>
        <p:spPr>
          <a:xfrm xmlns:a="http://schemas.openxmlformats.org/drawingml/2006/main">
            <a:off x="4582058" y="2258568"/>
            <a:ext cx="302757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tx1"/>
                </a:solidFill>
              </a:rPr>
              <a:t>Renting the model</a:t>
            </a:r>
            <a:endParaRPr sz="1800"/>
          </a:p>
        </p:txBody>
      </p:sp>
      <p:sp>
        <p:nvSpPr>
          <p:cNvPr id="11" name="Text 9">
            <a:extLst xmlns:a="http://schemas.openxmlformats.org/drawingml/2006/main">
              <a:ext uri="{FF2B5EF4-FFF2-40B4-BE49-F238E27FC236}">
                <a16:creationId xmlns:a16="http://schemas.microsoft.com/office/drawing/2014/main" id="{CF652733-39FD-4DD6-811C-506F605B438F}"/>
              </a:ext>
            </a:extLst>
          </p:cNvPr>
          <p:cNvSpPr>
            <a:spLocks xmlns:a="http://schemas.openxmlformats.org/drawingml/2006/main" noGrp="1"/>
          </p:cNvSpPr>
          <p:nvPr/>
        </p:nvSpPr>
        <p:spPr>
          <a:xfrm xmlns:a="http://schemas.openxmlformats.org/drawingml/2006/main">
            <a:off x="4582058" y="2670048"/>
            <a:ext cx="30275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chemeClr val="tx2"/>
                </a:solidFill>
              </a:rPr>
              <a:t>Pro moved from 500 requests to $20 of usage at API rates; surprise bills, refunds</a:t>
            </a:r>
            <a:endParaRPr sz="1400"/>
          </a:p>
        </p:txBody>
      </p:sp>
      <p:sp>
        <p:nvSpPr>
          <p:cNvPr id="12" name="Seam Owning the model">
            <a:extLst xmlns:a="http://schemas.openxmlformats.org/drawingml/2006/main">
              <a:ext uri="{FF2B5EF4-FFF2-40B4-BE49-F238E27FC236}">
                <a16:creationId xmlns:a16="http://schemas.microsoft.com/office/drawing/2014/main" id="{84FCC567-3575-469A-9E82-17BBAB26D1D1}"/>
              </a:ext>
            </a:extLst>
          </p:cNvPr>
          <p:cNvSpPr>
            <a:spLocks xmlns:a="http://schemas.openxmlformats.org/drawingml/2006/main" noGrp="1"/>
          </p:cNvSpPr>
          <p:nvPr/>
        </p:nvSpPr>
        <p:spPr>
          <a:xfrm xmlns:a="http://schemas.openxmlformats.org/drawingml/2006/main">
            <a:off x="8066837" y="1783080"/>
            <a:ext cx="3484778" cy="1783080"/>
          </a:xfrm>
          <a:prstGeom xmlns:a="http://schemas.openxmlformats.org/drawingml/2006/main" prst="roundRect">
            <a:avLst>
              <a:gd name="adj" fmla="val 6154"/>
            </a:avLst>
          </a:prstGeom>
          <a:solidFill xmlns:a="http://schemas.openxmlformats.org/drawingml/2006/main">
            <a:schemeClr val="bg1"/>
          </a:solidFill>
          <a:ln xmlns:a="http://schemas.openxmlformats.org/drawingml/2006/main" w="9525">
            <a:solidFill>
              <a:schemeClr val="accent5"/>
            </a:solidFill>
            <a:prstDash val="solid"/>
          </a:ln>
        </p:spPr>
      </p:sp>
      <p:sp>
        <p:nvSpPr>
          <p:cNvPr id="13" name="Text 11">
            <a:extLst xmlns:a="http://schemas.openxmlformats.org/drawingml/2006/main">
              <a:ext uri="{FF2B5EF4-FFF2-40B4-BE49-F238E27FC236}">
                <a16:creationId xmlns:a16="http://schemas.microsoft.com/office/drawing/2014/main" id="{2F4BC343-0B38-44A8-A1A0-DD1ED38D0D7C}"/>
              </a:ext>
            </a:extLst>
          </p:cNvPr>
          <p:cNvSpPr>
            <a:spLocks xmlns:a="http://schemas.openxmlformats.org/drawingml/2006/main" noGrp="1"/>
          </p:cNvSpPr>
          <p:nvPr/>
        </p:nvSpPr>
        <p:spPr>
          <a:xfrm xmlns:a="http://schemas.openxmlformats.org/drawingml/2006/main">
            <a:off x="8295437" y="1965960"/>
            <a:ext cx="3027578"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b="1">
                <a:solidFill>
                  <a:schemeClr val="accent2"/>
                </a:solidFill>
              </a:rPr>
              <a:t>MAR 2026</a:t>
            </a:r>
            <a:endParaRPr sz="1200"/>
          </a:p>
        </p:txBody>
      </p:sp>
      <p:sp>
        <p:nvSpPr>
          <p:cNvPr id="14" name="Text 12">
            <a:extLst xmlns:a="http://schemas.openxmlformats.org/drawingml/2006/main">
              <a:ext uri="{FF2B5EF4-FFF2-40B4-BE49-F238E27FC236}">
                <a16:creationId xmlns:a16="http://schemas.microsoft.com/office/drawing/2014/main" id="{E9704B62-07D5-4D7B-BE93-276941100301}"/>
              </a:ext>
            </a:extLst>
          </p:cNvPr>
          <p:cNvSpPr>
            <a:spLocks xmlns:a="http://schemas.openxmlformats.org/drawingml/2006/main" noGrp="1"/>
          </p:cNvSpPr>
          <p:nvPr/>
        </p:nvSpPr>
        <p:spPr>
          <a:xfrm xmlns:a="http://schemas.openxmlformats.org/drawingml/2006/main">
            <a:off x="8295437" y="2258568"/>
            <a:ext cx="3027578"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800" b="1">
                <a:solidFill>
                  <a:schemeClr val="tx1"/>
                </a:solidFill>
              </a:rPr>
              <a:t>Owning the model</a:t>
            </a:r>
            <a:endParaRPr sz="1800"/>
          </a:p>
        </p:txBody>
      </p:sp>
      <p:sp>
        <p:nvSpPr>
          <p:cNvPr id="15" name="Text 13">
            <a:extLst xmlns:a="http://schemas.openxmlformats.org/drawingml/2006/main">
              <a:ext uri="{FF2B5EF4-FFF2-40B4-BE49-F238E27FC236}">
                <a16:creationId xmlns:a16="http://schemas.microsoft.com/office/drawing/2014/main" id="{D49D2A80-EA0E-446D-9491-ABC8294C4FDD}"/>
              </a:ext>
            </a:extLst>
          </p:cNvPr>
          <p:cNvSpPr>
            <a:spLocks xmlns:a="http://schemas.openxmlformats.org/drawingml/2006/main" noGrp="1"/>
          </p:cNvSpPr>
          <p:nvPr/>
        </p:nvSpPr>
        <p:spPr>
          <a:xfrm xmlns:a="http://schemas.openxmlformats.org/drawingml/2006/main">
            <a:off x="8295437" y="2670048"/>
            <a:ext cx="3027578" cy="8229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chemeClr val="tx2"/>
                </a:solidFill>
              </a:rPr>
              <a:t>Composer 2’s Kimi K2.5 base was not disclosed at launch; Cursor called it “a miss”</a:t>
            </a:r>
            <a:endParaRPr sz="1400"/>
          </a:p>
        </p:txBody>
      </p:sp>
      <p:graphicFrame>
        <p:nvGraphicFramePr>
          <p:cNvPr id="26" name="Pricing table">
            <a:extLst xmlns:a="http://schemas.openxmlformats.org/drawingml/2006/main">
              <a:ext uri="{FF2B5EF4-FFF2-40B4-BE49-F238E27FC236}">
                <a16:creationId xmlns:a16="http://schemas.microsoft.com/office/drawing/2014/main" id="{776E2A65-9AF0-4A97-B089-5E7F03B2D163}"/>
              </a:ext>
            </a:extLst>
          </p:cNvPr>
          <p:cNvGraphicFramePr/>
          <p:nvPr/>
        </p:nvGraphicFramePr>
        <p:xfrm>
          <a:off xmlns:a="http://schemas.openxmlformats.org/drawingml/2006/main" x="640080" y="3840480"/>
          <a:ext xmlns:a="http://schemas.openxmlformats.org/drawingml/2006/main" cx="10911535" cy="914400"/>
        </p:xfrm>
        <a:graphic xmlns:a="http://schemas.openxmlformats.org/drawingml/2006/main">
          <a:graphicData uri="http://schemas.openxmlformats.org/drawingml/2006/table">
            <a:tbl>
              <a:tblPr/>
              <a:tblGrid>
                <a:gridCol w="4327855"/>
                <a:gridCol w="2194560"/>
                <a:gridCol w="2194560"/>
                <a:gridCol w="2194560"/>
              </a:tblGrid>
              <a:tr h="384048">
                <a:tc>
                  <a:txBody>
                    <a:bodyPr/>
                    <a:lstStyle/>
                    <a:p>
                      <a:pPr marL="0" indent="0">
                        <a:buNone/>
                      </a:pPr>
                      <a:r>
                        <a:rPr sz="1400" b="1">
                          <a:solidFill>
                            <a:schemeClr val="tx1"/>
                          </a:solidFill>
                          <a:latin typeface="Calibri"/>
                          <a:ea typeface="Calibri"/>
                          <a:cs typeface="Calibri"/>
                        </a:rPr>
                        <a:t>Model ($ per 1M tokens)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Input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Output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$20 Pro buys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r>
              <a:tr h="384048">
                <a:tc>
                  <a:txBody>
                    <a:bodyPr/>
                    <a:lstStyle/>
                    <a:p>
                      <a:pPr marL="0" indent="0">
                        <a:buNone/>
                      </a:pPr>
                      <a:r>
                        <a:rPr sz="1400">
                          <a:solidFill>
                            <a:schemeClr val="tx2"/>
                          </a:solidFill>
                          <a:latin typeface="Calibri"/>
                          <a:ea typeface="Calibri"/>
                          <a:cs typeface="Calibri"/>
                        </a:rPr>
                        <a:t>Composer 2 (Standard)</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$0.50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$2.50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[from runs]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384048">
                <a:tc>
                  <a:txBody>
                    <a:bodyPr/>
                    <a:lstStyle/>
                    <a:p>
                      <a:pPr marL="0" indent="0">
                        <a:buNone/>
                      </a:pPr>
                      <a:r>
                        <a:rPr sz="1400">
                          <a:solidFill>
                            <a:schemeClr val="tx2"/>
                          </a:solidFill>
                          <a:latin typeface="Calibri"/>
                          <a:ea typeface="Calibri"/>
                          <a:cs typeface="Calibri"/>
                        </a:rPr>
                        <a:t>Claude Opus 4.6</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$5.00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$25.00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[from runs]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384048">
                <a:tc>
                  <a:txBody>
                    <a:bodyPr/>
                    <a:lstStyle/>
                    <a:p>
                      <a:pPr marL="0" indent="0">
                        <a:buNone/>
                      </a:pPr>
                      <a:r>
                        <a:rPr sz="1400">
                          <a:solidFill>
                            <a:schemeClr val="tx2"/>
                          </a:solidFill>
                          <a:latin typeface="Calibri"/>
                          <a:ea typeface="Calibri"/>
                          <a:cs typeface="Calibri"/>
                        </a:rPr>
                        <a:t>GPT-5.4</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$2.50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$15.00</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[from runs]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bl>
          </a:graphicData>
        </a:graphic>
      </p:graphicFrame>
      <p:sp>
        <p:nvSpPr>
          <p:cNvPr id="17" name="Text 14">
            <a:extLst xmlns:a="http://schemas.openxmlformats.org/drawingml/2006/main">
              <a:ext uri="{FF2B5EF4-FFF2-40B4-BE49-F238E27FC236}">
                <a16:creationId xmlns:a16="http://schemas.microsoft.com/office/drawing/2014/main" id="{AF33F262-3B22-4418-B166-17D9BF24F4E8}"/>
              </a:ext>
            </a:extLst>
          </p:cNvPr>
          <p:cNvSpPr>
            <a:spLocks xmlns:a="http://schemas.openxmlformats.org/drawingml/2006/main" noGrp="1"/>
          </p:cNvSpPr>
          <p:nvPr/>
        </p:nvSpPr>
        <p:spPr>
          <a:xfrm xmlns:a="http://schemas.openxmlformats.org/drawingml/2006/main">
            <a:off x="3474720" y="6382512"/>
            <a:ext cx="74980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r">
              <a:buNone/>
            </a:pPr>
            <a:r>
              <a:rPr sz="1000">
                <a:solidFill>
                  <a:schemeClr val="accent4"/>
                </a:solidFill>
              </a:rPr>
              <a:t>[6] Clarifying our pricing (Jul 2025) · [7] Fortune (Apr 2025) · [8] DataCamp (Mar 2026), list prices at launch</a:t>
            </a:r>
            <a:endParaRPr sz="1000"/>
          </a:p>
        </p:txBody>
      </p:sp>
      <p:sp>
        <p:nvSpPr>
          <p:cNvPr id="25" name="Slide Number Placeholder 0">
            <a:extLst xmlns:a="http://schemas.openxmlformats.org/drawingml/2006/main">
              <a:ext uri="{FF2B5EF4-FFF2-40B4-BE49-F238E27FC236}">
                <a16:creationId xmlns:a16="http://schemas.microsoft.com/office/drawing/2014/main" id="{51F6123F-1AE5-4712-A514-63756E7CC3A2}"/>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6</a:t>
            </a:fld>
            <a:endParaRPr/>
          </a:p>
        </p:txBody>
      </p:sp>
    </p:spTree>
    <p:extLst>
      <p:ext uri="{BB962C8B-B14F-4D97-AF65-F5344CB8AC3E}">
        <p14:creationId xmlns:p14="http://schemas.microsoft.com/office/powerpoint/2010/main" val="124752230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004C1AC8-0FCB-469A-B3A6-DCB9C8F3D3E2}"/>
              </a:ext>
            </a:extLst>
          </p:cNvPr>
          <p:cNvSpPr>
            <a:spLocks xmlns:a="http://schemas.openxmlformats.org/drawingml/2006/main" noGrp="1"/>
          </p:cNvSpPr>
          <p:nvPr>
            <p:ph type="body" idx="100" hasCustomPrompt="1"/>
          </p:nvPr>
        </p:nvSpPr>
        <p:spPr>
          <a:xfrm xmlns:a="http://schemas.openxmlformats.org/drawingml/2006/main">
            <a:off x="640080" y="45720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1"/>
                </a:solidFill>
              </a:rPr>
              <a:t>MEASURED BEHAVIOR · CANTING</a:t>
            </a:r>
            <a:endParaRPr sz="1200"/>
          </a:p>
        </p:txBody>
      </p:sp>
      <p:sp>
        <p:nvSpPr>
          <p:cNvPr id="3" name="Text 0">
            <a:extLst xmlns:a="http://schemas.openxmlformats.org/drawingml/2006/main">
              <a:ext uri="{FF2B5EF4-FFF2-40B4-BE49-F238E27FC236}">
                <a16:creationId xmlns:a16="http://schemas.microsoft.com/office/drawing/2014/main" id="{32478BBA-F167-44B7-BA47-905B6B9E419D}"/>
              </a:ext>
            </a:extLst>
          </p:cNvPr>
          <p:cNvSpPr>
            <a:spLocks xmlns:a="http://schemas.openxmlformats.org/drawingml/2006/main" noGrp="1"/>
          </p:cNvSpPr>
          <p:nvPr>
            <p:ph type="title" idx="101" hasCustomPrompt="1"/>
          </p:nvPr>
        </p:nvSpPr>
        <p:spPr>
          <a:xfrm xmlns:a="http://schemas.openxmlformats.org/drawingml/2006/main">
            <a:off x="640080" y="749808"/>
            <a:ext cx="10911535" cy="731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3200" b="1">
                <a:solidFill>
                  <a:schemeClr val="tx1"/>
                </a:solidFill>
              </a:rPr>
              <a:t>Measured behavior under a Free account</a:t>
            </a:r>
            <a:endParaRPr sz="3200"/>
          </a:p>
        </p:txBody>
      </p:sp>
      <p:sp>
        <p:nvSpPr>
          <p:cNvPr id="4" name="Text 2">
            <a:extLst xmlns:a="http://schemas.openxmlformats.org/drawingml/2006/main">
              <a:ext uri="{FF2B5EF4-FFF2-40B4-BE49-F238E27FC236}">
                <a16:creationId xmlns:a16="http://schemas.microsoft.com/office/drawing/2014/main" id="{FD62C438-F696-4916-879D-F1E382209062}"/>
              </a:ext>
            </a:extLst>
          </p:cNvPr>
          <p:cNvSpPr>
            <a:spLocks xmlns:a="http://schemas.openxmlformats.org/drawingml/2006/main" noGrp="1"/>
          </p:cNvSpPr>
          <p:nvPr/>
        </p:nvSpPr>
        <p:spPr>
          <a:xfrm xmlns:a="http://schemas.openxmlformats.org/drawingml/2006/main">
            <a:off x="640080" y="1737360"/>
            <a:ext cx="10911535"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defPPr>
              <a:defRPr sz="1600" b="0">
                <a:solidFill>
                  <a:srgbClr val="161A22"/>
                </a:solidFill>
                <a:latin typeface="Calibri"/>
                <a:ea typeface="Calibri"/>
                <a:cs typeface="Calibri"/>
              </a:defRPr>
            </a:defPPr>
            <a:lvl1pPr>
              <a:defRPr sz="1600" b="0">
                <a:solidFill>
                  <a:srgbClr val="161A22"/>
                </a:solidFill>
                <a:latin typeface="Calibri"/>
                <a:ea typeface="Calibri"/>
                <a:cs typeface="Calibri"/>
              </a:defRPr>
            </a:lvl1pPr>
            <a:lvl2pPr>
              <a:defRPr sz="1600" b="0">
                <a:solidFill>
                  <a:srgbClr val="161A22"/>
                </a:solidFill>
                <a:latin typeface="Calibri"/>
                <a:ea typeface="Calibri"/>
                <a:cs typeface="Calibri"/>
              </a:defRPr>
            </a:lvl2pPr>
            <a:lvl3pPr>
              <a:defRPr sz="1600" b="0">
                <a:solidFill>
                  <a:srgbClr val="161A22"/>
                </a:solidFill>
                <a:latin typeface="Calibri"/>
                <a:ea typeface="Calibri"/>
                <a:cs typeface="Calibri"/>
              </a:defRPr>
            </a:lvl3pPr>
            <a:lvl4pPr>
              <a:defRPr sz="1600" b="0">
                <a:solidFill>
                  <a:srgbClr val="161A22"/>
                </a:solidFill>
                <a:latin typeface="Calibri"/>
                <a:ea typeface="Calibri"/>
                <a:cs typeface="Calibri"/>
              </a:defRPr>
            </a:lvl4pPr>
            <a:lvl5pPr>
              <a:defRPr sz="1600" b="0">
                <a:solidFill>
                  <a:srgbClr val="161A22"/>
                </a:solidFill>
                <a:latin typeface="Calibri"/>
                <a:ea typeface="Calibri"/>
                <a:cs typeface="Calibri"/>
              </a:defRPr>
            </a:lvl5pPr>
            <a:lvl6pPr>
              <a:defRPr sz="1600" b="0">
                <a:solidFill>
                  <a:srgbClr val="161A22"/>
                </a:solidFill>
                <a:latin typeface="Calibri"/>
                <a:ea typeface="Calibri"/>
                <a:cs typeface="Calibri"/>
              </a:defRPr>
            </a:lvl6pPr>
            <a:lvl7pPr>
              <a:defRPr sz="1600" b="0">
                <a:solidFill>
                  <a:srgbClr val="161A22"/>
                </a:solidFill>
                <a:latin typeface="Calibri"/>
                <a:ea typeface="Calibri"/>
                <a:cs typeface="Calibri"/>
              </a:defRPr>
            </a:lvl7pPr>
            <a:lvl8pPr>
              <a:defRPr sz="1600" b="0">
                <a:solidFill>
                  <a:srgbClr val="161A22"/>
                </a:solidFill>
                <a:latin typeface="Calibri"/>
                <a:ea typeface="Calibri"/>
                <a:cs typeface="Calibri"/>
              </a:defRPr>
            </a:lvl8pPr>
            <a:lvl9pPr>
              <a:defRPr sz="1600" b="0">
                <a:solidFill>
                  <a:srgbClr val="161A22"/>
                </a:solidFill>
                <a:latin typeface="Calibri"/>
                <a:ea typeface="Calibri"/>
                <a:cs typeface="Calibri"/>
              </a:defRPr>
            </a:lvl9pPr>
          </a:lstStyle>
          <a:p xmlns:a="http://schemas.openxmlformats.org/drawingml/2006/main">
            <a:pPr marL="0" indent="0">
              <a:buNone/>
              <a:defRPr sz="1600" b="0">
                <a:solidFill>
                  <a:srgbClr val="161A22"/>
                </a:solidFill>
                <a:latin typeface="Calibri"/>
                <a:ea typeface="Calibri"/>
                <a:cs typeface="Calibri"/>
              </a:defRPr>
            </a:pPr>
            <a:r>
              <a:rPr sz="1600" b="0">
                <a:solidFill>
                  <a:srgbClr val="161A22"/>
                </a:solidFill>
                <a:latin typeface="Calibri"/>
                <a:ea typeface="Calibri"/>
                <a:cs typeface="Calibri"/>
              </a:rPr>
              <a:t>Task: add late fees to the same Python library; evaluate 6 original and 9 held-out tests</a:t>
            </a:r>
            <a:endParaRPr sz="1600"/>
          </a:p>
        </p:txBody>
      </p:sp>
      <p:graphicFrame>
        <p:nvGraphicFramePr>
          <p:cNvPr id="8" name="Results table">
            <a:extLst xmlns:a="http://schemas.openxmlformats.org/drawingml/2006/main">
              <a:ext uri="{FF2B5EF4-FFF2-40B4-BE49-F238E27FC236}">
                <a16:creationId xmlns:a16="http://schemas.microsoft.com/office/drawing/2014/main" id="{92EAC43E-32DB-4D51-AA8C-B7A46CDAF1BC}"/>
              </a:ext>
            </a:extLst>
          </p:cNvPr>
          <p:cNvGraphicFramePr/>
          <p:nvPr/>
        </p:nvGraphicFramePr>
        <p:xfrm>
          <a:off xmlns:a="http://schemas.openxmlformats.org/drawingml/2006/main" x="640080" y="2240280"/>
          <a:ext xmlns:a="http://schemas.openxmlformats.org/drawingml/2006/main" cx="10911535" cy="914400"/>
        </p:xfrm>
        <a:graphic xmlns:a="http://schemas.openxmlformats.org/drawingml/2006/main">
          <a:graphicData uri="http://schemas.openxmlformats.org/drawingml/2006/table">
            <a:tbl>
              <a:tblPr/>
              <a:tblGrid>
                <a:gridCol w="3047695"/>
                <a:gridCol w="1737360"/>
                <a:gridCol w="1737360"/>
                <a:gridCol w="1737360"/>
                <a:gridCol w="2651760"/>
              </a:tblGrid>
              <a:tr h="384048">
                <a:tc>
                  <a:txBody>
                    <a:bodyPr/>
                    <a:lstStyle/>
                    <a:p>
                      <a:pPr marL="0" indent="0">
                        <a:buNone/>
                      </a:pPr>
                      <a:r>
                        <a:rPr sz="1400" b="1">
                          <a:solidFill>
                            <a:schemeClr val="tx1"/>
                          </a:solidFill>
                          <a:latin typeface="Calibri"/>
                          <a:ea typeface="Calibri"/>
                          <a:cs typeface="Calibri"/>
                        </a:rPr>
                        <a:t>Run / route</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Tokens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Wall time (s)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Tool calls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c>
                  <a:txBody>
                    <a:bodyPr/>
                    <a:lstStyle/>
                    <a:p>
                      <a:pPr marL="0" indent="0">
                        <a:buNone/>
                      </a:pPr>
                      <a:r>
                        <a:rPr sz="1400" b="1">
                          <a:solidFill>
                            <a:schemeClr val="tx1"/>
                          </a:solidFill>
                          <a:latin typeface="Calibri"/>
                          <a:ea typeface="Calibri"/>
                          <a:cs typeface="Calibri"/>
                        </a:rPr>
                        <a:t>Held-out tests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E6E3DC"/>
                    </a:solidFill>
                  </a:tcPr>
                </a:tc>
              </a:tr>
              <a:tr h="384048">
                <a:tc>
                  <a:txBody>
                    <a:bodyPr/>
                    <a:lstStyle/>
                    <a:p>
                      <a:pPr marL="0" indent="0">
                        <a:buNone/>
                      </a:pPr>
                      <a:r>
                        <a:rPr sz="1400">
                          <a:solidFill>
                            <a:schemeClr val="tx2"/>
                          </a:solidFill>
                          <a:latin typeface="Calibri"/>
                          <a:ea typeface="Calibri"/>
                          <a:cs typeface="Calibri"/>
                        </a:rPr>
                        <a:t>Original code</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0 / 9</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384048">
                <a:tc>
                  <a:txBody>
                    <a:bodyPr/>
                    <a:lstStyle/>
                    <a:p>
                      <a:pPr marL="0" indent="0">
                        <a:buNone/>
                      </a:pPr>
                      <a:r>
                        <a:rPr sz="1400">
                          <a:solidFill>
                            <a:schemeClr val="tx2"/>
                          </a:solidFill>
                          <a:latin typeface="Calibri"/>
                          <a:ea typeface="Calibri"/>
                          <a:cs typeface="Calibri"/>
                        </a:rPr>
                        <a:t>Grok 4.6 High Fast*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27.8k*</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74*</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19*</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9 / 9</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384048">
                <a:tc>
                  <a:txBody>
                    <a:bodyPr/>
                    <a:lstStyle/>
                    <a:p>
                      <a:pPr marL="0" indent="0">
                        <a:buNone/>
                      </a:pPr>
                      <a:r>
                        <a:rPr sz="1400">
                          <a:solidFill>
                            <a:schemeClr val="tx2"/>
                          </a:solidFill>
                          <a:latin typeface="Calibri"/>
                          <a:ea typeface="Calibri"/>
                          <a:cs typeface="Calibri"/>
                        </a:rPr>
                        <a:t>Auto (CLI)</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81.1k†</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33.9</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14</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9 / 9</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r h="384048">
                <a:tc>
                  <a:txBody>
                    <a:bodyPr/>
                    <a:lstStyle/>
                    <a:p>
                      <a:pPr marL="0" indent="0">
                        <a:buNone/>
                      </a:pPr>
                      <a:r>
                        <a:rPr sz="1400">
                          <a:solidFill>
                            <a:schemeClr val="tx2"/>
                          </a:solidFill>
                          <a:latin typeface="Calibri"/>
                          <a:ea typeface="Calibri"/>
                          <a:cs typeface="Calibri"/>
                        </a:rPr>
                        <a:t>Other named models</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Blocked</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c>
                  <a:txBody>
                    <a:bodyPr/>
                    <a:lstStyle/>
                    <a:p>
                      <a:pPr marL="0" indent="0">
                        <a:buNone/>
                      </a:pPr>
                      <a:r>
                        <a:rPr sz="1400">
                          <a:solidFill>
                            <a:schemeClr val="tx2"/>
                          </a:solidFill>
                          <a:latin typeface="Calibri"/>
                          <a:ea typeface="Calibri"/>
                          <a:cs typeface="Calibri"/>
                        </a:rPr>
                        <a:t>Not run</a:t>
                      </a:r>
                      <a:endParaRPr sz="1400">
                        <a:latin typeface="Calibri"/>
                        <a:ea typeface="Calibri"/>
                        <a:cs typeface="Calibri"/>
                      </a:endParaRPr>
                    </a:p>
                  </a:txBody>
                  <a:tcPr marL="109728" marR="109728" marT="54864" marB="54864" anchor="ctr">
                    <a:lnL w="9525" cmpd="sng">
                      <a:solidFill>
                        <a:srgbClr val="DDD8CE"/>
                      </a:solidFill>
                      <a:prstDash val="solid"/>
                    </a:lnL>
                    <a:lnR w="9525" cmpd="sng">
                      <a:solidFill>
                        <a:srgbClr val="DDD8CE"/>
                      </a:solidFill>
                      <a:prstDash val="solid"/>
                    </a:lnR>
                    <a:lnT w="9525" cmpd="sng">
                      <a:solidFill>
                        <a:srgbClr val="DDD8CE"/>
                      </a:solidFill>
                      <a:prstDash val="solid"/>
                    </a:lnT>
                    <a:lnB w="9525" cmpd="sng">
                      <a:solidFill>
                        <a:srgbClr val="DDD8CE"/>
                      </a:solidFill>
                      <a:prstDash val="solid"/>
                    </a:lnB>
                    <a:solidFill>
                      <a:srgbClr val="FCFBF8"/>
                    </a:solidFill>
                  </a:tcPr>
                </a:tc>
              </a:tr>
            </a:tbl>
          </a:graphicData>
        </a:graphic>
      </p:graphicFrame>
      <p:sp>
        <p:nvSpPr>
          <p:cNvPr id="6" name="Screenshot placeholder">
            <a:extLst xmlns:a="http://schemas.openxmlformats.org/drawingml/2006/main">
              <a:ext uri="{FF2B5EF4-FFF2-40B4-BE49-F238E27FC236}">
                <a16:creationId xmlns:a16="http://schemas.microsoft.com/office/drawing/2014/main" id="{71D511A3-8248-48DE-BD40-306F2C238482}"/>
              </a:ext>
            </a:extLst>
          </p:cNvPr>
          <p:cNvSpPr>
            <a:spLocks xmlns:a="http://schemas.openxmlformats.org/drawingml/2006/main" noGrp="1"/>
          </p:cNvSpPr>
          <p:nvPr/>
        </p:nvSpPr>
        <p:spPr>
          <a:xfrm xmlns:a="http://schemas.openxmlformats.org/drawingml/2006/main">
            <a:off x="640080" y="4343400"/>
            <a:ext cx="10911535" cy="1600200"/>
          </a:xfrm>
          <a:prstGeom xmlns:a="http://schemas.openxmlformats.org/drawingml/2006/main" prst="roundRect">
            <a:avLst>
              <a:gd name="adj" fmla="val 6857"/>
            </a:avLst>
          </a:prstGeom>
          <a:noFill xmlns:a="http://schemas.openxmlformats.org/drawingml/2006/main"/>
          <a:ln xmlns:a="http://schemas.openxmlformats.org/drawingml/2006/main" w="0">
            <a:noFill/>
          </a:ln>
        </p:spPr>
      </p:sp>
      <p:sp>
        <p:nvSpPr>
          <p:cNvPr id="7" name="Text 4">
            <a:extLst xmlns:a="http://schemas.openxmlformats.org/drawingml/2006/main">
              <a:ext uri="{FF2B5EF4-FFF2-40B4-BE49-F238E27FC236}">
                <a16:creationId xmlns:a16="http://schemas.microsoft.com/office/drawing/2014/main" id="{ABF51FBF-2A95-49BA-8279-CD451CD6532F}"/>
              </a:ext>
            </a:extLst>
          </p:cNvPr>
          <p:cNvSpPr>
            <a:spLocks xmlns:a="http://schemas.openxmlformats.org/drawingml/2006/main" noGrp="1"/>
          </p:cNvSpPr>
          <p:nvPr/>
        </p:nvSpPr>
        <p:spPr>
          <a:xfrm xmlns:a="http://schemas.openxmlformats.org/drawingml/2006/main">
            <a:off x="640080" y="4238625"/>
            <a:ext cx="10911554" cy="33337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defPPr algn="l">
              <a:defRPr sz="1350">
                <a:solidFill>
                  <a:srgbClr val="3D4452"/>
                </a:solidFill>
                <a:latin typeface="Calibri"/>
                <a:ea typeface="Calibri"/>
                <a:cs typeface="Calibri"/>
              </a:defRPr>
            </a:defPPr>
            <a:lvl1pPr algn="l">
              <a:defRPr sz="1350">
                <a:solidFill>
                  <a:srgbClr val="3D4452"/>
                </a:solidFill>
                <a:latin typeface="Calibri"/>
                <a:ea typeface="Calibri"/>
                <a:cs typeface="Calibri"/>
              </a:defRPr>
            </a:lvl1pPr>
            <a:lvl2pPr algn="l">
              <a:defRPr sz="1350">
                <a:solidFill>
                  <a:srgbClr val="3D4452"/>
                </a:solidFill>
                <a:latin typeface="Calibri"/>
                <a:ea typeface="Calibri"/>
                <a:cs typeface="Calibri"/>
              </a:defRPr>
            </a:lvl2pPr>
            <a:lvl3pPr algn="l">
              <a:defRPr sz="1350">
                <a:solidFill>
                  <a:srgbClr val="3D4452"/>
                </a:solidFill>
                <a:latin typeface="Calibri"/>
                <a:ea typeface="Calibri"/>
                <a:cs typeface="Calibri"/>
              </a:defRPr>
            </a:lvl3pPr>
            <a:lvl4pPr algn="l">
              <a:defRPr sz="1350">
                <a:solidFill>
                  <a:srgbClr val="3D4452"/>
                </a:solidFill>
                <a:latin typeface="Calibri"/>
                <a:ea typeface="Calibri"/>
                <a:cs typeface="Calibri"/>
              </a:defRPr>
            </a:lvl4pPr>
            <a:lvl5pPr algn="l">
              <a:defRPr sz="1350">
                <a:solidFill>
                  <a:srgbClr val="3D4452"/>
                </a:solidFill>
                <a:latin typeface="Calibri"/>
                <a:ea typeface="Calibri"/>
                <a:cs typeface="Calibri"/>
              </a:defRPr>
            </a:lvl5pPr>
            <a:lvl6pPr algn="l">
              <a:defRPr sz="1350">
                <a:solidFill>
                  <a:srgbClr val="3D4452"/>
                </a:solidFill>
                <a:latin typeface="Calibri"/>
                <a:ea typeface="Calibri"/>
                <a:cs typeface="Calibri"/>
              </a:defRPr>
            </a:lvl6pPr>
            <a:lvl7pPr algn="l">
              <a:defRPr sz="1350">
                <a:solidFill>
                  <a:srgbClr val="3D4452"/>
                </a:solidFill>
                <a:latin typeface="Calibri"/>
                <a:ea typeface="Calibri"/>
                <a:cs typeface="Calibri"/>
              </a:defRPr>
            </a:lvl7pPr>
            <a:lvl8pPr algn="l">
              <a:defRPr sz="1350">
                <a:solidFill>
                  <a:srgbClr val="3D4452"/>
                </a:solidFill>
                <a:latin typeface="Calibri"/>
                <a:ea typeface="Calibri"/>
                <a:cs typeface="Calibri"/>
              </a:defRPr>
            </a:lvl8pPr>
            <a:lvl9pPr algn="l">
              <a:defRPr sz="1350">
                <a:solidFill>
                  <a:srgbClr val="3D4452"/>
                </a:solidFill>
                <a:latin typeface="Calibri"/>
                <a:ea typeface="Calibri"/>
                <a:cs typeface="Calibri"/>
              </a:defRPr>
            </a:lvl9pPr>
          </a:lstStyle>
          <a:p xmlns:a="http://schemas.openxmlformats.org/drawingml/2006/main">
            <a:pPr marL="0" indent="0" algn="l">
              <a:buNone/>
              <a:defRPr sz="1350">
                <a:solidFill>
                  <a:srgbClr val="3D4452"/>
                </a:solidFill>
                <a:latin typeface="Calibri"/>
                <a:ea typeface="Calibri"/>
                <a:cs typeface="Calibri"/>
              </a:defRPr>
            </a:pPr>
            <a:r>
              <a:rPr sz="1350">
                <a:solidFill>
                  <a:srgbClr val="3D4452"/>
                </a:solidFill>
                <a:latin typeface="Calibri"/>
                <a:ea typeface="Calibri"/>
                <a:cs typeface="Calibri"/>
              </a:rPr>
              <a:t>* Archived editor run; Auto is a new CLI run. Different modes prevent a model speed ranking.</a:t>
            </a:r>
            <a:endParaRPr sz="1600"/>
          </a:p>
        </p:txBody>
      </p:sp>
      <p:sp>
        <p:nvSpPr>
          <p:cNvPr id="26" name="Text 5">
            <a:extLst xmlns:a="http://schemas.openxmlformats.org/drawingml/2006/main">
              <a:ext uri="{FF2B5EF4-FFF2-40B4-BE49-F238E27FC236}">
                <a16:creationId xmlns:a16="http://schemas.microsoft.com/office/drawing/2014/main" id="{8EDCA1B7-F118-486F-A321-A2FC21254942}"/>
              </a:ext>
            </a:extLst>
          </p:cNvPr>
          <p:cNvSpPr>
            <a:spLocks xmlns:a="http://schemas.openxmlformats.org/drawingml/2006/main" noGrp="1"/>
          </p:cNvSpPr>
          <p:nvPr/>
        </p:nvSpPr>
        <p:spPr>
          <a:xfrm xmlns:a="http://schemas.openxmlformats.org/drawingml/2006/main">
            <a:off x="640080" y="6200775"/>
            <a:ext cx="10332720" cy="2286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defPPr algn="l">
              <a:defRPr sz="1100">
                <a:solidFill>
                  <a:srgbClr val="6B7280"/>
                </a:solidFill>
                <a:latin typeface="Calibri"/>
                <a:ea typeface="Calibri"/>
                <a:cs typeface="Calibri"/>
              </a:defRPr>
            </a:defPPr>
            <a:lvl1pPr algn="l">
              <a:defRPr sz="1100">
                <a:solidFill>
                  <a:srgbClr val="6B7280"/>
                </a:solidFill>
                <a:latin typeface="Calibri"/>
                <a:ea typeface="Calibri"/>
                <a:cs typeface="Calibri"/>
              </a:defRPr>
            </a:lvl1pPr>
            <a:lvl2pPr algn="l">
              <a:defRPr sz="1100">
                <a:solidFill>
                  <a:srgbClr val="6B7280"/>
                </a:solidFill>
                <a:latin typeface="Calibri"/>
                <a:ea typeface="Calibri"/>
                <a:cs typeface="Calibri"/>
              </a:defRPr>
            </a:lvl2pPr>
            <a:lvl3pPr algn="l">
              <a:defRPr sz="1100">
                <a:solidFill>
                  <a:srgbClr val="6B7280"/>
                </a:solidFill>
                <a:latin typeface="Calibri"/>
                <a:ea typeface="Calibri"/>
                <a:cs typeface="Calibri"/>
              </a:defRPr>
            </a:lvl3pPr>
            <a:lvl4pPr algn="l">
              <a:defRPr sz="1100">
                <a:solidFill>
                  <a:srgbClr val="6B7280"/>
                </a:solidFill>
                <a:latin typeface="Calibri"/>
                <a:ea typeface="Calibri"/>
                <a:cs typeface="Calibri"/>
              </a:defRPr>
            </a:lvl4pPr>
            <a:lvl5pPr algn="l">
              <a:defRPr sz="1100">
                <a:solidFill>
                  <a:srgbClr val="6B7280"/>
                </a:solidFill>
                <a:latin typeface="Calibri"/>
                <a:ea typeface="Calibri"/>
                <a:cs typeface="Calibri"/>
              </a:defRPr>
            </a:lvl5pPr>
            <a:lvl6pPr algn="l">
              <a:defRPr sz="1100">
                <a:solidFill>
                  <a:srgbClr val="6B7280"/>
                </a:solidFill>
                <a:latin typeface="Calibri"/>
                <a:ea typeface="Calibri"/>
                <a:cs typeface="Calibri"/>
              </a:defRPr>
            </a:lvl6pPr>
            <a:lvl7pPr algn="l">
              <a:defRPr sz="1100">
                <a:solidFill>
                  <a:srgbClr val="6B7280"/>
                </a:solidFill>
                <a:latin typeface="Calibri"/>
                <a:ea typeface="Calibri"/>
                <a:cs typeface="Calibri"/>
              </a:defRPr>
            </a:lvl7pPr>
            <a:lvl8pPr algn="l">
              <a:defRPr sz="1100">
                <a:solidFill>
                  <a:srgbClr val="6B7280"/>
                </a:solidFill>
                <a:latin typeface="Calibri"/>
                <a:ea typeface="Calibri"/>
                <a:cs typeface="Calibri"/>
              </a:defRPr>
            </a:lvl8pPr>
            <a:lvl9pPr algn="l">
              <a:defRPr sz="1100">
                <a:solidFill>
                  <a:srgbClr val="6B7280"/>
                </a:solidFill>
                <a:latin typeface="Calibri"/>
                <a:ea typeface="Calibri"/>
                <a:cs typeface="Calibri"/>
              </a:defRPr>
            </a:lvl9pPr>
          </a:lstStyle>
          <a:p xmlns:a="http://schemas.openxmlformats.org/drawingml/2006/main">
            <a:pPr marL="0" indent="0" algn="l">
              <a:buNone/>
              <a:defRPr sz="1100">
                <a:solidFill>
                  <a:srgbClr val="6B7280"/>
                </a:solidFill>
                <a:latin typeface="Calibri"/>
                <a:ea typeface="Calibri"/>
                <a:cs typeface="Calibri"/>
              </a:defRPr>
            </a:pPr>
            <a:r>
              <a:rPr sz="1100">
                <a:solidFill>
                  <a:srgbClr val="6B7280"/>
                </a:solidFill>
                <a:latin typeface="Calibri"/>
                <a:ea typeface="Calibri"/>
                <a:cs typeface="Calibri"/>
              </a:rPr>
              <a:t>† Includes cached tokens. Grok breakdown and dollar costs unavailable. Evidence: rendered CLI logs.</a:t>
            </a:r>
            <a:endParaRPr sz="1000"/>
          </a:p>
        </p:txBody>
      </p:sp>
      <p:sp>
        <p:nvSpPr>
          <p:cNvPr id="25" name="Slide Number Placeholder 0">
            <a:extLst xmlns:a="http://schemas.openxmlformats.org/drawingml/2006/main">
              <a:ext uri="{FF2B5EF4-FFF2-40B4-BE49-F238E27FC236}">
                <a16:creationId xmlns:a16="http://schemas.microsoft.com/office/drawing/2014/main" id="{CE3AD1F4-3518-4C23-9D85-262934D7D512}"/>
              </a:ext>
            </a:extLst>
          </p:cNvPr>
          <p:cNvSpPr>
            <a:spLocks xmlns:a="http://schemas.openxmlformats.org/drawingml/2006/main" noGrp="1"/>
          </p:cNvSpPr>
          <p:nvPr>
            <p:ph type="sldNum" idx="4294967295"/>
          </p:nvPr>
        </p:nvSpPr>
        <p:spPr>
          <a:xfrm xmlns:a="http://schemas.openxmlformats.org/drawingml/2006/main">
            <a:off x="11109960" y="6382512"/>
            <a:ext cx="438912" cy="274320"/>
          </a:xfrm>
          <a:prstGeom xmlns:a="http://schemas.openxmlformats.org/drawingml/2006/main" prst="rect">
            <a:avLst/>
          </a:prstGeom>
        </p:spPr>
        <p:txBody>
          <a:bodyPr xmlns:a="http://schemas.openxmlformats.org/drawingml/2006/main"/>
          <a:lstStyle xmlns:a="http://schemas.openxmlformats.org/drawingml/2006/main">
            <a:lvl1pPr>
              <a:buNone/>
              <a:defRPr sz="1000">
                <a:solidFill>
                  <a:schemeClr val="accent4"/>
                </a:solidFill>
              </a:defRPr>
            </a:lvl1pPr>
          </a:lstStyle>
          <a:p xmlns:a="http://schemas.openxmlformats.org/drawingml/2006/main">
            <a:pPr algn="r">
              <a:buNone/>
            </a:pPr>
            <a:fld id="{F7021451-1387-4CA6-816F-3879F97B5CBC}" type="slidenum">
              <a:rPr b="0"/>
              <a:t>7</a:t>
            </a:fld>
            <a:endParaRPr/>
          </a:p>
        </p:txBody>
      </p:sp>
      <p:pic>
        <p:nvPicPr>
          <p:cNvPr id="27" name="">
            <a:extLst xmlns:a="http://schemas.openxmlformats.org/drawingml/2006/main">
              <a:ext uri="{FF2B5EF4-FFF2-40B4-BE49-F238E27FC236}">
                <a16:creationId xmlns:a16="http://schemas.microsoft.com/office/drawing/2014/main" id="{D038F5AD-13D3-4193-B377-FDF1F1728858}"/>
              </a:ext>
            </a:extLst>
          </p:cNvPr>
          <p:cNvPicPr>
            <a:picLocks xmlns:a="http://schemas.openxmlformats.org/drawingml/2006/main" noChangeAspect="1"/>
          </p:cNvPicPr>
          <p:nvPr/>
        </p:nvPicPr>
        <p:blipFill>
          <a:blip xmlns:r="http://schemas.openxmlformats.org/officeDocument/2006/relationships" xmlns:a="http://schemas.openxmlformats.org/drawingml/2006/main" r:embed="Rc291cb05f5844c33"/>
          <a:stretch xmlns:a="http://schemas.openxmlformats.org/drawingml/2006/main"/>
        </p:blipFill>
        <p:spPr>
          <a:xfrm xmlns:a="http://schemas.openxmlformats.org/drawingml/2006/main">
            <a:off x="640080" y="4667250"/>
            <a:ext cx="2590800" cy="1457325"/>
          </a:xfrm>
          <a:prstGeom xmlns:a="http://schemas.openxmlformats.org/drawingml/2006/main" prst="rect">
            <a:avLst/>
          </a:prstGeom>
        </p:spPr>
      </p:pic>
      <p:pic>
        <p:nvPicPr>
          <p:cNvPr id="28" name="">
            <a:extLst xmlns:a="http://schemas.openxmlformats.org/drawingml/2006/main">
              <a:ext uri="{FF2B5EF4-FFF2-40B4-BE49-F238E27FC236}">
                <a16:creationId xmlns:a16="http://schemas.microsoft.com/office/drawing/2014/main" id="{25549442-133B-4EA5-887A-3A5286C13BEE}"/>
              </a:ext>
            </a:extLst>
          </p:cNvPr>
          <p:cNvPicPr>
            <a:picLocks xmlns:a="http://schemas.openxmlformats.org/drawingml/2006/main" noChangeAspect="1"/>
          </p:cNvPicPr>
          <p:nvPr/>
        </p:nvPicPr>
        <p:blipFill>
          <a:blip xmlns:r="http://schemas.openxmlformats.org/officeDocument/2006/relationships" xmlns:a="http://schemas.openxmlformats.org/drawingml/2006/main" r:embed="R47ec017bbd984b30"/>
          <a:stretch xmlns:a="http://schemas.openxmlformats.org/drawingml/2006/main"/>
        </p:blipFill>
        <p:spPr>
          <a:xfrm xmlns:a="http://schemas.openxmlformats.org/drawingml/2006/main">
            <a:off x="3411855" y="4667250"/>
            <a:ext cx="2590800" cy="1457325"/>
          </a:xfrm>
          <a:prstGeom xmlns:a="http://schemas.openxmlformats.org/drawingml/2006/main" prst="rect">
            <a:avLst/>
          </a:prstGeom>
        </p:spPr>
      </p:pic>
      <p:pic>
        <p:nvPicPr>
          <p:cNvPr id="29" name="">
            <a:extLst xmlns:a="http://schemas.openxmlformats.org/drawingml/2006/main">
              <a:ext uri="{FF2B5EF4-FFF2-40B4-BE49-F238E27FC236}">
                <a16:creationId xmlns:a16="http://schemas.microsoft.com/office/drawing/2014/main" id="{8E65C8FD-56B8-44A8-B8B5-8FB0DBF447FA}"/>
              </a:ext>
            </a:extLst>
          </p:cNvPr>
          <p:cNvPicPr>
            <a:picLocks xmlns:a="http://schemas.openxmlformats.org/drawingml/2006/main" noChangeAspect="1"/>
          </p:cNvPicPr>
          <p:nvPr/>
        </p:nvPicPr>
        <p:blipFill>
          <a:blip xmlns:r="http://schemas.openxmlformats.org/officeDocument/2006/relationships" xmlns:a="http://schemas.openxmlformats.org/drawingml/2006/main" r:embed="R802329c601ae4b3d"/>
          <a:stretch xmlns:a="http://schemas.openxmlformats.org/drawingml/2006/main"/>
        </p:blipFill>
        <p:spPr>
          <a:xfrm xmlns:a="http://schemas.openxmlformats.org/drawingml/2006/main">
            <a:off x="6183630" y="4667250"/>
            <a:ext cx="2590800" cy="1457325"/>
          </a:xfrm>
          <a:prstGeom xmlns:a="http://schemas.openxmlformats.org/drawingml/2006/main" prst="rect">
            <a:avLst/>
          </a:prstGeom>
        </p:spPr>
      </p:pic>
      <p:pic>
        <p:nvPicPr>
          <p:cNvPr id="30" name="">
            <a:extLst xmlns:a="http://schemas.openxmlformats.org/drawingml/2006/main">
              <a:ext uri="{FF2B5EF4-FFF2-40B4-BE49-F238E27FC236}">
                <a16:creationId xmlns:a16="http://schemas.microsoft.com/office/drawing/2014/main" id="{0153778C-8AC1-435D-8AA4-1FE0C8B21C4C}"/>
              </a:ext>
            </a:extLst>
          </p:cNvPr>
          <p:cNvPicPr>
            <a:picLocks xmlns:a="http://schemas.openxmlformats.org/drawingml/2006/main" noChangeAspect="1"/>
          </p:cNvPicPr>
          <p:nvPr/>
        </p:nvPicPr>
        <p:blipFill>
          <a:blip xmlns:r="http://schemas.openxmlformats.org/officeDocument/2006/relationships" xmlns:a="http://schemas.openxmlformats.org/drawingml/2006/main" r:embed="R23c99d21ad2e4f56"/>
          <a:stretch xmlns:a="http://schemas.openxmlformats.org/drawingml/2006/main"/>
        </p:blipFill>
        <p:spPr>
          <a:xfrm xmlns:a="http://schemas.openxmlformats.org/drawingml/2006/main">
            <a:off x="8955405" y="4667250"/>
            <a:ext cx="2590800" cy="1457325"/>
          </a:xfrm>
          <a:prstGeom xmlns:a="http://schemas.openxmlformats.org/drawingml/2006/main" prst="rect">
            <a:avLst/>
          </a:prstGeom>
        </p:spPr>
      </p:pic>
    </p:spTree>
    <p:extLst>
      <p:ext uri="{BB962C8B-B14F-4D97-AF65-F5344CB8AC3E}">
        <p14:creationId xmlns:p14="http://schemas.microsoft.com/office/powerpoint/2010/main" val="14945352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E1E3BFB-CA3F-4386-9DAF-37BA7420C168}"/>
              </a:ext>
            </a:extLst>
          </p:cNvPr>
          <p:cNvSpPr>
            <a:spLocks xmlns:a="http://schemas.openxmlformats.org/drawingml/2006/main" noGrp="1"/>
          </p:cNvSpPr>
          <p:nvPr>
            <p:ph type="body" idx="100" hasCustomPrompt="1"/>
          </p:nvPr>
        </p:nvSpPr>
        <p:spPr>
          <a:xfrm xmlns:a="http://schemas.openxmlformats.org/drawingml/2006/main">
            <a:off x="640080" y="548640"/>
            <a:ext cx="10911535" cy="29260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1200" b="1" spc="200">
                <a:solidFill>
                  <a:schemeClr val="accent3"/>
                </a:solidFill>
              </a:rPr>
              <a:t>VERDICT · CANTING</a:t>
            </a:r>
            <a:endParaRPr sz="1200"/>
          </a:p>
        </p:txBody>
      </p:sp>
      <p:sp>
        <p:nvSpPr>
          <p:cNvPr id="3" name="Text 0">
            <a:extLst xmlns:a="http://schemas.openxmlformats.org/drawingml/2006/main">
              <a:ext uri="{FF2B5EF4-FFF2-40B4-BE49-F238E27FC236}">
                <a16:creationId xmlns:a16="http://schemas.microsoft.com/office/drawing/2014/main" id="{02E290C0-7E34-41AF-B386-0AE701015C6B}"/>
              </a:ext>
            </a:extLst>
          </p:cNvPr>
          <p:cNvSpPr>
            <a:spLocks xmlns:a="http://schemas.openxmlformats.org/drawingml/2006/main" noGrp="1"/>
          </p:cNvSpPr>
          <p:nvPr>
            <p:ph type="title" idx="101" hasCustomPrompt="1"/>
          </p:nvPr>
        </p:nvSpPr>
        <p:spPr>
          <a:xfrm xmlns:a="http://schemas.openxmlformats.org/drawingml/2006/main">
            <a:off x="640080" y="1737360"/>
            <a:ext cx="10911535" cy="11887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4000" b="1">
                <a:solidFill>
                  <a:schemeClr val="bg2"/>
                </a:solidFill>
              </a:rPr>
              <a:t>What our measurements establish</a:t>
            </a:r>
            <a:endParaRPr sz="4000"/>
          </a:p>
        </p:txBody>
      </p:sp>
      <p:sp>
        <p:nvSpPr>
          <p:cNvPr id="4" name="Verdict Explicit">
            <a:extLst xmlns:a="http://schemas.openxmlformats.org/drawingml/2006/main">
              <a:ext uri="{FF2B5EF4-FFF2-40B4-BE49-F238E27FC236}">
                <a16:creationId xmlns:a16="http://schemas.microsoft.com/office/drawing/2014/main" id="{7D31BF21-7A1E-4748-A90F-20BE66BE9468}"/>
              </a:ext>
            </a:extLst>
          </p:cNvPr>
          <p:cNvSpPr>
            <a:spLocks xmlns:a="http://schemas.openxmlformats.org/drawingml/2006/main" noGrp="1"/>
          </p:cNvSpPr>
          <p:nvPr/>
        </p:nvSpPr>
        <p:spPr>
          <a:xfrm xmlns:a="http://schemas.openxmlformats.org/drawingml/2006/main">
            <a:off x="640080" y="3246120"/>
            <a:ext cx="3484778" cy="1508760"/>
          </a:xfrm>
          <a:prstGeom xmlns:a="http://schemas.openxmlformats.org/drawingml/2006/main" prst="roundRect">
            <a:avLst>
              <a:gd name="adj" fmla="val 7273"/>
            </a:avLst>
          </a:prstGeom>
          <a:solidFill xmlns:a="http://schemas.openxmlformats.org/drawingml/2006/main">
            <a:srgbClr val="232833"/>
          </a:solidFill>
          <a:ln xmlns:a="http://schemas.openxmlformats.org/drawingml/2006/main" w="12700">
            <a:solidFill>
              <a:srgbClr val="232833"/>
            </a:solidFill>
            <a:prstDash val="solid"/>
          </a:ln>
        </p:spPr>
      </p:sp>
      <p:sp>
        <p:nvSpPr>
          <p:cNvPr id="5" name="Text 3">
            <a:extLst xmlns:a="http://schemas.openxmlformats.org/drawingml/2006/main">
              <a:ext uri="{FF2B5EF4-FFF2-40B4-BE49-F238E27FC236}">
                <a16:creationId xmlns:a16="http://schemas.microsoft.com/office/drawing/2014/main" id="{E577F186-5D43-4BFC-AA92-733FB957A285}"/>
              </a:ext>
            </a:extLst>
          </p:cNvPr>
          <p:cNvSpPr>
            <a:spLocks xmlns:a="http://schemas.openxmlformats.org/drawingml/2006/main" noGrp="1"/>
          </p:cNvSpPr>
          <p:nvPr/>
        </p:nvSpPr>
        <p:spPr>
          <a:xfrm xmlns:a="http://schemas.openxmlformats.org/drawingml/2006/main">
            <a:off x="914400" y="3429000"/>
            <a:ext cx="293613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000" b="1">
                <a:solidFill>
                  <a:schemeClr val="accent3"/>
                </a:solidFill>
              </a:rPr>
              <a:t>Explicit context</a:t>
            </a:r>
            <a:endParaRPr sz="2000"/>
          </a:p>
        </p:txBody>
      </p:sp>
      <p:sp>
        <p:nvSpPr>
          <p:cNvPr id="6" name="Text 4">
            <a:extLst xmlns:a="http://schemas.openxmlformats.org/drawingml/2006/main">
              <a:ext uri="{FF2B5EF4-FFF2-40B4-BE49-F238E27FC236}">
                <a16:creationId xmlns:a16="http://schemas.microsoft.com/office/drawing/2014/main" id="{312FFACD-406A-452F-9C54-3B2383797420}"/>
              </a:ext>
            </a:extLst>
          </p:cNvPr>
          <p:cNvSpPr>
            <a:spLocks xmlns:a="http://schemas.openxmlformats.org/drawingml/2006/main" noGrp="1"/>
          </p:cNvSpPr>
          <p:nvPr/>
        </p:nvSpPr>
        <p:spPr>
          <a:xfrm xmlns:a="http://schemas.openxmlformats.org/drawingml/2006/main">
            <a:off x="914400" y="3886200"/>
            <a:ext cx="2936138"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a:solidFill>
                  <a:schemeClr val="accent6"/>
                </a:solidFill>
              </a:rPr>
              <a:t>Search and file reads supply code context</a:t>
            </a:r>
            <a:endParaRPr sz="1500"/>
          </a:p>
        </p:txBody>
      </p:sp>
      <p:sp>
        <p:nvSpPr>
          <p:cNvPr id="7" name="Verdict Latent but owned">
            <a:extLst xmlns:a="http://schemas.openxmlformats.org/drawingml/2006/main">
              <a:ext uri="{FF2B5EF4-FFF2-40B4-BE49-F238E27FC236}">
                <a16:creationId xmlns:a16="http://schemas.microsoft.com/office/drawing/2014/main" id="{F35E8708-B107-4435-BF2C-9C637D024545}"/>
              </a:ext>
            </a:extLst>
          </p:cNvPr>
          <p:cNvSpPr>
            <a:spLocks xmlns:a="http://schemas.openxmlformats.org/drawingml/2006/main" noGrp="1"/>
          </p:cNvSpPr>
          <p:nvPr/>
        </p:nvSpPr>
        <p:spPr>
          <a:xfrm xmlns:a="http://schemas.openxmlformats.org/drawingml/2006/main">
            <a:off x="4353458" y="3246120"/>
            <a:ext cx="3484778" cy="1508760"/>
          </a:xfrm>
          <a:prstGeom xmlns:a="http://schemas.openxmlformats.org/drawingml/2006/main" prst="roundRect">
            <a:avLst>
              <a:gd name="adj" fmla="val 7273"/>
            </a:avLst>
          </a:prstGeom>
          <a:solidFill xmlns:a="http://schemas.openxmlformats.org/drawingml/2006/main">
            <a:srgbClr val="232833"/>
          </a:solidFill>
          <a:ln xmlns:a="http://schemas.openxmlformats.org/drawingml/2006/main" w="12700">
            <a:solidFill>
              <a:srgbClr val="232833"/>
            </a:solidFill>
            <a:prstDash val="solid"/>
          </a:ln>
        </p:spPr>
      </p:sp>
      <p:sp>
        <p:nvSpPr>
          <p:cNvPr id="8" name="Text 6">
            <a:extLst xmlns:a="http://schemas.openxmlformats.org/drawingml/2006/main">
              <a:ext uri="{FF2B5EF4-FFF2-40B4-BE49-F238E27FC236}">
                <a16:creationId xmlns:a16="http://schemas.microsoft.com/office/drawing/2014/main" id="{82C68874-0954-42DB-ADB5-A8794CF344DD}"/>
              </a:ext>
            </a:extLst>
          </p:cNvPr>
          <p:cNvSpPr>
            <a:spLocks xmlns:a="http://schemas.openxmlformats.org/drawingml/2006/main" noGrp="1"/>
          </p:cNvSpPr>
          <p:nvPr/>
        </p:nvSpPr>
        <p:spPr>
          <a:xfrm xmlns:a="http://schemas.openxmlformats.org/drawingml/2006/main">
            <a:off x="4627778" y="3429000"/>
            <a:ext cx="293613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000" b="1">
                <a:solidFill>
                  <a:schemeClr val="accent3"/>
                </a:solidFill>
              </a:rPr>
              <a:t>Latent decisions</a:t>
            </a:r>
            <a:endParaRPr sz="2000"/>
          </a:p>
        </p:txBody>
      </p:sp>
      <p:sp>
        <p:nvSpPr>
          <p:cNvPr id="9" name="Text 7">
            <a:extLst xmlns:a="http://schemas.openxmlformats.org/drawingml/2006/main">
              <a:ext uri="{FF2B5EF4-FFF2-40B4-BE49-F238E27FC236}">
                <a16:creationId xmlns:a16="http://schemas.microsoft.com/office/drawing/2014/main" id="{78F4F054-4D68-459C-A4C3-8D6D533B1D92}"/>
              </a:ext>
            </a:extLst>
          </p:cNvPr>
          <p:cNvSpPr>
            <a:spLocks xmlns:a="http://schemas.openxmlformats.org/drawingml/2006/main" noGrp="1"/>
          </p:cNvSpPr>
          <p:nvPr/>
        </p:nvSpPr>
        <p:spPr>
          <a:xfrm xmlns:a="http://schemas.openxmlformats.org/drawingml/2006/main">
            <a:off x="4627778" y="3886200"/>
            <a:ext cx="2936138"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a:solidFill>
                  <a:schemeClr val="accent6"/>
                </a:solidFill>
              </a:rPr>
              <a:t>Auto selects tool actions; its model identity is undisclosed</a:t>
            </a:r>
            <a:endParaRPr sz="1500"/>
          </a:p>
        </p:txBody>
      </p:sp>
      <p:sp>
        <p:nvSpPr>
          <p:cNvPr id="10" name="Verdict Missing">
            <a:extLst xmlns:a="http://schemas.openxmlformats.org/drawingml/2006/main">
              <a:ext uri="{FF2B5EF4-FFF2-40B4-BE49-F238E27FC236}">
                <a16:creationId xmlns:a16="http://schemas.microsoft.com/office/drawing/2014/main" id="{2E7D34E1-DC97-45CA-B978-255ACD836AEA}"/>
              </a:ext>
            </a:extLst>
          </p:cNvPr>
          <p:cNvSpPr>
            <a:spLocks xmlns:a="http://schemas.openxmlformats.org/drawingml/2006/main" noGrp="1"/>
          </p:cNvSpPr>
          <p:nvPr/>
        </p:nvSpPr>
        <p:spPr>
          <a:xfrm xmlns:a="http://schemas.openxmlformats.org/drawingml/2006/main">
            <a:off x="8066837" y="3246120"/>
            <a:ext cx="3484778" cy="1508760"/>
          </a:xfrm>
          <a:prstGeom xmlns:a="http://schemas.openxmlformats.org/drawingml/2006/main" prst="roundRect">
            <a:avLst>
              <a:gd name="adj" fmla="val 7273"/>
            </a:avLst>
          </a:prstGeom>
          <a:solidFill xmlns:a="http://schemas.openxmlformats.org/drawingml/2006/main">
            <a:srgbClr val="232833"/>
          </a:solidFill>
          <a:ln xmlns:a="http://schemas.openxmlformats.org/drawingml/2006/main" w="12700">
            <a:solidFill>
              <a:srgbClr val="232833"/>
            </a:solidFill>
            <a:prstDash val="solid"/>
          </a:ln>
        </p:spPr>
      </p:sp>
      <p:sp>
        <p:nvSpPr>
          <p:cNvPr id="11" name="Text 9">
            <a:extLst xmlns:a="http://schemas.openxmlformats.org/drawingml/2006/main">
              <a:ext uri="{FF2B5EF4-FFF2-40B4-BE49-F238E27FC236}">
                <a16:creationId xmlns:a16="http://schemas.microsoft.com/office/drawing/2014/main" id="{9B3BF801-6F55-462C-8A62-1FDF80A49BBD}"/>
              </a:ext>
            </a:extLst>
          </p:cNvPr>
          <p:cNvSpPr>
            <a:spLocks xmlns:a="http://schemas.openxmlformats.org/drawingml/2006/main" noGrp="1"/>
          </p:cNvSpPr>
          <p:nvPr/>
        </p:nvSpPr>
        <p:spPr>
          <a:xfrm xmlns:a="http://schemas.openxmlformats.org/drawingml/2006/main">
            <a:off x="8341157" y="3429000"/>
            <a:ext cx="2936138" cy="4114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2000" b="1">
                <a:solidFill>
                  <a:schemeClr val="accent3"/>
                </a:solidFill>
              </a:rPr>
              <a:t>Not measured</a:t>
            </a:r>
            <a:endParaRPr sz="2000"/>
          </a:p>
        </p:txBody>
      </p:sp>
      <p:sp>
        <p:nvSpPr>
          <p:cNvPr id="12" name="Text 10">
            <a:extLst xmlns:a="http://schemas.openxmlformats.org/drawingml/2006/main">
              <a:ext uri="{FF2B5EF4-FFF2-40B4-BE49-F238E27FC236}">
                <a16:creationId xmlns:a16="http://schemas.microsoft.com/office/drawing/2014/main" id="{C215A0EF-D065-40B4-AFD3-015BC4CA0467}"/>
              </a:ext>
            </a:extLst>
          </p:cNvPr>
          <p:cNvSpPr>
            <a:spLocks xmlns:a="http://schemas.openxmlformats.org/drawingml/2006/main" noGrp="1"/>
          </p:cNvSpPr>
          <p:nvPr/>
        </p:nvSpPr>
        <p:spPr>
          <a:xfrm xmlns:a="http://schemas.openxmlformats.org/drawingml/2006/main">
            <a:off x="8341157" y="3886200"/>
            <a:ext cx="2936138" cy="7772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500">
                <a:solidFill>
                  <a:schemeClr val="accent6"/>
                </a:solidFill>
              </a:rPr>
              <a:t>Long-term code retention and general task success</a:t>
            </a:r>
            <a:endParaRPr sz="1500"/>
          </a:p>
        </p:txBody>
      </p:sp>
      <p:sp>
        <p:nvSpPr>
          <p:cNvPr id="13" name="Text 11">
            <a:extLst xmlns:a="http://schemas.openxmlformats.org/drawingml/2006/main">
              <a:ext uri="{FF2B5EF4-FFF2-40B4-BE49-F238E27FC236}">
                <a16:creationId xmlns:a16="http://schemas.microsoft.com/office/drawing/2014/main" id="{7D3B3024-009E-41A6-A278-98452A647457}"/>
              </a:ext>
            </a:extLst>
          </p:cNvPr>
          <p:cNvSpPr>
            <a:spLocks xmlns:a="http://schemas.openxmlformats.org/drawingml/2006/main" noGrp="1"/>
          </p:cNvSpPr>
          <p:nvPr/>
        </p:nvSpPr>
        <p:spPr>
          <a:xfrm xmlns:a="http://schemas.openxmlformats.org/drawingml/2006/main">
            <a:off x="640080" y="5166360"/>
            <a:ext cx="10911554" cy="78105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defPPr>
              <a:defRPr sz="1725" i="0">
                <a:solidFill>
                  <a:srgbClr val="C9CED8"/>
                </a:solidFill>
                <a:latin typeface="Calibri"/>
                <a:ea typeface="Calibri"/>
                <a:cs typeface="Calibri"/>
              </a:defRPr>
            </a:defPPr>
            <a:lvl1pPr>
              <a:defRPr sz="1725" i="0">
                <a:solidFill>
                  <a:srgbClr val="C9CED8"/>
                </a:solidFill>
                <a:latin typeface="Calibri"/>
                <a:ea typeface="Calibri"/>
                <a:cs typeface="Calibri"/>
              </a:defRPr>
            </a:lvl1pPr>
            <a:lvl2pPr>
              <a:defRPr sz="1725" i="0">
                <a:solidFill>
                  <a:srgbClr val="C9CED8"/>
                </a:solidFill>
                <a:latin typeface="Calibri"/>
                <a:ea typeface="Calibri"/>
                <a:cs typeface="Calibri"/>
              </a:defRPr>
            </a:lvl2pPr>
            <a:lvl3pPr>
              <a:defRPr sz="1725" i="0">
                <a:solidFill>
                  <a:srgbClr val="C9CED8"/>
                </a:solidFill>
                <a:latin typeface="Calibri"/>
                <a:ea typeface="Calibri"/>
                <a:cs typeface="Calibri"/>
              </a:defRPr>
            </a:lvl3pPr>
            <a:lvl4pPr>
              <a:defRPr sz="1725" i="0">
                <a:solidFill>
                  <a:srgbClr val="C9CED8"/>
                </a:solidFill>
                <a:latin typeface="Calibri"/>
                <a:ea typeface="Calibri"/>
                <a:cs typeface="Calibri"/>
              </a:defRPr>
            </a:lvl4pPr>
            <a:lvl5pPr>
              <a:defRPr sz="1725" i="0">
                <a:solidFill>
                  <a:srgbClr val="C9CED8"/>
                </a:solidFill>
                <a:latin typeface="Calibri"/>
                <a:ea typeface="Calibri"/>
                <a:cs typeface="Calibri"/>
              </a:defRPr>
            </a:lvl5pPr>
            <a:lvl6pPr>
              <a:defRPr sz="1725" i="0">
                <a:solidFill>
                  <a:srgbClr val="C9CED8"/>
                </a:solidFill>
                <a:latin typeface="Calibri"/>
                <a:ea typeface="Calibri"/>
                <a:cs typeface="Calibri"/>
              </a:defRPr>
            </a:lvl6pPr>
            <a:lvl7pPr>
              <a:defRPr sz="1725" i="0">
                <a:solidFill>
                  <a:srgbClr val="C9CED8"/>
                </a:solidFill>
                <a:latin typeface="Calibri"/>
                <a:ea typeface="Calibri"/>
                <a:cs typeface="Calibri"/>
              </a:defRPr>
            </a:lvl7pPr>
            <a:lvl8pPr>
              <a:defRPr sz="1725" i="0">
                <a:solidFill>
                  <a:srgbClr val="C9CED8"/>
                </a:solidFill>
                <a:latin typeface="Calibri"/>
                <a:ea typeface="Calibri"/>
                <a:cs typeface="Calibri"/>
              </a:defRPr>
            </a:lvl8pPr>
            <a:lvl9pPr>
              <a:defRPr sz="1725" i="0">
                <a:solidFill>
                  <a:srgbClr val="C9CED8"/>
                </a:solidFill>
                <a:latin typeface="Calibri"/>
                <a:ea typeface="Calibri"/>
                <a:cs typeface="Calibri"/>
              </a:defRPr>
            </a:lvl9pPr>
          </a:lstStyle>
          <a:p xmlns:a="http://schemas.openxmlformats.org/drawingml/2006/main">
            <a:pPr marL="0" indent="0">
              <a:buNone/>
              <a:defRPr sz="1725" i="0">
                <a:solidFill>
                  <a:srgbClr val="C9CED8"/>
                </a:solidFill>
                <a:latin typeface="Calibri"/>
                <a:ea typeface="Calibri"/>
                <a:cs typeface="Calibri"/>
              </a:defRPr>
            </a:pPr>
            <a:r>
              <a:rPr sz="1725" i="0">
                <a:solidFill>
                  <a:srgbClr val="C9CED8"/>
                </a:solidFill>
                <a:latin typeface="Calibri"/>
                <a:ea typeface="Calibri"/>
                <a:cs typeface="Calibri"/>
              </a:rPr>
              <a:t>Auto passed 9/9 held-out tests, but estimated 90 s for a measured 33.9 s.</a:t>
            </a:r>
            <a:endParaRPr sz="1600"/>
          </a:p>
          <a:p xmlns:a="http://schemas.openxmlformats.org/drawingml/2006/main">
            <a:pPr marL="0" indent="0">
              <a:buNone/>
              <a:defRPr sz="1725" i="0">
                <a:solidFill>
                  <a:srgbClr val="C9CED8"/>
                </a:solidFill>
                <a:latin typeface="Calibri"/>
                <a:ea typeface="Calibri"/>
                <a:cs typeface="Calibri"/>
              </a:defRPr>
            </a:pPr>
            <a:r>
              <a:rPr sz="1725" i="0">
                <a:solidFill>
                  <a:srgbClr val="C9CED8"/>
                </a:solidFill>
                <a:latin typeface="Calibri"/>
                <a:ea typeface="Calibri"/>
                <a:cs typeface="Calibri"/>
              </a:rPr>
              <a:t>One task and mixed run modes cannot establish model or harness superiority.</a:t>
            </a:r>
            <a:endParaRPr sz="1600"/>
          </a:p>
        </p:txBody>
      </p:sp>
      <p:sp>
        <p:nvSpPr>
          <p:cNvPr id="14" name="Text 12">
            <a:extLst xmlns:a="http://schemas.openxmlformats.org/drawingml/2006/main">
              <a:ext uri="{FF2B5EF4-FFF2-40B4-BE49-F238E27FC236}">
                <a16:creationId xmlns:a16="http://schemas.microsoft.com/office/drawing/2014/main" id="{FBC1A34F-442C-4074-9ED2-34440275A12B}"/>
              </a:ext>
            </a:extLst>
          </p:cNvPr>
          <p:cNvSpPr>
            <a:spLocks xmlns:a="http://schemas.openxmlformats.org/drawingml/2006/main" noGrp="1"/>
          </p:cNvSpPr>
          <p:nvPr/>
        </p:nvSpPr>
        <p:spPr>
          <a:xfrm xmlns:a="http://schemas.openxmlformats.org/drawingml/2006/main">
            <a:off x="640080" y="6172200"/>
            <a:ext cx="36576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400">
                <a:solidFill>
                  <a:srgbClr val="9AA1AE"/>
                </a:solidFill>
              </a:rPr>
              <a:t>Questions</a:t>
            </a:r>
            <a:endParaRPr sz="1400"/>
          </a:p>
        </p:txBody>
      </p:sp>
    </p:spTree>
    <p:extLst>
      <p:ext uri="{BB962C8B-B14F-4D97-AF65-F5344CB8AC3E}">
        <p14:creationId xmlns:p14="http://schemas.microsoft.com/office/powerpoint/2010/main" val="1312480024"/>
      </p:ext>
    </p:extLst>
  </p:cSld>
</p:sld>
</file>

<file path=ppt/theme/theme1.xml><?xml version="1.0" encoding="utf-8"?>
<a:theme xmlns:a="http://schemas.openxmlformats.org/drawingml/2006/main" name="Cursor Case Study">
  <a:themeElements>
    <a:clrScheme name="Cursor Case Study">
      <a:dk1>
        <a:srgbClr val="161A22"/>
      </a:dk1>
      <a:lt1>
        <a:srgbClr val="FCFBF8"/>
      </a:lt1>
      <a:dk2>
        <a:srgbClr val="3D4452"/>
      </a:dk2>
      <a:lt2>
        <a:srgbClr val="F5F3EE"/>
      </a:lt2>
      <a:accent1>
        <a:srgbClr val="A84E14"/>
      </a:accent1>
      <a:accent2>
        <a:srgbClr val="2C64A8"/>
      </a:accent2>
      <a:accent3>
        <a:srgbClr val="F0A060"/>
      </a:accent3>
      <a:accent4>
        <a:srgbClr val="6B7280"/>
      </a:accent4>
      <a:accent5>
        <a:srgbClr val="DDD8CE"/>
      </a:accent5>
      <a:accent6>
        <a:srgbClr val="C9CED8"/>
      </a:accent6>
      <a:hlink>
        <a:srgbClr val="2C64A8"/>
      </a:hlink>
      <a:folHlink>
        <a:srgbClr val="6B7280"/>
      </a:folHlink>
    </a:clrScheme>
    <a:fontScheme name="Cursor Case Study">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Cursor Case Study">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2026-10-26T20:34:50.6610000Z</dcterms:created>
  <dcterms:modified xsi:type="dcterms:W3CDTF">2026-10-26T20:34:50.6610000Z</dcterms:modified>
</coreProperties>
</file>